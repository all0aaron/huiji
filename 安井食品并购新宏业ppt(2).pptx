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5"/>
  </p:notesMasterIdLst>
  <p:sldIdLst>
    <p:sldId id="306" r:id="rId3"/>
    <p:sldId id="307" r:id="rId4"/>
    <p:sldId id="308" r:id="rId5"/>
    <p:sldId id="309" r:id="rId6"/>
    <p:sldId id="314" r:id="rId7"/>
    <p:sldId id="334" r:id="rId8"/>
    <p:sldId id="310" r:id="rId9"/>
    <p:sldId id="317" r:id="rId10"/>
    <p:sldId id="318" r:id="rId11"/>
    <p:sldId id="311" r:id="rId12"/>
    <p:sldId id="319" r:id="rId13"/>
    <p:sldId id="327" r:id="rId14"/>
    <p:sldId id="320" r:id="rId15"/>
    <p:sldId id="330" r:id="rId16"/>
    <p:sldId id="321" r:id="rId17"/>
    <p:sldId id="329" r:id="rId18"/>
    <p:sldId id="333" r:id="rId19"/>
    <p:sldId id="332" r:id="rId20"/>
    <p:sldId id="312" r:id="rId21"/>
    <p:sldId id="322" r:id="rId22"/>
    <p:sldId id="323" r:id="rId23"/>
    <p:sldId id="326" r:id="rId24"/>
  </p:sldIdLst>
  <p:sldSz cx="12192000" cy="6858000"/>
  <p:notesSz cx="6858000" cy="9144000"/>
  <p:custDataLst>
    <p:tags r:id="rId3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唐 凯" initials="唐"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203864"/>
    <a:srgbClr val="A9B5FD"/>
    <a:srgbClr val="FB7A8E"/>
    <a:srgbClr val="6196FE"/>
    <a:srgbClr val="FAA8B7"/>
    <a:srgbClr val="FF6D1D"/>
    <a:srgbClr val="FFA618"/>
    <a:srgbClr val="E0DFDD"/>
    <a:srgbClr val="26303C"/>
    <a:srgbClr val="F7F6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43" autoAdjust="0"/>
    <p:restoredTop sz="94660"/>
  </p:normalViewPr>
  <p:slideViewPr>
    <p:cSldViewPr snapToGrid="0">
      <p:cViewPr varScale="1">
        <p:scale>
          <a:sx n="63" d="100"/>
          <a:sy n="63" d="100"/>
        </p:scale>
        <p:origin x="62" y="5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0" Type="http://schemas.openxmlformats.org/officeDocument/2006/relationships/tags" Target="tags/tag9.xml"/><Relationship Id="rId3" Type="http://schemas.openxmlformats.org/officeDocument/2006/relationships/slide" Target="slides/slide1.xml"/><Relationship Id="rId29" Type="http://schemas.openxmlformats.org/officeDocument/2006/relationships/commentAuthors" Target="commentAuthors.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notesMaster" Target="notesMasters/notesMaster1.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678161-8393-463D-87F2-5EB8E767B2B5}"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058EAB-81A1-43EA-848A-10F537C4D271}"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8"/>
            <a:ext cx="103632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609600" indent="0" algn="ctr">
              <a:buNone/>
              <a:defRPr>
                <a:solidFill>
                  <a:schemeClr val="tx1">
                    <a:tint val="75000"/>
                  </a:schemeClr>
                </a:solidFill>
              </a:defRPr>
            </a:lvl2pPr>
            <a:lvl3pPr marL="1219200" indent="0" algn="ctr">
              <a:buNone/>
              <a:defRPr>
                <a:solidFill>
                  <a:schemeClr val="tx1">
                    <a:tint val="75000"/>
                  </a:schemeClr>
                </a:solidFill>
              </a:defRPr>
            </a:lvl3pPr>
            <a:lvl4pPr marL="1828800" indent="0" algn="ctr">
              <a:buNone/>
              <a:defRPr>
                <a:solidFill>
                  <a:schemeClr val="tx1">
                    <a:tint val="75000"/>
                  </a:schemeClr>
                </a:solidFill>
              </a:defRPr>
            </a:lvl4pPr>
            <a:lvl5pPr marL="2438400" indent="0" algn="ctr">
              <a:buNone/>
              <a:defRPr>
                <a:solidFill>
                  <a:schemeClr val="tx1">
                    <a:tint val="75000"/>
                  </a:schemeClr>
                </a:solidFill>
              </a:defRPr>
            </a:lvl5pPr>
            <a:lvl6pPr marL="3048000" indent="0" algn="ctr">
              <a:buNone/>
              <a:defRPr>
                <a:solidFill>
                  <a:schemeClr val="tx1">
                    <a:tint val="75000"/>
                  </a:schemeClr>
                </a:solidFill>
              </a:defRPr>
            </a:lvl6pPr>
            <a:lvl7pPr marL="3657600" indent="0" algn="ctr">
              <a:buNone/>
              <a:defRPr>
                <a:solidFill>
                  <a:schemeClr val="tx1">
                    <a:tint val="75000"/>
                  </a:schemeClr>
                </a:solidFill>
              </a:defRPr>
            </a:lvl7pPr>
            <a:lvl8pPr marL="4267200" indent="0" algn="ctr">
              <a:buNone/>
              <a:defRPr>
                <a:solidFill>
                  <a:schemeClr val="tx1">
                    <a:tint val="75000"/>
                  </a:schemeClr>
                </a:solidFill>
              </a:defRPr>
            </a:lvl8pPr>
            <a:lvl9pPr marL="4876800"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transition spd="med" advTm="3000">
    <p:pull/>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transition spd="med" advTm="3000">
    <p:pull/>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5335"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665">
                <a:solidFill>
                  <a:schemeClr val="tx1">
                    <a:tint val="75000"/>
                  </a:schemeClr>
                </a:solidFill>
              </a:defRPr>
            </a:lvl1pPr>
            <a:lvl2pPr marL="609600" indent="0">
              <a:buNone/>
              <a:defRPr sz="2400">
                <a:solidFill>
                  <a:schemeClr val="tx1">
                    <a:tint val="75000"/>
                  </a:schemeClr>
                </a:solidFill>
              </a:defRPr>
            </a:lvl2pPr>
            <a:lvl3pPr marL="1219200" indent="0">
              <a:buNone/>
              <a:defRPr sz="2135">
                <a:solidFill>
                  <a:schemeClr val="tx1">
                    <a:tint val="75000"/>
                  </a:schemeClr>
                </a:solidFill>
              </a:defRPr>
            </a:lvl3pPr>
            <a:lvl4pPr marL="1828800" indent="0">
              <a:buNone/>
              <a:defRPr sz="1865">
                <a:solidFill>
                  <a:schemeClr val="tx1">
                    <a:tint val="75000"/>
                  </a:schemeClr>
                </a:solidFill>
              </a:defRPr>
            </a:lvl4pPr>
            <a:lvl5pPr marL="2438400" indent="0">
              <a:buNone/>
              <a:defRPr sz="1865">
                <a:solidFill>
                  <a:schemeClr val="tx1">
                    <a:tint val="75000"/>
                  </a:schemeClr>
                </a:solidFill>
              </a:defRPr>
            </a:lvl5pPr>
            <a:lvl6pPr marL="3048000" indent="0">
              <a:buNone/>
              <a:defRPr sz="1865">
                <a:solidFill>
                  <a:schemeClr val="tx1">
                    <a:tint val="75000"/>
                  </a:schemeClr>
                </a:solidFill>
              </a:defRPr>
            </a:lvl6pPr>
            <a:lvl7pPr marL="3657600" indent="0">
              <a:buNone/>
              <a:defRPr sz="1865">
                <a:solidFill>
                  <a:schemeClr val="tx1">
                    <a:tint val="75000"/>
                  </a:schemeClr>
                </a:solidFill>
              </a:defRPr>
            </a:lvl7pPr>
            <a:lvl8pPr marL="4267200" indent="0">
              <a:buNone/>
              <a:defRPr sz="1865">
                <a:solidFill>
                  <a:schemeClr val="tx1">
                    <a:tint val="75000"/>
                  </a:schemeClr>
                </a:solidFill>
              </a:defRPr>
            </a:lvl8pPr>
            <a:lvl9pPr marL="4876800" indent="0">
              <a:buNone/>
              <a:defRPr sz="1865">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transition spd="med" advTm="3000">
    <p:pull/>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600" y="1600201"/>
            <a:ext cx="5384800" cy="4525963"/>
          </a:xfrm>
        </p:spPr>
        <p:txBody>
          <a:bodyPr/>
          <a:lstStyle>
            <a:lvl1pPr>
              <a:defRPr sz="3735"/>
            </a:lvl1pPr>
            <a:lvl2pPr>
              <a:defRPr sz="3200"/>
            </a:lvl2pPr>
            <a:lvl3pPr>
              <a:defRPr sz="2665"/>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7600" y="1600201"/>
            <a:ext cx="5384800" cy="4525963"/>
          </a:xfrm>
        </p:spPr>
        <p:txBody>
          <a:bodyPr/>
          <a:lstStyle>
            <a:lvl1pPr>
              <a:defRPr sz="3735"/>
            </a:lvl1pPr>
            <a:lvl2pPr>
              <a:defRPr sz="3200"/>
            </a:lvl2pPr>
            <a:lvl3pPr>
              <a:defRPr sz="2665"/>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transition spd="med" advTm="3000">
    <p:pull/>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3"/>
          </a:xfrm>
        </p:spPr>
        <p:txBody>
          <a:bodyPr anchor="b"/>
          <a:lstStyle>
            <a:lvl1pPr marL="0" indent="0">
              <a:buNone/>
              <a:defRPr sz="3200" b="1"/>
            </a:lvl1pPr>
            <a:lvl2pPr marL="609600" indent="0">
              <a:buNone/>
              <a:defRPr sz="2665" b="1"/>
            </a:lvl2pPr>
            <a:lvl3pPr marL="1219200" indent="0">
              <a:buNone/>
              <a:defRPr sz="2400" b="1"/>
            </a:lvl3pPr>
            <a:lvl4pPr marL="1828800" indent="0">
              <a:buNone/>
              <a:defRPr sz="2135" b="1"/>
            </a:lvl4pPr>
            <a:lvl5pPr marL="2438400" indent="0">
              <a:buNone/>
              <a:defRPr sz="2135" b="1"/>
            </a:lvl5pPr>
            <a:lvl6pPr marL="3048000" indent="0">
              <a:buNone/>
              <a:defRPr sz="2135" b="1"/>
            </a:lvl6pPr>
            <a:lvl7pPr marL="3657600" indent="0">
              <a:buNone/>
              <a:defRPr sz="2135" b="1"/>
            </a:lvl7pPr>
            <a:lvl8pPr marL="4267200" indent="0">
              <a:buNone/>
              <a:defRPr sz="2135" b="1"/>
            </a:lvl8pPr>
            <a:lvl9pPr marL="4876800" indent="0">
              <a:buNone/>
              <a:defRPr sz="2135"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3200"/>
            </a:lvl1pPr>
            <a:lvl2pPr>
              <a:defRPr sz="2665"/>
            </a:lvl2pPr>
            <a:lvl3pPr>
              <a:defRPr sz="2400"/>
            </a:lvl3pPr>
            <a:lvl4pPr>
              <a:defRPr sz="2135"/>
            </a:lvl4pPr>
            <a:lvl5pPr>
              <a:defRPr sz="2135"/>
            </a:lvl5pPr>
            <a:lvl6pPr>
              <a:defRPr sz="2135"/>
            </a:lvl6pPr>
            <a:lvl7pPr>
              <a:defRPr sz="2135"/>
            </a:lvl7pPr>
            <a:lvl8pPr>
              <a:defRPr sz="2135"/>
            </a:lvl8pPr>
            <a:lvl9pPr>
              <a:defRPr sz="213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3372" y="1535113"/>
            <a:ext cx="5389033" cy="639763"/>
          </a:xfrm>
        </p:spPr>
        <p:txBody>
          <a:bodyPr anchor="b"/>
          <a:lstStyle>
            <a:lvl1pPr marL="0" indent="0">
              <a:buNone/>
              <a:defRPr sz="3200" b="1"/>
            </a:lvl1pPr>
            <a:lvl2pPr marL="609600" indent="0">
              <a:buNone/>
              <a:defRPr sz="2665" b="1"/>
            </a:lvl2pPr>
            <a:lvl3pPr marL="1219200" indent="0">
              <a:buNone/>
              <a:defRPr sz="2400" b="1"/>
            </a:lvl3pPr>
            <a:lvl4pPr marL="1828800" indent="0">
              <a:buNone/>
              <a:defRPr sz="2135" b="1"/>
            </a:lvl4pPr>
            <a:lvl5pPr marL="2438400" indent="0">
              <a:buNone/>
              <a:defRPr sz="2135" b="1"/>
            </a:lvl5pPr>
            <a:lvl6pPr marL="3048000" indent="0">
              <a:buNone/>
              <a:defRPr sz="2135" b="1"/>
            </a:lvl6pPr>
            <a:lvl7pPr marL="3657600" indent="0">
              <a:buNone/>
              <a:defRPr sz="2135" b="1"/>
            </a:lvl7pPr>
            <a:lvl8pPr marL="4267200" indent="0">
              <a:buNone/>
              <a:defRPr sz="2135" b="1"/>
            </a:lvl8pPr>
            <a:lvl9pPr marL="4876800" indent="0">
              <a:buNone/>
              <a:defRPr sz="2135"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72" y="2174875"/>
            <a:ext cx="5389033" cy="3951288"/>
          </a:xfrm>
        </p:spPr>
        <p:txBody>
          <a:bodyPr/>
          <a:lstStyle>
            <a:lvl1pPr>
              <a:defRPr sz="3200"/>
            </a:lvl1pPr>
            <a:lvl2pPr>
              <a:defRPr sz="2665"/>
            </a:lvl2pPr>
            <a:lvl3pPr>
              <a:defRPr sz="2400"/>
            </a:lvl3pPr>
            <a:lvl4pPr>
              <a:defRPr sz="2135"/>
            </a:lvl4pPr>
            <a:lvl5pPr>
              <a:defRPr sz="2135"/>
            </a:lvl5pPr>
            <a:lvl6pPr>
              <a:defRPr sz="2135"/>
            </a:lvl6pPr>
            <a:lvl7pPr>
              <a:defRPr sz="2135"/>
            </a:lvl7pPr>
            <a:lvl8pPr>
              <a:defRPr sz="2135"/>
            </a:lvl8pPr>
            <a:lvl9pPr>
              <a:defRPr sz="213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transition spd="med" advTm="3000">
    <p:pull/>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transition spd="med" advTm="3000">
    <p:pull/>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transition spd="med" advTm="3000">
    <p:pull/>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3" y="273049"/>
            <a:ext cx="4011084" cy="1162051"/>
          </a:xfrm>
        </p:spPr>
        <p:txBody>
          <a:bodyPr anchor="b"/>
          <a:lstStyle>
            <a:lvl1pPr algn="l">
              <a:defRPr sz="2665"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3"/>
            <a:ext cx="6815667" cy="5853113"/>
          </a:xfrm>
        </p:spPr>
        <p:txBody>
          <a:bodyPr/>
          <a:lstStyle>
            <a:lvl1pPr>
              <a:defRPr sz="4265"/>
            </a:lvl1pPr>
            <a:lvl2pPr>
              <a:defRPr sz="3735"/>
            </a:lvl2pPr>
            <a:lvl3pPr>
              <a:defRPr sz="3200"/>
            </a:lvl3pPr>
            <a:lvl4pPr>
              <a:defRPr sz="2665"/>
            </a:lvl4pPr>
            <a:lvl5pPr>
              <a:defRPr sz="2665"/>
            </a:lvl5pPr>
            <a:lvl6pPr>
              <a:defRPr sz="2665"/>
            </a:lvl6pPr>
            <a:lvl7pPr>
              <a:defRPr sz="2665"/>
            </a:lvl7pPr>
            <a:lvl8pPr>
              <a:defRPr sz="2665"/>
            </a:lvl8pPr>
            <a:lvl9pPr>
              <a:defRPr sz="266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09603" y="1435103"/>
            <a:ext cx="4011084" cy="4691063"/>
          </a:xfrm>
        </p:spPr>
        <p:txBody>
          <a:bodyPr/>
          <a:lstStyle>
            <a:lvl1pPr marL="0" indent="0">
              <a:buNone/>
              <a:defRPr sz="1865"/>
            </a:lvl1pPr>
            <a:lvl2pPr marL="609600" indent="0">
              <a:buNone/>
              <a:defRPr sz="1600"/>
            </a:lvl2pPr>
            <a:lvl3pPr marL="1219200" indent="0">
              <a:buNone/>
              <a:defRPr sz="1335"/>
            </a:lvl3pPr>
            <a:lvl4pPr marL="1828800" indent="0">
              <a:buNone/>
              <a:defRPr sz="1200"/>
            </a:lvl4pPr>
            <a:lvl5pPr marL="2438400" indent="0">
              <a:buNone/>
              <a:defRPr sz="1200"/>
            </a:lvl5pPr>
            <a:lvl6pPr marL="3048000" indent="0">
              <a:buNone/>
              <a:defRPr sz="1200"/>
            </a:lvl6pPr>
            <a:lvl7pPr marL="3657600" indent="0">
              <a:buNone/>
              <a:defRPr sz="1200"/>
            </a:lvl7pPr>
            <a:lvl8pPr marL="4267200" indent="0">
              <a:buNone/>
              <a:defRPr sz="1200"/>
            </a:lvl8pPr>
            <a:lvl9pPr marL="4876800" indent="0">
              <a:buNone/>
              <a:defRPr sz="12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transition spd="med" advTm="3000">
    <p:pull/>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9"/>
          </a:xfrm>
        </p:spPr>
        <p:txBody>
          <a:bodyPr anchor="b"/>
          <a:lstStyle>
            <a:lvl1pPr algn="l">
              <a:defRPr sz="2665"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4265"/>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endParaRPr lang="zh-CN" altLang="en-US"/>
          </a:p>
        </p:txBody>
      </p:sp>
      <p:sp>
        <p:nvSpPr>
          <p:cNvPr id="4" name="文本占位符 3"/>
          <p:cNvSpPr>
            <a:spLocks noGrp="1"/>
          </p:cNvSpPr>
          <p:nvPr>
            <p:ph type="body" sz="half" idx="2"/>
          </p:nvPr>
        </p:nvSpPr>
        <p:spPr>
          <a:xfrm>
            <a:off x="2389717" y="5367339"/>
            <a:ext cx="7315200" cy="804863"/>
          </a:xfrm>
        </p:spPr>
        <p:txBody>
          <a:bodyPr/>
          <a:lstStyle>
            <a:lvl1pPr marL="0" indent="0">
              <a:buNone/>
              <a:defRPr sz="1865"/>
            </a:lvl1pPr>
            <a:lvl2pPr marL="609600" indent="0">
              <a:buNone/>
              <a:defRPr sz="1600"/>
            </a:lvl2pPr>
            <a:lvl3pPr marL="1219200" indent="0">
              <a:buNone/>
              <a:defRPr sz="1335"/>
            </a:lvl3pPr>
            <a:lvl4pPr marL="1828800" indent="0">
              <a:buNone/>
              <a:defRPr sz="1200"/>
            </a:lvl4pPr>
            <a:lvl5pPr marL="2438400" indent="0">
              <a:buNone/>
              <a:defRPr sz="1200"/>
            </a:lvl5pPr>
            <a:lvl6pPr marL="3048000" indent="0">
              <a:buNone/>
              <a:defRPr sz="1200"/>
            </a:lvl6pPr>
            <a:lvl7pPr marL="3657600" indent="0">
              <a:buNone/>
              <a:defRPr sz="1200"/>
            </a:lvl7pPr>
            <a:lvl8pPr marL="4267200" indent="0">
              <a:buNone/>
              <a:defRPr sz="1200"/>
            </a:lvl8pPr>
            <a:lvl9pPr marL="4876800" indent="0">
              <a:buNone/>
              <a:defRPr sz="12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transition spd="med" advTm="3000">
    <p:pull/>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transition spd="med" advTm="3000">
    <p:pull/>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40"/>
            <a:ext cx="2743200" cy="58515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0" y="274640"/>
            <a:ext cx="80264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transition spd="med" advTm="3000">
    <p:pull/>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7"/>
            <a:ext cx="10972800" cy="1143000"/>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609600" y="6356352"/>
            <a:ext cx="28448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3"/>
          </p:nvPr>
        </p:nvSpPr>
        <p:spPr>
          <a:xfrm>
            <a:off x="4165600" y="6356352"/>
            <a:ext cx="3860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7600" y="6356352"/>
            <a:ext cx="28448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0C913308-F349-4B6D-A68A-DD1791B4A57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med" advTm="3000">
    <p:pull/>
  </p:transition>
  <p:txStyles>
    <p:titleStyle>
      <a:lvl1pPr algn="ctr" defTabSz="1219200"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35"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tags" Target="../tags/tag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png"/><Relationship Id="rId1" Type="http://schemas.openxmlformats.org/officeDocument/2006/relationships/tags" Target="../tags/tag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7.png"/><Relationship Id="rId1" Type="http://schemas.openxmlformats.org/officeDocument/2006/relationships/tags" Target="../tags/tag3.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png"/><Relationship Id="rId1" Type="http://schemas.openxmlformats.org/officeDocument/2006/relationships/tags" Target="../tags/tag4.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5.xml"/><Relationship Id="rId1"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6.xml"/><Relationship Id="rId1"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1.png"/><Relationship Id="rId1" Type="http://schemas.openxmlformats.org/officeDocument/2006/relationships/tags" Target="../tags/tag7.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2.png"/><Relationship Id="rId1" Type="http://schemas.openxmlformats.org/officeDocument/2006/relationships/tags" Target="../tags/tag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0.png"/><Relationship Id="rId2" Type="http://schemas.openxmlformats.org/officeDocument/2006/relationships/image" Target="../media/image8.png"/><Relationship Id="rId1"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组合 13"/>
          <p:cNvGrpSpPr/>
          <p:nvPr/>
        </p:nvGrpSpPr>
        <p:grpSpPr>
          <a:xfrm>
            <a:off x="1129763" y="745454"/>
            <a:ext cx="9349848" cy="5298513"/>
            <a:chOff x="1115735" y="587229"/>
            <a:chExt cx="9873842" cy="5595458"/>
          </a:xfrm>
        </p:grpSpPr>
        <p:sp>
          <p:nvSpPr>
            <p:cNvPr id="11" name="矩形 10"/>
            <p:cNvSpPr/>
            <p:nvPr/>
          </p:nvSpPr>
          <p:spPr>
            <a:xfrm>
              <a:off x="1115735" y="587229"/>
              <a:ext cx="9571839" cy="5410900"/>
            </a:xfrm>
            <a:prstGeom prst="rect">
              <a:avLst/>
            </a:prstGeom>
            <a:pattFill prst="wdDnDiag">
              <a:fgClr>
                <a:srgbClr val="203864"/>
              </a:fgClr>
              <a:bgClr>
                <a:schemeClr val="bg1"/>
              </a:bgClr>
            </a:patt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1417738" y="771787"/>
              <a:ext cx="9571839" cy="5410900"/>
            </a:xfrm>
            <a:prstGeom prst="rect">
              <a:avLst/>
            </a:prstGeom>
            <a:solidFill>
              <a:schemeClr val="bg1"/>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2" name="文本框 1"/>
          <p:cNvSpPr txBox="1"/>
          <p:nvPr/>
        </p:nvSpPr>
        <p:spPr>
          <a:xfrm>
            <a:off x="1372998" y="2243965"/>
            <a:ext cx="9446005" cy="1568450"/>
          </a:xfrm>
          <a:prstGeom prst="rect">
            <a:avLst/>
          </a:prstGeom>
          <a:noFill/>
        </p:spPr>
        <p:txBody>
          <a:bodyPr wrap="square" rtlCol="0">
            <a:spAutoFit/>
          </a:bodyPr>
          <a:lstStyle/>
          <a:p>
            <a:pPr algn="ctr"/>
            <a:r>
              <a:rPr lang="zh-CN" altLang="en-US" sz="4800" dirty="0">
                <a:latin typeface="思源宋体 Heavy" panose="02020900000000000000" pitchFamily="18" charset="-122"/>
                <a:ea typeface="思源宋体 Heavy" panose="02020900000000000000" pitchFamily="18" charset="-122"/>
              </a:rPr>
              <a:t>安井食品并购新宏业</a:t>
            </a:r>
            <a:r>
              <a:rPr lang="zh-CN" altLang="en-US" sz="4800" dirty="0">
                <a:latin typeface="思源宋体 Heavy" panose="02020900000000000000" pitchFamily="18" charset="-122"/>
                <a:ea typeface="思源宋体 Heavy" panose="02020900000000000000" pitchFamily="18" charset="-122"/>
              </a:rPr>
              <a:t>动因</a:t>
            </a:r>
            <a:endParaRPr lang="zh-CN" altLang="en-US" sz="4800" dirty="0">
              <a:latin typeface="思源宋体 Heavy" panose="02020900000000000000" pitchFamily="18" charset="-122"/>
              <a:ea typeface="思源宋体 Heavy" panose="02020900000000000000" pitchFamily="18" charset="-122"/>
            </a:endParaRPr>
          </a:p>
          <a:p>
            <a:pPr algn="ctr"/>
            <a:r>
              <a:rPr lang="zh-CN" altLang="en-US" sz="4800" dirty="0">
                <a:latin typeface="思源宋体 Heavy" panose="02020900000000000000" pitchFamily="18" charset="-122"/>
                <a:ea typeface="思源宋体 Heavy" panose="02020900000000000000" pitchFamily="18" charset="-122"/>
              </a:rPr>
              <a:t>及财务绩效</a:t>
            </a:r>
            <a:r>
              <a:rPr lang="zh-CN" altLang="en-US" sz="4800" dirty="0">
                <a:latin typeface="思源宋体 Heavy" panose="02020900000000000000" pitchFamily="18" charset="-122"/>
                <a:ea typeface="思源宋体 Heavy" panose="02020900000000000000" pitchFamily="18" charset="-122"/>
              </a:rPr>
              <a:t>分析</a:t>
            </a:r>
            <a:endParaRPr lang="zh-CN" altLang="en-US" sz="4800" dirty="0">
              <a:latin typeface="思源宋体 Heavy" panose="02020900000000000000" pitchFamily="18" charset="-122"/>
              <a:ea typeface="思源宋体 Heavy" panose="02020900000000000000" pitchFamily="18" charset="-122"/>
            </a:endParaRPr>
          </a:p>
        </p:txBody>
      </p:sp>
      <p:grpSp>
        <p:nvGrpSpPr>
          <p:cNvPr id="6" name="组合 5"/>
          <p:cNvGrpSpPr/>
          <p:nvPr/>
        </p:nvGrpSpPr>
        <p:grpSpPr>
          <a:xfrm>
            <a:off x="3915562" y="4188658"/>
            <a:ext cx="4360877" cy="446446"/>
            <a:chOff x="3915562" y="3330429"/>
            <a:chExt cx="4360877" cy="446446"/>
          </a:xfrm>
        </p:grpSpPr>
        <p:sp>
          <p:nvSpPr>
            <p:cNvPr id="4" name="文本框 3"/>
            <p:cNvSpPr txBox="1"/>
            <p:nvPr/>
          </p:nvSpPr>
          <p:spPr>
            <a:xfrm>
              <a:off x="3915562" y="3381831"/>
              <a:ext cx="4360877" cy="368300"/>
            </a:xfrm>
            <a:prstGeom prst="rect">
              <a:avLst/>
            </a:prstGeom>
            <a:noFill/>
          </p:spPr>
          <p:txBody>
            <a:bodyPr wrap="square" rtlCol="0">
              <a:spAutoFit/>
            </a:bodyPr>
            <a:lstStyle/>
            <a:p>
              <a:pPr algn="ctr"/>
              <a:r>
                <a:rPr lang="zh-CN" altLang="en-US" dirty="0">
                  <a:latin typeface="思源宋体 Heavy" panose="02020900000000000000" pitchFamily="18" charset="-122"/>
                  <a:ea typeface="思源宋体 Heavy" panose="02020900000000000000" pitchFamily="18" charset="-122"/>
                </a:rPr>
                <a:t>答辩人：</a:t>
              </a:r>
              <a:r>
                <a:rPr lang="zh-CN" altLang="en-US" dirty="0">
                  <a:latin typeface="思源宋体 Heavy" panose="02020900000000000000" pitchFamily="18" charset="-122"/>
                  <a:ea typeface="思源宋体 Heavy" panose="02020900000000000000" pitchFamily="18" charset="-122"/>
                </a:rPr>
                <a:t>吴宇萍  </a:t>
              </a:r>
              <a:endParaRPr lang="zh-CN" altLang="en-US" dirty="0">
                <a:latin typeface="思源宋体 Heavy" panose="02020900000000000000" pitchFamily="18" charset="-122"/>
                <a:ea typeface="思源宋体 Heavy" panose="02020900000000000000" pitchFamily="18" charset="-122"/>
              </a:endParaRPr>
            </a:p>
          </p:txBody>
        </p:sp>
        <p:sp>
          <p:nvSpPr>
            <p:cNvPr id="5" name="矩形: 圆角 4"/>
            <p:cNvSpPr/>
            <p:nvPr/>
          </p:nvSpPr>
          <p:spPr>
            <a:xfrm>
              <a:off x="3980529" y="3330429"/>
              <a:ext cx="4230943" cy="446446"/>
            </a:xfrm>
            <a:prstGeom prst="roundRect">
              <a:avLst>
                <a:gd name="adj" fmla="val 50000"/>
              </a:avLst>
            </a:prstGeom>
            <a:no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ransition spd="med" advTm="3000">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p:tgtEl>
                                          <p:spTgt spid="14"/>
                                        </p:tgtEl>
                                        <p:attrNameLst>
                                          <p:attrName>ppt_y</p:attrName>
                                        </p:attrNameLst>
                                      </p:cBhvr>
                                      <p:tavLst>
                                        <p:tav tm="0">
                                          <p:val>
                                            <p:strVal val="#ppt_y+#ppt_h*1.125000"/>
                                          </p:val>
                                        </p:tav>
                                        <p:tav tm="100000">
                                          <p:val>
                                            <p:strVal val="#ppt_y"/>
                                          </p:val>
                                        </p:tav>
                                      </p:tavLst>
                                    </p:anim>
                                    <p:animEffect transition="in" filter="wipe(up)">
                                      <p:cBhvr>
                                        <p:cTn id="8" dur="500"/>
                                        <p:tgtEl>
                                          <p:spTgt spid="14"/>
                                        </p:tgtEl>
                                      </p:cBhvr>
                                    </p:animEffect>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1000"/>
                                        <p:tgtEl>
                                          <p:spTgt spid="2"/>
                                        </p:tgtEl>
                                      </p:cBhvr>
                                    </p:animEffect>
                                    <p:anim calcmode="lin" valueType="num">
                                      <p:cBhvr>
                                        <p:cTn id="14" dur="1000" fill="hold"/>
                                        <p:tgtEl>
                                          <p:spTgt spid="2"/>
                                        </p:tgtEl>
                                        <p:attrNameLst>
                                          <p:attrName>ppt_x</p:attrName>
                                        </p:attrNameLst>
                                      </p:cBhvr>
                                      <p:tavLst>
                                        <p:tav tm="0">
                                          <p:val>
                                            <p:strVal val="#ppt_x"/>
                                          </p:val>
                                        </p:tav>
                                        <p:tav tm="100000">
                                          <p:val>
                                            <p:strVal val="#ppt_x"/>
                                          </p:val>
                                        </p:tav>
                                      </p:tavLst>
                                    </p:anim>
                                    <p:anim calcmode="lin" valueType="num">
                                      <p:cBhvr>
                                        <p:cTn id="15" dur="1000" fill="hold"/>
                                        <p:tgtEl>
                                          <p:spTgt spid="2"/>
                                        </p:tgtEl>
                                        <p:attrNameLst>
                                          <p:attrName>ppt_y</p:attrName>
                                        </p:attrNameLst>
                                      </p:cBhvr>
                                      <p:tavLst>
                                        <p:tav tm="0">
                                          <p:val>
                                            <p:strVal val="#ppt_y+.1"/>
                                          </p:val>
                                        </p:tav>
                                        <p:tav tm="100000">
                                          <p:val>
                                            <p:strVal val="#ppt_y"/>
                                          </p:val>
                                        </p:tav>
                                      </p:tavLst>
                                    </p:anim>
                                  </p:childTnLst>
                                </p:cTn>
                              </p:par>
                              <p:par>
                                <p:cTn id="16" presetID="47" presetClass="entr" presetSubtype="0" fill="hold"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1000"/>
                                        <p:tgtEl>
                                          <p:spTgt spid="6"/>
                                        </p:tgtEl>
                                      </p:cBhvr>
                                    </p:animEffect>
                                    <p:anim calcmode="lin" valueType="num">
                                      <p:cBhvr>
                                        <p:cTn id="19" dur="1000" fill="hold"/>
                                        <p:tgtEl>
                                          <p:spTgt spid="6"/>
                                        </p:tgtEl>
                                        <p:attrNameLst>
                                          <p:attrName>ppt_x</p:attrName>
                                        </p:attrNameLst>
                                      </p:cBhvr>
                                      <p:tavLst>
                                        <p:tav tm="0">
                                          <p:val>
                                            <p:strVal val="#ppt_x"/>
                                          </p:val>
                                        </p:tav>
                                        <p:tav tm="100000">
                                          <p:val>
                                            <p:strVal val="#ppt_x"/>
                                          </p:val>
                                        </p:tav>
                                      </p:tavLst>
                                    </p:anim>
                                    <p:anim calcmode="lin" valueType="num">
                                      <p:cBhvr>
                                        <p:cTn id="20"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353390" y="1824440"/>
            <a:ext cx="1544310" cy="2856190"/>
          </a:xfrm>
          <a:prstGeom prst="rect">
            <a:avLst/>
          </a:prstGeom>
          <a:pattFill prst="wdDnDiag">
            <a:fgClr>
              <a:srgbClr val="203864"/>
            </a:fgClr>
            <a:bgClr>
              <a:schemeClr val="bg1"/>
            </a:bgClr>
          </a:patt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1589643" y="2000905"/>
            <a:ext cx="1544310" cy="2856190"/>
          </a:xfrm>
          <a:prstGeom prst="rect">
            <a:avLst/>
          </a:prstGeom>
          <a:solidFill>
            <a:schemeClr val="bg1"/>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框 4"/>
          <p:cNvSpPr txBox="1"/>
          <p:nvPr/>
        </p:nvSpPr>
        <p:spPr>
          <a:xfrm>
            <a:off x="1959419" y="2885386"/>
            <a:ext cx="861774" cy="1795244"/>
          </a:xfrm>
          <a:prstGeom prst="rect">
            <a:avLst/>
          </a:prstGeom>
          <a:noFill/>
        </p:spPr>
        <p:txBody>
          <a:bodyPr vert="eaVert" wrap="square" rtlCol="0">
            <a:spAutoFit/>
          </a:bodyPr>
          <a:lstStyle/>
          <a:p>
            <a:r>
              <a:rPr lang="zh-CN" altLang="en-US" sz="4400" dirty="0">
                <a:latin typeface="思源宋体 Heavy" panose="02020900000000000000" pitchFamily="18" charset="-122"/>
                <a:ea typeface="思源宋体 Heavy" panose="02020900000000000000" pitchFamily="18" charset="-122"/>
              </a:rPr>
              <a:t>目录</a:t>
            </a:r>
            <a:endParaRPr lang="zh-CN" altLang="en-US" sz="4400" dirty="0">
              <a:latin typeface="思源宋体 Heavy" panose="02020900000000000000" pitchFamily="18" charset="-122"/>
              <a:ea typeface="思源宋体 Heavy" panose="02020900000000000000" pitchFamily="18" charset="-122"/>
            </a:endParaRPr>
          </a:p>
        </p:txBody>
      </p:sp>
      <p:grpSp>
        <p:nvGrpSpPr>
          <p:cNvPr id="30" name="组合 29"/>
          <p:cNvGrpSpPr/>
          <p:nvPr/>
        </p:nvGrpSpPr>
        <p:grpSpPr>
          <a:xfrm>
            <a:off x="5844988" y="1314977"/>
            <a:ext cx="4010025" cy="641667"/>
            <a:chOff x="4465150" y="1321771"/>
            <a:chExt cx="4010025" cy="641667"/>
          </a:xfrm>
        </p:grpSpPr>
        <p:sp>
          <p:nvSpPr>
            <p:cNvPr id="27" name="矩形 26"/>
            <p:cNvSpPr/>
            <p:nvPr/>
          </p:nvSpPr>
          <p:spPr>
            <a:xfrm>
              <a:off x="4465150" y="1321771"/>
              <a:ext cx="121539" cy="599110"/>
            </a:xfrm>
            <a:prstGeom prst="rect">
              <a:avLst/>
            </a:prstGeom>
            <a:solidFill>
              <a:srgbClr val="1432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100" b="1"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8" name="文本框 27"/>
            <p:cNvSpPr txBox="1"/>
            <p:nvPr/>
          </p:nvSpPr>
          <p:spPr>
            <a:xfrm>
              <a:off x="4586435" y="1432261"/>
              <a:ext cx="3888740" cy="4603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effectLst/>
                  <a:uLnTx/>
                  <a:uFillTx/>
                  <a:latin typeface="思源宋体 Heavy" panose="02020900000000000000" pitchFamily="18" charset="-122"/>
                  <a:ea typeface="思源宋体 Heavy" panose="02020900000000000000" pitchFamily="18" charset="-122"/>
                  <a:cs typeface="+mn-cs"/>
                </a:rPr>
                <a:t>行业背景及</a:t>
              </a:r>
              <a:r>
                <a:rPr kumimoji="0" lang="zh-CN" altLang="en-US" sz="2400" b="1" i="0" u="none" strike="noStrike" kern="1200" cap="none" spc="0" normalizeH="0" baseline="0" noProof="0" dirty="0">
                  <a:ln>
                    <a:noFill/>
                  </a:ln>
                  <a:effectLst/>
                  <a:uLnTx/>
                  <a:uFillTx/>
                  <a:latin typeface="思源宋体 Heavy" panose="02020900000000000000" pitchFamily="18" charset="-122"/>
                  <a:ea typeface="思源宋体 Heavy" panose="02020900000000000000" pitchFamily="18" charset="-122"/>
                  <a:cs typeface="+mn-cs"/>
                </a:rPr>
                <a:t>双方概况</a:t>
              </a:r>
              <a:endParaRPr kumimoji="0" lang="zh-CN" altLang="en-US" sz="2400" b="1" i="0" u="none" strike="noStrike" kern="1200" cap="none" spc="0" normalizeH="0" baseline="0" noProof="0" dirty="0">
                <a:ln>
                  <a:noFill/>
                </a:ln>
                <a:effectLst/>
                <a:uLnTx/>
                <a:uFillTx/>
                <a:latin typeface="思源宋体 Heavy" panose="02020900000000000000" pitchFamily="18" charset="-122"/>
                <a:ea typeface="思源宋体 Heavy" panose="02020900000000000000" pitchFamily="18" charset="-122"/>
                <a:cs typeface="+mn-cs"/>
              </a:endParaRPr>
            </a:p>
          </p:txBody>
        </p:sp>
        <p:sp>
          <p:nvSpPr>
            <p:cNvPr id="29" name="TextBox 38"/>
            <p:cNvSpPr txBox="1"/>
            <p:nvPr/>
          </p:nvSpPr>
          <p:spPr>
            <a:xfrm>
              <a:off x="4586933" y="1686578"/>
              <a:ext cx="3887688" cy="276860"/>
            </a:xfrm>
            <a:prstGeom prst="rect">
              <a:avLst/>
            </a:prstGeom>
            <a:noFill/>
          </p:spPr>
          <p:txBody>
            <a:bodyPr wrap="square" lIns="0" tIns="0" rIns="0" bIns="0" rtlCol="0">
              <a:spAutoFit/>
            </a:bodyPr>
            <a:lstStyle/>
            <a:p>
              <a:pPr marL="0" marR="0" lvl="0" indent="0" algn="l" defTabSz="914400" rtl="0" eaLnBrk="1" fontAlgn="auto" latinLnBrk="0" hangingPunct="1">
                <a:lnSpc>
                  <a:spcPct val="150000"/>
                </a:lnSpc>
                <a:spcBef>
                  <a:spcPts val="0"/>
                </a:spcBef>
                <a:spcAft>
                  <a:spcPts val="0"/>
                </a:spcAft>
                <a:buClrTx/>
                <a:buSzTx/>
                <a:buFontTx/>
                <a:buNone/>
                <a:defRPr/>
              </a:pPr>
              <a:endParaRPr kumimoji="0" lang="zh-CN" altLang="en-US" sz="1200" b="1" i="0" u="none" strike="noStrike" kern="1200" cap="none" spc="0" normalizeH="0" baseline="0" noProof="0" dirty="0">
                <a:ln>
                  <a:noFill/>
                </a:ln>
                <a:effectLst/>
                <a:uLnTx/>
                <a:uFillTx/>
                <a:latin typeface="思源黑体 CN Regular" panose="020B0500000000000000" pitchFamily="34" charset="-122"/>
                <a:ea typeface="思源黑体 CN Regular" panose="020B0500000000000000" pitchFamily="34" charset="-122"/>
                <a:cs typeface="Poppins Light" charset="0"/>
              </a:endParaRPr>
            </a:p>
          </p:txBody>
        </p:sp>
      </p:grpSp>
      <p:grpSp>
        <p:nvGrpSpPr>
          <p:cNvPr id="31" name="组合 30"/>
          <p:cNvGrpSpPr/>
          <p:nvPr/>
        </p:nvGrpSpPr>
        <p:grpSpPr>
          <a:xfrm>
            <a:off x="5844988" y="2487985"/>
            <a:ext cx="4118056" cy="627697"/>
            <a:chOff x="4465150" y="1321771"/>
            <a:chExt cx="4118056" cy="627697"/>
          </a:xfrm>
        </p:grpSpPr>
        <p:sp>
          <p:nvSpPr>
            <p:cNvPr id="32" name="矩形 31"/>
            <p:cNvSpPr/>
            <p:nvPr/>
          </p:nvSpPr>
          <p:spPr>
            <a:xfrm>
              <a:off x="4465150" y="1321771"/>
              <a:ext cx="121539" cy="599110"/>
            </a:xfrm>
            <a:prstGeom prst="rect">
              <a:avLst/>
            </a:prstGeom>
            <a:solidFill>
              <a:srgbClr val="1432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100" b="1"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33" name="文本框 32"/>
            <p:cNvSpPr txBox="1"/>
            <p:nvPr/>
          </p:nvSpPr>
          <p:spPr>
            <a:xfrm>
              <a:off x="4586435" y="1443056"/>
              <a:ext cx="2279015" cy="4603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effectLst/>
                  <a:uLnTx/>
                  <a:uFillTx/>
                  <a:latin typeface="思源宋体 Heavy" panose="02020900000000000000" pitchFamily="18" charset="-122"/>
                  <a:ea typeface="思源宋体 Heavy" panose="02020900000000000000" pitchFamily="18" charset="-122"/>
                  <a:cs typeface="+mn-cs"/>
                </a:rPr>
                <a:t>并购动因分析</a:t>
              </a:r>
              <a:endParaRPr kumimoji="0" lang="zh-CN" altLang="en-US" sz="2400" b="1" i="0" u="none" strike="noStrike" kern="1200" cap="none" spc="0" normalizeH="0" baseline="0" noProof="0" dirty="0">
                <a:ln>
                  <a:noFill/>
                </a:ln>
                <a:effectLst/>
                <a:uLnTx/>
                <a:uFillTx/>
                <a:latin typeface="思源宋体 Heavy" panose="02020900000000000000" pitchFamily="18" charset="-122"/>
                <a:ea typeface="思源宋体 Heavy" panose="02020900000000000000" pitchFamily="18" charset="-122"/>
                <a:cs typeface="+mn-cs"/>
              </a:endParaRPr>
            </a:p>
          </p:txBody>
        </p:sp>
        <p:sp>
          <p:nvSpPr>
            <p:cNvPr id="34" name="TextBox 38"/>
            <p:cNvSpPr txBox="1"/>
            <p:nvPr/>
          </p:nvSpPr>
          <p:spPr>
            <a:xfrm>
              <a:off x="4695518" y="1672608"/>
              <a:ext cx="3887688" cy="276860"/>
            </a:xfrm>
            <a:prstGeom prst="rect">
              <a:avLst/>
            </a:prstGeom>
            <a:noFill/>
          </p:spPr>
          <p:txBody>
            <a:bodyPr wrap="square" lIns="0" tIns="0" rIns="0" bIns="0" rtlCol="0">
              <a:spAutoFit/>
            </a:bodyPr>
            <a:lstStyle/>
            <a:p>
              <a:pPr marL="0" marR="0" lvl="0" indent="0" algn="l" defTabSz="914400" rtl="0" eaLnBrk="1" fontAlgn="auto" latinLnBrk="0" hangingPunct="1">
                <a:lnSpc>
                  <a:spcPct val="150000"/>
                </a:lnSpc>
                <a:spcBef>
                  <a:spcPts val="0"/>
                </a:spcBef>
                <a:spcAft>
                  <a:spcPts val="0"/>
                </a:spcAft>
                <a:buClrTx/>
                <a:buSzTx/>
                <a:buFontTx/>
                <a:buNone/>
                <a:defRPr/>
              </a:pPr>
              <a:endParaRPr kumimoji="0" lang="zh-CN" altLang="en-US" sz="1200" b="1" i="0" u="none" strike="noStrike" kern="1200" cap="none" spc="0" normalizeH="0" baseline="0" noProof="0" dirty="0">
                <a:ln>
                  <a:noFill/>
                </a:ln>
                <a:effectLst/>
                <a:uLnTx/>
                <a:uFillTx/>
                <a:latin typeface="思源黑体 CN Regular" panose="020B0500000000000000" pitchFamily="34" charset="-122"/>
                <a:ea typeface="思源黑体 CN Regular" panose="020B0500000000000000" pitchFamily="34" charset="-122"/>
                <a:cs typeface="Poppins Light" charset="0"/>
              </a:endParaRPr>
            </a:p>
          </p:txBody>
        </p:sp>
      </p:grpSp>
      <p:grpSp>
        <p:nvGrpSpPr>
          <p:cNvPr id="35" name="组合 34"/>
          <p:cNvGrpSpPr/>
          <p:nvPr/>
        </p:nvGrpSpPr>
        <p:grpSpPr>
          <a:xfrm>
            <a:off x="5844988" y="3660993"/>
            <a:ext cx="4118056" cy="627697"/>
            <a:chOff x="4465150" y="1321771"/>
            <a:chExt cx="4118056" cy="627697"/>
          </a:xfrm>
        </p:grpSpPr>
        <p:sp>
          <p:nvSpPr>
            <p:cNvPr id="36" name="矩形 35"/>
            <p:cNvSpPr/>
            <p:nvPr/>
          </p:nvSpPr>
          <p:spPr>
            <a:xfrm>
              <a:off x="4465150" y="1321771"/>
              <a:ext cx="121539" cy="599110"/>
            </a:xfrm>
            <a:prstGeom prst="rect">
              <a:avLst/>
            </a:prstGeom>
            <a:solidFill>
              <a:srgbClr val="1432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100" b="1"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37" name="文本框 36"/>
            <p:cNvSpPr txBox="1"/>
            <p:nvPr/>
          </p:nvSpPr>
          <p:spPr>
            <a:xfrm>
              <a:off x="4586435" y="1412576"/>
              <a:ext cx="2689860" cy="4603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effectLst/>
                  <a:uLnTx/>
                  <a:uFillTx/>
                  <a:latin typeface="思源宋体 Heavy" panose="02020900000000000000" pitchFamily="18" charset="-122"/>
                  <a:ea typeface="思源宋体 Heavy" panose="02020900000000000000" pitchFamily="18" charset="-122"/>
                  <a:cs typeface="+mn-cs"/>
                </a:rPr>
                <a:t>并购财务绩效分析</a:t>
              </a:r>
              <a:endParaRPr kumimoji="0" lang="zh-CN" altLang="en-US" sz="2400" b="1" i="0" u="none" strike="noStrike" kern="1200" cap="none" spc="0" normalizeH="0" baseline="0" noProof="0" dirty="0">
                <a:ln>
                  <a:noFill/>
                </a:ln>
                <a:effectLst/>
                <a:uLnTx/>
                <a:uFillTx/>
                <a:latin typeface="思源宋体 Heavy" panose="02020900000000000000" pitchFamily="18" charset="-122"/>
                <a:ea typeface="思源宋体 Heavy" panose="02020900000000000000" pitchFamily="18" charset="-122"/>
                <a:cs typeface="+mn-cs"/>
              </a:endParaRPr>
            </a:p>
          </p:txBody>
        </p:sp>
        <p:sp>
          <p:nvSpPr>
            <p:cNvPr id="38" name="TextBox 38"/>
            <p:cNvSpPr txBox="1"/>
            <p:nvPr/>
          </p:nvSpPr>
          <p:spPr>
            <a:xfrm>
              <a:off x="4695518" y="1672608"/>
              <a:ext cx="3887688" cy="276860"/>
            </a:xfrm>
            <a:prstGeom prst="rect">
              <a:avLst/>
            </a:prstGeom>
            <a:noFill/>
          </p:spPr>
          <p:txBody>
            <a:bodyPr wrap="square" lIns="0" tIns="0" rIns="0" bIns="0" rtlCol="0">
              <a:spAutoFit/>
            </a:bodyPr>
            <a:lstStyle/>
            <a:p>
              <a:pPr marL="0" marR="0" lvl="0" indent="0" algn="l" defTabSz="914400" rtl="0" eaLnBrk="1" fontAlgn="auto" latinLnBrk="0" hangingPunct="1">
                <a:lnSpc>
                  <a:spcPct val="150000"/>
                </a:lnSpc>
                <a:spcBef>
                  <a:spcPts val="0"/>
                </a:spcBef>
                <a:spcAft>
                  <a:spcPts val="0"/>
                </a:spcAft>
                <a:buClrTx/>
                <a:buSzTx/>
                <a:buFontTx/>
                <a:buNone/>
                <a:defRPr/>
              </a:pPr>
              <a:endParaRPr kumimoji="0" lang="zh-CN" altLang="en-US" sz="1200" b="1" i="0" u="none" strike="noStrike" kern="1200" cap="none" spc="0" normalizeH="0" baseline="0" noProof="0" dirty="0">
                <a:ln>
                  <a:noFill/>
                </a:ln>
                <a:effectLst/>
                <a:uLnTx/>
                <a:uFillTx/>
                <a:latin typeface="思源黑体 CN Regular" panose="020B0500000000000000" pitchFamily="34" charset="-122"/>
                <a:ea typeface="思源黑体 CN Regular" panose="020B0500000000000000" pitchFamily="34" charset="-122"/>
                <a:cs typeface="Poppins Light" charset="0"/>
              </a:endParaRPr>
            </a:p>
          </p:txBody>
        </p:sp>
      </p:grpSp>
      <p:grpSp>
        <p:nvGrpSpPr>
          <p:cNvPr id="39" name="组合 38"/>
          <p:cNvGrpSpPr/>
          <p:nvPr/>
        </p:nvGrpSpPr>
        <p:grpSpPr>
          <a:xfrm>
            <a:off x="5844988" y="4834000"/>
            <a:ext cx="4118056" cy="627697"/>
            <a:chOff x="4465150" y="1321771"/>
            <a:chExt cx="4118056" cy="627697"/>
          </a:xfrm>
        </p:grpSpPr>
        <p:sp>
          <p:nvSpPr>
            <p:cNvPr id="40" name="矩形 39"/>
            <p:cNvSpPr/>
            <p:nvPr/>
          </p:nvSpPr>
          <p:spPr>
            <a:xfrm>
              <a:off x="4465150" y="1321771"/>
              <a:ext cx="121539" cy="599110"/>
            </a:xfrm>
            <a:prstGeom prst="rect">
              <a:avLst/>
            </a:prstGeom>
            <a:solidFill>
              <a:srgbClr val="1432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100" b="1"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41" name="文本框 40"/>
            <p:cNvSpPr txBox="1"/>
            <p:nvPr/>
          </p:nvSpPr>
          <p:spPr>
            <a:xfrm>
              <a:off x="4586435" y="1381461"/>
              <a:ext cx="1994535" cy="4603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effectLst/>
                  <a:uLnTx/>
                  <a:uFillTx/>
                  <a:latin typeface="思源宋体 Heavy" panose="02020900000000000000" pitchFamily="18" charset="-122"/>
                  <a:ea typeface="思源宋体 Heavy" panose="02020900000000000000" pitchFamily="18" charset="-122"/>
                  <a:cs typeface="+mn-cs"/>
                </a:rPr>
                <a:t>借鉴与启示</a:t>
              </a:r>
              <a:endParaRPr kumimoji="0" lang="zh-CN" altLang="en-US" sz="2400" b="1" i="0" u="none" strike="noStrike" kern="1200" cap="none" spc="0" normalizeH="0" baseline="0" noProof="0" dirty="0">
                <a:ln>
                  <a:noFill/>
                </a:ln>
                <a:effectLst/>
                <a:uLnTx/>
                <a:uFillTx/>
                <a:latin typeface="思源宋体 Heavy" panose="02020900000000000000" pitchFamily="18" charset="-122"/>
                <a:ea typeface="思源宋体 Heavy" panose="02020900000000000000" pitchFamily="18" charset="-122"/>
                <a:cs typeface="+mn-cs"/>
              </a:endParaRPr>
            </a:p>
          </p:txBody>
        </p:sp>
        <p:sp>
          <p:nvSpPr>
            <p:cNvPr id="42" name="TextBox 38"/>
            <p:cNvSpPr txBox="1"/>
            <p:nvPr/>
          </p:nvSpPr>
          <p:spPr>
            <a:xfrm>
              <a:off x="4695518" y="1672608"/>
              <a:ext cx="3887688" cy="276860"/>
            </a:xfrm>
            <a:prstGeom prst="rect">
              <a:avLst/>
            </a:prstGeom>
            <a:noFill/>
          </p:spPr>
          <p:txBody>
            <a:bodyPr wrap="square" lIns="0" tIns="0" rIns="0" bIns="0" rtlCol="0">
              <a:spAutoFit/>
            </a:bodyPr>
            <a:lstStyle/>
            <a:p>
              <a:pPr marL="0" marR="0" lvl="0" indent="0" algn="l" defTabSz="914400" rtl="0" eaLnBrk="1" fontAlgn="auto" latinLnBrk="0" hangingPunct="1">
                <a:lnSpc>
                  <a:spcPct val="150000"/>
                </a:lnSpc>
                <a:spcBef>
                  <a:spcPts val="0"/>
                </a:spcBef>
                <a:spcAft>
                  <a:spcPts val="0"/>
                </a:spcAft>
                <a:buClrTx/>
                <a:buSzTx/>
                <a:buFontTx/>
                <a:buNone/>
                <a:defRPr/>
              </a:pPr>
              <a:endParaRPr kumimoji="0" lang="zh-CN" altLang="en-US" sz="1200" b="1" i="0" u="none" strike="noStrike" kern="1200" cap="none" spc="0" normalizeH="0" baseline="0" noProof="0" dirty="0">
                <a:ln>
                  <a:noFill/>
                </a:ln>
                <a:effectLst/>
                <a:uLnTx/>
                <a:uFillTx/>
                <a:latin typeface="思源黑体 CN Regular" panose="020B0500000000000000" pitchFamily="34" charset="-122"/>
                <a:ea typeface="思源黑体 CN Regular" panose="020B0500000000000000" pitchFamily="34" charset="-122"/>
                <a:cs typeface="Poppins Light" charset="0"/>
              </a:endParaRPr>
            </a:p>
          </p:txBody>
        </p:sp>
      </p:grpSp>
    </p:spTree>
  </p:cSld>
  <p:clrMapOvr>
    <a:masterClrMapping/>
  </p:clrMapOvr>
  <p:transition spd="med" advTm="3000">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9"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750" fill="hold"/>
                                        <p:tgtEl>
                                          <p:spTgt spid="3"/>
                                        </p:tgtEl>
                                        <p:attrNameLst>
                                          <p:attrName>ppt_x</p:attrName>
                                        </p:attrNameLst>
                                      </p:cBhvr>
                                      <p:tavLst>
                                        <p:tav tm="0">
                                          <p:val>
                                            <p:strVal val="0-#ppt_w/2"/>
                                          </p:val>
                                        </p:tav>
                                        <p:tav tm="100000">
                                          <p:val>
                                            <p:strVal val="#ppt_x"/>
                                          </p:val>
                                        </p:tav>
                                      </p:tavLst>
                                    </p:anim>
                                    <p:anim calcmode="lin" valueType="num">
                                      <p:cBhvr additive="base">
                                        <p:cTn id="8" dur="750" fill="hold"/>
                                        <p:tgtEl>
                                          <p:spTgt spid="3"/>
                                        </p:tgtEl>
                                        <p:attrNameLst>
                                          <p:attrName>ppt_y</p:attrName>
                                        </p:attrNameLst>
                                      </p:cBhvr>
                                      <p:tavLst>
                                        <p:tav tm="0">
                                          <p:val>
                                            <p:strVal val="0-#ppt_h/2"/>
                                          </p:val>
                                        </p:tav>
                                        <p:tav tm="100000">
                                          <p:val>
                                            <p:strVal val="#ppt_y"/>
                                          </p:val>
                                        </p:tav>
                                      </p:tavLst>
                                    </p:anim>
                                  </p:childTnLst>
                                </p:cTn>
                              </p:par>
                              <p:par>
                                <p:cTn id="9" presetID="2" presetClass="entr" presetSubtype="9"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750" fill="hold"/>
                                        <p:tgtEl>
                                          <p:spTgt spid="4"/>
                                        </p:tgtEl>
                                        <p:attrNameLst>
                                          <p:attrName>ppt_x</p:attrName>
                                        </p:attrNameLst>
                                      </p:cBhvr>
                                      <p:tavLst>
                                        <p:tav tm="0">
                                          <p:val>
                                            <p:strVal val="0-#ppt_w/2"/>
                                          </p:val>
                                        </p:tav>
                                        <p:tav tm="100000">
                                          <p:val>
                                            <p:strVal val="#ppt_x"/>
                                          </p:val>
                                        </p:tav>
                                      </p:tavLst>
                                    </p:anim>
                                    <p:anim calcmode="lin" valueType="num">
                                      <p:cBhvr additive="base">
                                        <p:cTn id="12" dur="750" fill="hold"/>
                                        <p:tgtEl>
                                          <p:spTgt spid="4"/>
                                        </p:tgtEl>
                                        <p:attrNameLst>
                                          <p:attrName>ppt_y</p:attrName>
                                        </p:attrNameLst>
                                      </p:cBhvr>
                                      <p:tavLst>
                                        <p:tav tm="0">
                                          <p:val>
                                            <p:strVal val="0-#ppt_h/2"/>
                                          </p:val>
                                        </p:tav>
                                        <p:tav tm="100000">
                                          <p:val>
                                            <p:strVal val="#ppt_y"/>
                                          </p:val>
                                        </p:tav>
                                      </p:tavLst>
                                    </p:anim>
                                  </p:childTnLst>
                                </p:cTn>
                              </p:par>
                              <p:par>
                                <p:cTn id="13" presetID="2" presetClass="entr" presetSubtype="9"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750" fill="hold"/>
                                        <p:tgtEl>
                                          <p:spTgt spid="5"/>
                                        </p:tgtEl>
                                        <p:attrNameLst>
                                          <p:attrName>ppt_x</p:attrName>
                                        </p:attrNameLst>
                                      </p:cBhvr>
                                      <p:tavLst>
                                        <p:tav tm="0">
                                          <p:val>
                                            <p:strVal val="0-#ppt_w/2"/>
                                          </p:val>
                                        </p:tav>
                                        <p:tav tm="100000">
                                          <p:val>
                                            <p:strVal val="#ppt_x"/>
                                          </p:val>
                                        </p:tav>
                                      </p:tavLst>
                                    </p:anim>
                                    <p:anim calcmode="lin" valueType="num">
                                      <p:cBhvr additive="base">
                                        <p:cTn id="16" dur="750" fill="hold"/>
                                        <p:tgtEl>
                                          <p:spTgt spid="5"/>
                                        </p:tgtEl>
                                        <p:attrNameLst>
                                          <p:attrName>ppt_y</p:attrName>
                                        </p:attrNameLst>
                                      </p:cBhvr>
                                      <p:tavLst>
                                        <p:tav tm="0">
                                          <p:val>
                                            <p:strVal val="0-#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0"/>
                                        </p:tgtEl>
                                        <p:attrNameLst>
                                          <p:attrName>style.visibility</p:attrName>
                                        </p:attrNameLst>
                                      </p:cBhvr>
                                      <p:to>
                                        <p:strVal val="visible"/>
                                      </p:to>
                                    </p:set>
                                    <p:anim calcmode="lin" valueType="num">
                                      <p:cBhvr additive="base">
                                        <p:cTn id="21" dur="500" fill="hold"/>
                                        <p:tgtEl>
                                          <p:spTgt spid="30"/>
                                        </p:tgtEl>
                                        <p:attrNameLst>
                                          <p:attrName>ppt_x</p:attrName>
                                        </p:attrNameLst>
                                      </p:cBhvr>
                                      <p:tavLst>
                                        <p:tav tm="0">
                                          <p:val>
                                            <p:strVal val="#ppt_x"/>
                                          </p:val>
                                        </p:tav>
                                        <p:tav tm="100000">
                                          <p:val>
                                            <p:strVal val="#ppt_x"/>
                                          </p:val>
                                        </p:tav>
                                      </p:tavLst>
                                    </p:anim>
                                    <p:anim calcmode="lin" valueType="num">
                                      <p:cBhvr additive="base">
                                        <p:cTn id="22" dur="500" fill="hold"/>
                                        <p:tgtEl>
                                          <p:spTgt spid="30"/>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1"/>
                                        </p:tgtEl>
                                        <p:attrNameLst>
                                          <p:attrName>style.visibility</p:attrName>
                                        </p:attrNameLst>
                                      </p:cBhvr>
                                      <p:to>
                                        <p:strVal val="visible"/>
                                      </p:to>
                                    </p:set>
                                    <p:anim calcmode="lin" valueType="num">
                                      <p:cBhvr additive="base">
                                        <p:cTn id="25" dur="500" fill="hold"/>
                                        <p:tgtEl>
                                          <p:spTgt spid="31"/>
                                        </p:tgtEl>
                                        <p:attrNameLst>
                                          <p:attrName>ppt_x</p:attrName>
                                        </p:attrNameLst>
                                      </p:cBhvr>
                                      <p:tavLst>
                                        <p:tav tm="0">
                                          <p:val>
                                            <p:strVal val="#ppt_x"/>
                                          </p:val>
                                        </p:tav>
                                        <p:tav tm="100000">
                                          <p:val>
                                            <p:strVal val="#ppt_x"/>
                                          </p:val>
                                        </p:tav>
                                      </p:tavLst>
                                    </p:anim>
                                    <p:anim calcmode="lin" valueType="num">
                                      <p:cBhvr additive="base">
                                        <p:cTn id="26" dur="500" fill="hold"/>
                                        <p:tgtEl>
                                          <p:spTgt spid="31"/>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5"/>
                                        </p:tgtEl>
                                        <p:attrNameLst>
                                          <p:attrName>style.visibility</p:attrName>
                                        </p:attrNameLst>
                                      </p:cBhvr>
                                      <p:to>
                                        <p:strVal val="visible"/>
                                      </p:to>
                                    </p:set>
                                    <p:anim calcmode="lin" valueType="num">
                                      <p:cBhvr additive="base">
                                        <p:cTn id="29" dur="500" fill="hold"/>
                                        <p:tgtEl>
                                          <p:spTgt spid="35"/>
                                        </p:tgtEl>
                                        <p:attrNameLst>
                                          <p:attrName>ppt_x</p:attrName>
                                        </p:attrNameLst>
                                      </p:cBhvr>
                                      <p:tavLst>
                                        <p:tav tm="0">
                                          <p:val>
                                            <p:strVal val="#ppt_x"/>
                                          </p:val>
                                        </p:tav>
                                        <p:tav tm="100000">
                                          <p:val>
                                            <p:strVal val="#ppt_x"/>
                                          </p:val>
                                        </p:tav>
                                      </p:tavLst>
                                    </p:anim>
                                    <p:anim calcmode="lin" valueType="num">
                                      <p:cBhvr additive="base">
                                        <p:cTn id="30" dur="500" fill="hold"/>
                                        <p:tgtEl>
                                          <p:spTgt spid="35"/>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39"/>
                                        </p:tgtEl>
                                        <p:attrNameLst>
                                          <p:attrName>style.visibility</p:attrName>
                                        </p:attrNameLst>
                                      </p:cBhvr>
                                      <p:to>
                                        <p:strVal val="visible"/>
                                      </p:to>
                                    </p:set>
                                    <p:anim calcmode="lin" valueType="num">
                                      <p:cBhvr additive="base">
                                        <p:cTn id="33" dur="500" fill="hold"/>
                                        <p:tgtEl>
                                          <p:spTgt spid="39"/>
                                        </p:tgtEl>
                                        <p:attrNameLst>
                                          <p:attrName>ppt_x</p:attrName>
                                        </p:attrNameLst>
                                      </p:cBhvr>
                                      <p:tavLst>
                                        <p:tav tm="0">
                                          <p:val>
                                            <p:strVal val="#ppt_x"/>
                                          </p:val>
                                        </p:tav>
                                        <p:tav tm="100000">
                                          <p:val>
                                            <p:strVal val="#ppt_x"/>
                                          </p:val>
                                        </p:tav>
                                      </p:tavLst>
                                    </p:anim>
                                    <p:anim calcmode="lin" valueType="num">
                                      <p:cBhvr additive="base">
                                        <p:cTn id="34" dur="500" fill="hold"/>
                                        <p:tgtEl>
                                          <p:spTgt spid="3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171196" y="2097742"/>
            <a:ext cx="9849608" cy="2432970"/>
            <a:chOff x="1115735" y="587229"/>
            <a:chExt cx="9925879" cy="6091095"/>
          </a:xfrm>
        </p:grpSpPr>
        <p:sp>
          <p:nvSpPr>
            <p:cNvPr id="3" name="矩形 2"/>
            <p:cNvSpPr/>
            <p:nvPr/>
          </p:nvSpPr>
          <p:spPr>
            <a:xfrm>
              <a:off x="1115735" y="587229"/>
              <a:ext cx="9571839" cy="5410900"/>
            </a:xfrm>
            <a:prstGeom prst="rect">
              <a:avLst/>
            </a:prstGeom>
            <a:pattFill prst="wdDnDiag">
              <a:fgClr>
                <a:srgbClr val="203864"/>
              </a:fgClr>
              <a:bgClr>
                <a:schemeClr val="bg1"/>
              </a:bgClr>
            </a:patt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1469775" y="1267424"/>
              <a:ext cx="9571839" cy="5410900"/>
            </a:xfrm>
            <a:prstGeom prst="rect">
              <a:avLst/>
            </a:prstGeom>
            <a:solidFill>
              <a:schemeClr val="bg1"/>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5" name="文本框 4"/>
          <p:cNvSpPr txBox="1"/>
          <p:nvPr/>
        </p:nvSpPr>
        <p:spPr>
          <a:xfrm>
            <a:off x="1856740" y="3013710"/>
            <a:ext cx="8813165" cy="829945"/>
          </a:xfrm>
          <a:prstGeom prst="rect">
            <a:avLst/>
          </a:prstGeom>
          <a:noFill/>
        </p:spPr>
        <p:txBody>
          <a:bodyPr wrap="square" rtlCol="0">
            <a:spAutoFit/>
          </a:bodyPr>
          <a:lstStyle/>
          <a:p>
            <a:pPr algn="ctr"/>
            <a:r>
              <a:rPr lang="zh-CN" altLang="en-US" sz="4800" dirty="0">
                <a:latin typeface="思源宋体 Heavy" panose="02020900000000000000" pitchFamily="18" charset="-122"/>
                <a:ea typeface="思源宋体 Heavy" panose="02020900000000000000" pitchFamily="18" charset="-122"/>
              </a:rPr>
              <a:t>章壹  </a:t>
            </a:r>
            <a:r>
              <a:rPr lang="en-US" altLang="zh-CN" sz="4800" dirty="0">
                <a:latin typeface="思源宋体 Heavy" panose="02020900000000000000" pitchFamily="18" charset="-122"/>
                <a:ea typeface="思源宋体 Heavy" panose="02020900000000000000" pitchFamily="18" charset="-122"/>
              </a:rPr>
              <a:t>–  </a:t>
            </a:r>
            <a:r>
              <a:rPr lang="zh-CN" altLang="en-US" sz="4800" dirty="0">
                <a:latin typeface="思源宋体 Heavy" panose="02020900000000000000" pitchFamily="18" charset="-122"/>
                <a:ea typeface="思源宋体 Heavy" panose="02020900000000000000" pitchFamily="18" charset="-122"/>
              </a:rPr>
              <a:t>行业背景及</a:t>
            </a:r>
            <a:r>
              <a:rPr lang="zh-CN" altLang="en-US" sz="4800" dirty="0">
                <a:latin typeface="思源宋体 Heavy" panose="02020900000000000000" pitchFamily="18" charset="-122"/>
                <a:ea typeface="思源宋体 Heavy" panose="02020900000000000000" pitchFamily="18" charset="-122"/>
              </a:rPr>
              <a:t>双方概况</a:t>
            </a:r>
            <a:endParaRPr lang="zh-CN" altLang="en-US" sz="4800" dirty="0">
              <a:latin typeface="思源宋体 Heavy" panose="02020900000000000000" pitchFamily="18" charset="-122"/>
              <a:ea typeface="思源宋体 Heavy" panose="02020900000000000000" pitchFamily="18" charset="-122"/>
            </a:endParaRPr>
          </a:p>
        </p:txBody>
      </p:sp>
    </p:spTree>
  </p:cSld>
  <p:clrMapOvr>
    <a:masterClrMapping/>
  </p:clrMapOvr>
  <p:transition spd="med" advTm="3000">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47831" y="242047"/>
            <a:ext cx="1464428" cy="600634"/>
            <a:chOff x="1115735" y="587229"/>
            <a:chExt cx="10176791" cy="6547926"/>
          </a:xfrm>
        </p:grpSpPr>
        <p:sp>
          <p:nvSpPr>
            <p:cNvPr id="3" name="矩形 2"/>
            <p:cNvSpPr/>
            <p:nvPr/>
          </p:nvSpPr>
          <p:spPr>
            <a:xfrm>
              <a:off x="1115735" y="587229"/>
              <a:ext cx="9571839" cy="5410900"/>
            </a:xfrm>
            <a:prstGeom prst="rect">
              <a:avLst/>
            </a:prstGeom>
            <a:pattFill prst="wdDnDiag">
              <a:fgClr>
                <a:srgbClr val="203864"/>
              </a:fgClr>
              <a:bgClr>
                <a:schemeClr val="bg1"/>
              </a:bgClr>
            </a:patt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1720688" y="1724252"/>
              <a:ext cx="9571838" cy="5410903"/>
            </a:xfrm>
            <a:prstGeom prst="rect">
              <a:avLst/>
            </a:prstGeom>
            <a:solidFill>
              <a:schemeClr val="bg1"/>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5" name="文本框 4"/>
          <p:cNvSpPr txBox="1"/>
          <p:nvPr/>
        </p:nvSpPr>
        <p:spPr>
          <a:xfrm>
            <a:off x="376518" y="409847"/>
            <a:ext cx="1335741" cy="368300"/>
          </a:xfrm>
          <a:prstGeom prst="rect">
            <a:avLst/>
          </a:prstGeom>
          <a:noFill/>
        </p:spPr>
        <p:txBody>
          <a:bodyPr wrap="square" rtlCol="0">
            <a:spAutoFit/>
          </a:bodyPr>
          <a:lstStyle/>
          <a:p>
            <a:pPr algn="ctr"/>
            <a:r>
              <a:rPr lang="zh-CN" altLang="en-US" dirty="0">
                <a:latin typeface="思源黑体 CN Bold" panose="020B0800000000000000" pitchFamily="34" charset="-122"/>
                <a:ea typeface="思源黑体 CN Bold" panose="020B0800000000000000" pitchFamily="34" charset="-122"/>
              </a:rPr>
              <a:t>行业背景</a:t>
            </a:r>
            <a:endParaRPr lang="zh-CN" altLang="en-US" dirty="0">
              <a:latin typeface="思源黑体 CN Bold" panose="020B0800000000000000" pitchFamily="34" charset="-122"/>
              <a:ea typeface="思源黑体 CN Bold" panose="020B0800000000000000" pitchFamily="34" charset="-122"/>
            </a:endParaRPr>
          </a:p>
        </p:txBody>
      </p:sp>
      <p:sp>
        <p:nvSpPr>
          <p:cNvPr id="8" name="矩形 7"/>
          <p:cNvSpPr/>
          <p:nvPr/>
        </p:nvSpPr>
        <p:spPr>
          <a:xfrm>
            <a:off x="4597400" y="1450340"/>
            <a:ext cx="4683760" cy="1689100"/>
          </a:xfrm>
          <a:prstGeom prst="rect">
            <a:avLst/>
          </a:prstGeom>
        </p:spPr>
        <p:txBody>
          <a:bodyPr wrap="square">
            <a:spAutoFit/>
          </a:bodyPr>
          <a:lstStyle/>
          <a:p>
            <a:pPr lvl="0" defTabSz="1216660">
              <a:lnSpc>
                <a:spcPct val="120000"/>
              </a:lnSpc>
              <a:spcBef>
                <a:spcPct val="20000"/>
              </a:spcBef>
              <a:defRPr/>
            </a:pPr>
            <a:r>
              <a:rPr lang="en-US" altLang="zh-CN" sz="2000" b="1"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1.</a:t>
            </a:r>
            <a:r>
              <a:rPr lang="zh-CN" altLang="en-US" sz="2000" b="1"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速冻食品行业的发展趋势</a:t>
            </a:r>
            <a:endParaRPr lang="zh-CN" altLang="en-US" sz="2000" b="1" dirty="0">
              <a:latin typeface="思源黑体 CN Normal" panose="020B0400000000000000" pitchFamily="34" charset="-122"/>
              <a:ea typeface="思源黑体 CN Normal" panose="020B0400000000000000" pitchFamily="34" charset="-122"/>
              <a:cs typeface="+mn-ea"/>
              <a:sym typeface="Calibri" panose="020F0502020204030204" pitchFamily="34" charset="0"/>
            </a:endParaRPr>
          </a:p>
          <a:p>
            <a:pPr lvl="0" defTabSz="1216660">
              <a:lnSpc>
                <a:spcPct val="120000"/>
              </a:lnSpc>
              <a:spcBef>
                <a:spcPct val="20000"/>
              </a:spcBef>
              <a:defRPr/>
            </a:pPr>
            <a:r>
              <a:rPr lang="en-US" altLang="zh-CN" sz="16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  </a:t>
            </a:r>
            <a:r>
              <a:rPr lang="zh-CN" altLang="en-US" sz="16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中国速冻食品行业正在经历结构性升级</a:t>
            </a:r>
            <a:r>
              <a:rPr lang="en-US" altLang="zh-CN" sz="16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a:t>
            </a:r>
            <a:r>
              <a:rPr lang="zh-CN" altLang="en-US" sz="16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传统速冻米面制品增速趋向稳定</a:t>
            </a:r>
            <a:r>
              <a:rPr lang="en-US" altLang="zh-CN" sz="16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a:t>
            </a:r>
            <a:r>
              <a:rPr lang="zh-CN" altLang="en-US" sz="16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但行业新兴品类将成为增长引擎</a:t>
            </a:r>
            <a:r>
              <a:rPr lang="en-US" altLang="zh-CN" sz="16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a:t>
            </a:r>
            <a:r>
              <a:rPr lang="zh-CN" altLang="en-US" sz="16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速冻食品发展空间巨大</a:t>
            </a:r>
            <a:r>
              <a:rPr lang="en-US" altLang="zh-CN" sz="16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a:t>
            </a:r>
            <a:r>
              <a:rPr lang="zh-CN" altLang="en-US" sz="16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安井食品在经过多年传统食品行业发展后迎来了新的发展机遇</a:t>
            </a:r>
            <a:r>
              <a:rPr lang="en-US" altLang="zh-CN" sz="16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a:t>
            </a:r>
            <a:endParaRPr lang="en-US" altLang="zh-CN" sz="1600" dirty="0">
              <a:latin typeface="思源黑体 CN Normal" panose="020B0400000000000000" pitchFamily="34" charset="-122"/>
              <a:ea typeface="思源黑体 CN Normal" panose="020B0400000000000000" pitchFamily="34" charset="-122"/>
              <a:cs typeface="+mn-ea"/>
              <a:sym typeface="Calibri" panose="020F0502020204030204" pitchFamily="34" charset="0"/>
            </a:endParaRPr>
          </a:p>
        </p:txBody>
      </p:sp>
      <p:sp>
        <p:nvSpPr>
          <p:cNvPr id="9" name="矩形 8"/>
          <p:cNvSpPr/>
          <p:nvPr/>
        </p:nvSpPr>
        <p:spPr>
          <a:xfrm>
            <a:off x="4597400" y="3139440"/>
            <a:ext cx="4683760" cy="1202055"/>
          </a:xfrm>
          <a:prstGeom prst="rect">
            <a:avLst/>
          </a:prstGeom>
        </p:spPr>
        <p:txBody>
          <a:bodyPr wrap="square">
            <a:noAutofit/>
          </a:bodyPr>
          <a:lstStyle/>
          <a:p>
            <a:pPr lvl="0" defTabSz="1216660">
              <a:lnSpc>
                <a:spcPct val="120000"/>
              </a:lnSpc>
              <a:spcBef>
                <a:spcPct val="20000"/>
              </a:spcBef>
              <a:defRPr/>
            </a:pPr>
            <a:r>
              <a:rPr lang="en-US" altLang="zh-CN" sz="2000" b="1" dirty="0">
                <a:latin typeface="思源黑体 CN Heavy" panose="020B0A00000000000000" pitchFamily="34" charset="-122"/>
                <a:ea typeface="思源黑体 CN Heavy" panose="020B0A00000000000000" pitchFamily="34" charset="-122"/>
                <a:cs typeface="+mn-ea"/>
                <a:sym typeface="Calibri" panose="020F0502020204030204" pitchFamily="34" charset="0"/>
              </a:rPr>
              <a:t>2.</a:t>
            </a:r>
            <a:r>
              <a:rPr lang="zh-CN" altLang="en-US" sz="2000" b="1" dirty="0">
                <a:latin typeface="思源黑体 CN Heavy" panose="020B0A00000000000000" pitchFamily="34" charset="-122"/>
                <a:ea typeface="思源黑体 CN Heavy" panose="020B0A00000000000000" pitchFamily="34" charset="-122"/>
                <a:cs typeface="+mn-ea"/>
                <a:sym typeface="Calibri" panose="020F0502020204030204" pitchFamily="34" charset="0"/>
              </a:rPr>
              <a:t>政策环境扶持</a:t>
            </a:r>
            <a:endParaRPr lang="en-US" altLang="zh-CN" sz="2000" b="1" dirty="0">
              <a:latin typeface="思源黑体 CN Heavy" panose="020B0A00000000000000" pitchFamily="34" charset="-122"/>
              <a:ea typeface="思源黑体 CN Heavy" panose="020B0A00000000000000" pitchFamily="34" charset="-122"/>
              <a:cs typeface="+mn-ea"/>
              <a:sym typeface="Calibri" panose="020F0502020204030204" pitchFamily="34" charset="0"/>
            </a:endParaRPr>
          </a:p>
          <a:p>
            <a:pPr lvl="0" defTabSz="1216660">
              <a:lnSpc>
                <a:spcPct val="120000"/>
              </a:lnSpc>
              <a:spcBef>
                <a:spcPct val="20000"/>
              </a:spcBef>
              <a:defRPr/>
            </a:pPr>
            <a:r>
              <a:rPr lang="en-US" altLang="zh-CN" sz="16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  </a:t>
            </a:r>
            <a:r>
              <a:rPr lang="zh-CN" altLang="en-US" sz="16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国内对于预制菜行业进行了政策法规上的有效管控</a:t>
            </a:r>
            <a:r>
              <a:rPr lang="en-US" altLang="zh-CN" sz="16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a:t>
            </a:r>
            <a:r>
              <a:rPr lang="zh-CN" altLang="en-US" sz="16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保障了消费者的食品安全</a:t>
            </a:r>
            <a:r>
              <a:rPr lang="en-US" altLang="zh-CN" sz="16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a:t>
            </a:r>
            <a:r>
              <a:rPr lang="zh-CN" altLang="en-US" sz="16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也推动速冻品行业的标准化生产发展</a:t>
            </a:r>
            <a:r>
              <a:rPr lang="en-US" altLang="zh-CN" sz="16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a:t>
            </a:r>
            <a:endParaRPr lang="en-US" altLang="zh-CN" sz="1600" dirty="0">
              <a:latin typeface="思源黑体 CN Normal" panose="020B0400000000000000" pitchFamily="34" charset="-122"/>
              <a:ea typeface="思源黑体 CN Normal" panose="020B0400000000000000" pitchFamily="34" charset="-122"/>
              <a:cs typeface="+mn-ea"/>
              <a:sym typeface="Calibri" panose="020F0502020204030204" pitchFamily="34" charset="0"/>
            </a:endParaRPr>
          </a:p>
        </p:txBody>
      </p:sp>
      <p:grpSp>
        <p:nvGrpSpPr>
          <p:cNvPr id="10" name="组合 9"/>
          <p:cNvGrpSpPr/>
          <p:nvPr/>
        </p:nvGrpSpPr>
        <p:grpSpPr>
          <a:xfrm>
            <a:off x="1097915" y="1450340"/>
            <a:ext cx="2689860" cy="4119880"/>
            <a:chOff x="1115735" y="587229"/>
            <a:chExt cx="11246462" cy="5912657"/>
          </a:xfrm>
        </p:grpSpPr>
        <p:sp>
          <p:nvSpPr>
            <p:cNvPr id="11" name="矩形 10"/>
            <p:cNvSpPr/>
            <p:nvPr/>
          </p:nvSpPr>
          <p:spPr>
            <a:xfrm>
              <a:off x="1115735" y="587229"/>
              <a:ext cx="9571839" cy="5410900"/>
            </a:xfrm>
            <a:prstGeom prst="rect">
              <a:avLst/>
            </a:prstGeom>
            <a:pattFill prst="wdDnDiag">
              <a:fgClr>
                <a:srgbClr val="203864"/>
              </a:fgClr>
              <a:bgClr>
                <a:schemeClr val="bg1"/>
              </a:bgClr>
            </a:patt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2790358" y="1088986"/>
              <a:ext cx="9571839" cy="5410900"/>
            </a:xfrm>
            <a:prstGeom prst="rect">
              <a:avLst/>
            </a:prstGeom>
            <a:solidFill>
              <a:schemeClr val="bg1"/>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18" name="矩形 17"/>
          <p:cNvSpPr/>
          <p:nvPr/>
        </p:nvSpPr>
        <p:spPr>
          <a:xfrm>
            <a:off x="1497965" y="1804670"/>
            <a:ext cx="2304415" cy="3855085"/>
          </a:xfrm>
          <a:prstGeom prst="rect">
            <a:avLst/>
          </a:prstGeom>
          <a:blipFill rotWithShape="1">
            <a:blip r:embed="rId1"/>
            <a:stretch>
              <a:fillRect/>
            </a:stretch>
          </a:blip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1" name="文本框 20"/>
          <p:cNvSpPr txBox="1"/>
          <p:nvPr/>
        </p:nvSpPr>
        <p:spPr>
          <a:xfrm>
            <a:off x="4598035" y="4543425"/>
            <a:ext cx="3366770" cy="803275"/>
          </a:xfrm>
          <a:prstGeom prst="rect">
            <a:avLst/>
          </a:prstGeom>
          <a:noFill/>
        </p:spPr>
        <p:txBody>
          <a:bodyPr wrap="square" rtlCol="0">
            <a:noAutofit/>
          </a:bodyPr>
          <a:p>
            <a:r>
              <a:rPr lang="en-US" altLang="zh-CN" sz="2000" b="1" dirty="0">
                <a:latin typeface="思源黑体 CN Heavy" panose="020B0A00000000000000" pitchFamily="34" charset="-122"/>
                <a:ea typeface="思源黑体 CN Heavy" panose="020B0A00000000000000" pitchFamily="34" charset="-122"/>
                <a:cs typeface="+mn-ea"/>
              </a:rPr>
              <a:t>3.</a:t>
            </a:r>
            <a:r>
              <a:rPr lang="zh-CN" altLang="en-US" sz="2000" b="1" dirty="0">
                <a:latin typeface="思源黑体 CN Heavy" panose="020B0A00000000000000" pitchFamily="34" charset="-122"/>
                <a:ea typeface="思源黑体 CN Heavy" panose="020B0A00000000000000" pitchFamily="34" charset="-122"/>
                <a:cs typeface="+mn-ea"/>
              </a:rPr>
              <a:t>餐饮零售端</a:t>
            </a:r>
            <a:endParaRPr lang="zh-CN" altLang="en-US" sz="2000" b="1" dirty="0">
              <a:latin typeface="思源黑体 CN Heavy" panose="020B0A00000000000000" pitchFamily="34" charset="-122"/>
              <a:ea typeface="思源黑体 CN Heavy" panose="020B0A00000000000000" pitchFamily="34" charset="-122"/>
              <a:cs typeface="+mn-ea"/>
            </a:endParaRPr>
          </a:p>
        </p:txBody>
      </p:sp>
      <p:sp>
        <p:nvSpPr>
          <p:cNvPr id="22" name="文本框 21"/>
          <p:cNvSpPr txBox="1"/>
          <p:nvPr/>
        </p:nvSpPr>
        <p:spPr>
          <a:xfrm>
            <a:off x="4598035" y="4890770"/>
            <a:ext cx="4683125" cy="1202055"/>
          </a:xfrm>
          <a:prstGeom prst="rect">
            <a:avLst/>
          </a:prstGeom>
          <a:noFill/>
        </p:spPr>
        <p:txBody>
          <a:bodyPr wrap="square" rtlCol="0">
            <a:noAutofit/>
          </a:bodyPr>
          <a:p>
            <a:pPr>
              <a:lnSpc>
                <a:spcPct val="110000"/>
              </a:lnSpc>
            </a:pPr>
            <a:r>
              <a:rPr lang="en-US" altLang="zh-CN" sz="1600" dirty="0">
                <a:latin typeface="思源黑体 CN Normal" panose="020B0400000000000000" pitchFamily="34" charset="-122"/>
                <a:ea typeface="思源黑体 CN Normal" panose="020B0400000000000000" pitchFamily="34" charset="-122"/>
                <a:cs typeface="+mn-ea"/>
              </a:rPr>
              <a:t>  </a:t>
            </a:r>
            <a:r>
              <a:rPr lang="zh-CN" altLang="en-US" sz="1600" dirty="0">
                <a:latin typeface="思源黑体 CN Normal" panose="020B0400000000000000" pitchFamily="34" charset="-122"/>
                <a:ea typeface="思源黑体 CN Normal" panose="020B0400000000000000" pitchFamily="34" charset="-122"/>
                <a:cs typeface="+mn-ea"/>
              </a:rPr>
              <a:t>随着人民生活水平的提升，以及为了适应快节奏生活发展需要，对于速冻产品及预制菜行业的需求也随之变大，这对于速冻食品行业发展发出了一个好的信号。</a:t>
            </a:r>
            <a:endParaRPr lang="zh-CN" altLang="en-US" sz="1600" dirty="0">
              <a:latin typeface="思源黑体 CN Normal" panose="020B0400000000000000" pitchFamily="34" charset="-122"/>
              <a:ea typeface="思源黑体 CN Normal" panose="020B0400000000000000" pitchFamily="34" charset="-122"/>
              <a:cs typeface="+mn-ea"/>
            </a:endParaRPr>
          </a:p>
        </p:txBody>
      </p:sp>
    </p:spTree>
  </p:cSld>
  <p:clrMapOvr>
    <a:masterClrMapping/>
  </p:clrMapOvr>
  <p:transition spd="med" advTm="3000">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par>
                                <p:cTn id="10" presetID="42"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1000"/>
                                        <p:tgtEl>
                                          <p:spTgt spid="9"/>
                                        </p:tgtEl>
                                      </p:cBhvr>
                                    </p:animEffect>
                                    <p:anim calcmode="lin" valueType="num">
                                      <p:cBhvr>
                                        <p:cTn id="18" dur="1000" fill="hold"/>
                                        <p:tgtEl>
                                          <p:spTgt spid="9"/>
                                        </p:tgtEl>
                                        <p:attrNameLst>
                                          <p:attrName>ppt_x</p:attrName>
                                        </p:attrNameLst>
                                      </p:cBhvr>
                                      <p:tavLst>
                                        <p:tav tm="0">
                                          <p:val>
                                            <p:strVal val="#ppt_x"/>
                                          </p:val>
                                        </p:tav>
                                        <p:tav tm="100000">
                                          <p:val>
                                            <p:strVal val="#ppt_x"/>
                                          </p:val>
                                        </p:tav>
                                      </p:tavLst>
                                    </p:anim>
                                    <p:anim calcmode="lin" valueType="num">
                                      <p:cBhvr>
                                        <p:cTn id="1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47831" y="242047"/>
            <a:ext cx="1464428" cy="600634"/>
            <a:chOff x="1115735" y="587229"/>
            <a:chExt cx="10176791" cy="6547926"/>
          </a:xfrm>
        </p:grpSpPr>
        <p:sp>
          <p:nvSpPr>
            <p:cNvPr id="3" name="矩形 2"/>
            <p:cNvSpPr/>
            <p:nvPr/>
          </p:nvSpPr>
          <p:spPr>
            <a:xfrm>
              <a:off x="1115735" y="587229"/>
              <a:ext cx="9571839" cy="5410900"/>
            </a:xfrm>
            <a:prstGeom prst="rect">
              <a:avLst/>
            </a:prstGeom>
            <a:pattFill prst="wdDnDiag">
              <a:fgClr>
                <a:srgbClr val="203864"/>
              </a:fgClr>
              <a:bgClr>
                <a:schemeClr val="bg1"/>
              </a:bgClr>
            </a:patt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1720688" y="1724252"/>
              <a:ext cx="9571838" cy="5410903"/>
            </a:xfrm>
            <a:prstGeom prst="rect">
              <a:avLst/>
            </a:prstGeom>
            <a:solidFill>
              <a:schemeClr val="bg1"/>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5" name="文本框 4"/>
          <p:cNvSpPr txBox="1"/>
          <p:nvPr/>
        </p:nvSpPr>
        <p:spPr>
          <a:xfrm>
            <a:off x="376518" y="409847"/>
            <a:ext cx="1335741" cy="368300"/>
          </a:xfrm>
          <a:prstGeom prst="rect">
            <a:avLst/>
          </a:prstGeom>
          <a:noFill/>
        </p:spPr>
        <p:txBody>
          <a:bodyPr wrap="square" rtlCol="0">
            <a:spAutoFit/>
          </a:bodyPr>
          <a:lstStyle/>
          <a:p>
            <a:pPr algn="ctr"/>
            <a:r>
              <a:rPr lang="zh-CN" altLang="en-US" dirty="0">
                <a:latin typeface="思源黑体 CN Bold" panose="020B0800000000000000" pitchFamily="34" charset="-122"/>
                <a:ea typeface="思源黑体 CN Bold" panose="020B0800000000000000" pitchFamily="34" charset="-122"/>
              </a:rPr>
              <a:t>双方概况</a:t>
            </a:r>
            <a:endParaRPr lang="zh-CN" altLang="en-US" dirty="0">
              <a:latin typeface="思源黑体 CN Bold" panose="020B0800000000000000" pitchFamily="34" charset="-122"/>
              <a:ea typeface="思源黑体 CN Bold" panose="020B0800000000000000" pitchFamily="34" charset="-122"/>
            </a:endParaRPr>
          </a:p>
        </p:txBody>
      </p:sp>
      <p:grpSp>
        <p:nvGrpSpPr>
          <p:cNvPr id="6" name="组合 5"/>
          <p:cNvGrpSpPr/>
          <p:nvPr/>
        </p:nvGrpSpPr>
        <p:grpSpPr>
          <a:xfrm>
            <a:off x="1275080" y="1142365"/>
            <a:ext cx="2599055" cy="5188585"/>
            <a:chOff x="1775011" y="797857"/>
            <a:chExt cx="2214284" cy="4845427"/>
          </a:xfrm>
          <a:blipFill dpi="0" rotWithShape="1">
            <a:blip r:embed="rId1"/>
            <a:srcRect/>
            <a:tile tx="0" ty="0" sx="100000" sy="100000" flip="none" algn="tl"/>
          </a:blipFill>
        </p:grpSpPr>
        <p:sp>
          <p:nvSpPr>
            <p:cNvPr id="7" name="矩形 6"/>
            <p:cNvSpPr/>
            <p:nvPr/>
          </p:nvSpPr>
          <p:spPr>
            <a:xfrm>
              <a:off x="1775011" y="797857"/>
              <a:ext cx="2214284" cy="2214284"/>
            </a:xfrm>
            <a:prstGeom prst="rect">
              <a:avLst/>
            </a:prstGeom>
            <a:blipFill rotWithShape="1">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8" name="矩形 7"/>
            <p:cNvSpPr/>
            <p:nvPr/>
          </p:nvSpPr>
          <p:spPr>
            <a:xfrm>
              <a:off x="1775011" y="3429000"/>
              <a:ext cx="2214284" cy="2214284"/>
            </a:xfrm>
            <a:prstGeom prst="rect">
              <a:avLst/>
            </a:prstGeom>
            <a:blipFill rotWithShape="1">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sp>
        <p:nvSpPr>
          <p:cNvPr id="9" name="文本框 8"/>
          <p:cNvSpPr txBox="1"/>
          <p:nvPr/>
        </p:nvSpPr>
        <p:spPr>
          <a:xfrm>
            <a:off x="4456430" y="1622425"/>
            <a:ext cx="6589395" cy="1890395"/>
          </a:xfrm>
          <a:prstGeom prst="rect">
            <a:avLst/>
          </a:prstGeom>
          <a:noFill/>
        </p:spPr>
        <p:txBody>
          <a:bodyPr wrap="square" rtlCol="0">
            <a:noAutofit/>
          </a:bodyPr>
          <a:lstStyle/>
          <a:p>
            <a:pPr lvl="0" algn="just">
              <a:lnSpc>
                <a:spcPct val="150000"/>
              </a:lnSpc>
            </a:pPr>
            <a:r>
              <a:rPr lang="zh-CN" altLang="en-US" dirty="0">
                <a:solidFill>
                  <a:prstClr val="black"/>
                </a:solidFill>
                <a:latin typeface="思源黑体 CN Regular" panose="020B0500000000000000" pitchFamily="34" charset="-122"/>
                <a:ea typeface="思源黑体 CN Regular" panose="020B0500000000000000" pitchFamily="34" charset="-122"/>
                <a:cs typeface="Poppins Light" charset="0"/>
              </a:rPr>
              <a:t>安井食品股份有限公司成立于</a:t>
            </a:r>
            <a:r>
              <a:rPr lang="en-US" altLang="zh-CN" dirty="0">
                <a:solidFill>
                  <a:prstClr val="black"/>
                </a:solidFill>
                <a:latin typeface="思源黑体 CN Regular" panose="020B0500000000000000" pitchFamily="34" charset="-122"/>
                <a:ea typeface="思源黑体 CN Regular" panose="020B0500000000000000" pitchFamily="34" charset="-122"/>
                <a:cs typeface="Poppins Light" charset="0"/>
              </a:rPr>
              <a:t>2001</a:t>
            </a:r>
            <a:r>
              <a:rPr lang="zh-CN" altLang="en-US" dirty="0">
                <a:solidFill>
                  <a:prstClr val="black"/>
                </a:solidFill>
                <a:latin typeface="思源黑体 CN Regular" panose="020B0500000000000000" pitchFamily="34" charset="-122"/>
                <a:ea typeface="思源黑体 CN Regular" panose="020B0500000000000000" pitchFamily="34" charset="-122"/>
                <a:cs typeface="Poppins Light" charset="0"/>
              </a:rPr>
              <a:t>年，总部位于福建厦门，是一家专业从事速冻食品研发、生产和销售的现代化企业，主营业务包括速冻火锅料制品和速冻面米制品。公司于</a:t>
            </a:r>
            <a:r>
              <a:rPr lang="en-US" altLang="zh-CN" dirty="0">
                <a:solidFill>
                  <a:prstClr val="black"/>
                </a:solidFill>
                <a:latin typeface="思源黑体 CN Regular" panose="020B0500000000000000" pitchFamily="34" charset="-122"/>
                <a:ea typeface="思源黑体 CN Regular" panose="020B0500000000000000" pitchFamily="34" charset="-122"/>
                <a:cs typeface="Poppins Light" charset="0"/>
              </a:rPr>
              <a:t>2017</a:t>
            </a:r>
            <a:r>
              <a:rPr lang="zh-CN" altLang="en-US" dirty="0">
                <a:solidFill>
                  <a:prstClr val="black"/>
                </a:solidFill>
                <a:latin typeface="思源黑体 CN Regular" panose="020B0500000000000000" pitchFamily="34" charset="-122"/>
                <a:ea typeface="思源黑体 CN Regular" panose="020B0500000000000000" pitchFamily="34" charset="-122"/>
                <a:cs typeface="Poppins Light" charset="0"/>
              </a:rPr>
              <a:t>年在上海证券交易所上市（股票代码：</a:t>
            </a:r>
            <a:r>
              <a:rPr lang="en-US" altLang="zh-CN" dirty="0">
                <a:solidFill>
                  <a:prstClr val="black"/>
                </a:solidFill>
                <a:latin typeface="思源黑体 CN Regular" panose="020B0500000000000000" pitchFamily="34" charset="-122"/>
                <a:ea typeface="思源黑体 CN Regular" panose="020B0500000000000000" pitchFamily="34" charset="-122"/>
                <a:cs typeface="Poppins Light" charset="0"/>
              </a:rPr>
              <a:t>603345</a:t>
            </a:r>
            <a:r>
              <a:rPr lang="zh-CN" altLang="en-US" dirty="0">
                <a:solidFill>
                  <a:prstClr val="black"/>
                </a:solidFill>
                <a:latin typeface="思源黑体 CN Regular" panose="020B0500000000000000" pitchFamily="34" charset="-122"/>
                <a:ea typeface="思源黑体 CN Regular" panose="020B0500000000000000" pitchFamily="34" charset="-122"/>
                <a:cs typeface="Poppins Light" charset="0"/>
              </a:rPr>
              <a:t>）。安井食品在经过传统</a:t>
            </a:r>
            <a:r>
              <a:rPr lang="zh-CN" altLang="en-US" dirty="0">
                <a:solidFill>
                  <a:prstClr val="black"/>
                </a:solidFill>
                <a:latin typeface="思源黑体 CN Regular" panose="020B0500000000000000" pitchFamily="34" charset="-122"/>
                <a:ea typeface="思源黑体 CN Regular" panose="020B0500000000000000" pitchFamily="34" charset="-122"/>
                <a:cs typeface="Poppins Light" charset="0"/>
              </a:rPr>
              <a:t>速冻食品行业的多年稳健发展后迎来了新的发展契机</a:t>
            </a:r>
            <a:r>
              <a:rPr lang="en-US" altLang="zh-CN" dirty="0">
                <a:solidFill>
                  <a:prstClr val="black"/>
                </a:solidFill>
                <a:latin typeface="思源黑体 CN Regular" panose="020B0500000000000000" pitchFamily="34" charset="-122"/>
                <a:ea typeface="思源黑体 CN Regular" panose="020B0500000000000000" pitchFamily="34" charset="-122"/>
                <a:cs typeface="Poppins Light" charset="0"/>
              </a:rPr>
              <a:t>。</a:t>
            </a:r>
            <a:endParaRPr lang="en-US" altLang="zh-CN" dirty="0">
              <a:solidFill>
                <a:prstClr val="black"/>
              </a:solidFill>
              <a:latin typeface="思源黑体 CN Regular" panose="020B0500000000000000" pitchFamily="34" charset="-122"/>
              <a:ea typeface="思源黑体 CN Regular" panose="020B0500000000000000" pitchFamily="34" charset="-122"/>
              <a:cs typeface="Poppins Light" charset="0"/>
            </a:endParaRPr>
          </a:p>
        </p:txBody>
      </p:sp>
      <p:sp>
        <p:nvSpPr>
          <p:cNvPr id="10" name="文本框 9"/>
          <p:cNvSpPr txBox="1"/>
          <p:nvPr/>
        </p:nvSpPr>
        <p:spPr>
          <a:xfrm>
            <a:off x="4456484" y="1142334"/>
            <a:ext cx="5063281" cy="5835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456387"/>
                </a:solidFill>
                <a:effectLst/>
                <a:uLnTx/>
                <a:uFillTx/>
                <a:latin typeface="思源黑体 CN Heavy" panose="020B0A00000000000000" pitchFamily="34" charset="-122"/>
                <a:ea typeface="思源黑体 CN Heavy" panose="020B0A00000000000000" pitchFamily="34" charset="-122"/>
                <a:cs typeface="+mn-cs"/>
              </a:rPr>
              <a:t>安井</a:t>
            </a:r>
            <a:r>
              <a:rPr kumimoji="0" lang="zh-CN" altLang="en-US" sz="3200" b="0" i="0" u="none" strike="noStrike" kern="1200" cap="none" spc="0" normalizeH="0" baseline="0" noProof="0" dirty="0">
                <a:ln>
                  <a:noFill/>
                </a:ln>
                <a:solidFill>
                  <a:srgbClr val="456387"/>
                </a:solidFill>
                <a:effectLst/>
                <a:uLnTx/>
                <a:uFillTx/>
                <a:latin typeface="思源黑体 CN Heavy" panose="020B0A00000000000000" pitchFamily="34" charset="-122"/>
                <a:ea typeface="思源黑体 CN Heavy" panose="020B0A00000000000000" pitchFamily="34" charset="-122"/>
                <a:cs typeface="+mn-cs"/>
              </a:rPr>
              <a:t>食品</a:t>
            </a:r>
            <a:endParaRPr kumimoji="0" lang="zh-CN" altLang="en-US" sz="3200" b="0" i="0" u="none" strike="noStrike" kern="1200" cap="none" spc="0" normalizeH="0" baseline="0" noProof="0" dirty="0">
              <a:ln>
                <a:noFill/>
              </a:ln>
              <a:solidFill>
                <a:srgbClr val="456387"/>
              </a:solidFill>
              <a:effectLst/>
              <a:uLnTx/>
              <a:uFillTx/>
              <a:latin typeface="思源黑体 CN Heavy" panose="020B0A00000000000000" pitchFamily="34" charset="-122"/>
              <a:ea typeface="思源黑体 CN Heavy" panose="020B0A00000000000000" pitchFamily="34" charset="-122"/>
              <a:cs typeface="+mn-cs"/>
            </a:endParaRPr>
          </a:p>
        </p:txBody>
      </p:sp>
      <p:sp>
        <p:nvSpPr>
          <p:cNvPr id="17" name="文本框 16"/>
          <p:cNvSpPr txBox="1"/>
          <p:nvPr/>
        </p:nvSpPr>
        <p:spPr>
          <a:xfrm>
            <a:off x="10382885" y="4605655"/>
            <a:ext cx="1336040" cy="252730"/>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prstClr val="black"/>
              </a:solidFill>
              <a:effectLst/>
              <a:uLnTx/>
              <a:uFillTx/>
              <a:latin typeface="思源黑体 CN Normal" panose="020B0400000000000000" pitchFamily="34" charset="-122"/>
              <a:ea typeface="思源黑体 CN Normal" panose="020B0400000000000000" pitchFamily="34" charset="-122"/>
              <a:cs typeface="+mn-cs"/>
            </a:endParaRPr>
          </a:p>
        </p:txBody>
      </p:sp>
      <p:sp>
        <p:nvSpPr>
          <p:cNvPr id="27" name="文本框 26"/>
          <p:cNvSpPr txBox="1"/>
          <p:nvPr/>
        </p:nvSpPr>
        <p:spPr>
          <a:xfrm>
            <a:off x="4463415" y="4381500"/>
            <a:ext cx="6590030" cy="1949450"/>
          </a:xfrm>
          <a:prstGeom prst="rect">
            <a:avLst/>
          </a:prstGeom>
          <a:noFill/>
        </p:spPr>
        <p:txBody>
          <a:bodyPr wrap="square" rtlCol="0">
            <a:noAutofit/>
          </a:bodyPr>
          <a:lstStyle/>
          <a:p>
            <a:pPr lvl="0" algn="just">
              <a:lnSpc>
                <a:spcPct val="150000"/>
              </a:lnSpc>
            </a:pPr>
            <a:r>
              <a:rPr lang="zh-CN" altLang="en-US" dirty="0">
                <a:solidFill>
                  <a:prstClr val="black"/>
                </a:solidFill>
                <a:latin typeface="思源黑体 CN Regular" panose="020B0500000000000000" pitchFamily="34" charset="-122"/>
                <a:ea typeface="思源黑体 CN Regular" panose="020B0500000000000000" pitchFamily="34" charset="-122"/>
                <a:cs typeface="Poppins Light" charset="0"/>
              </a:rPr>
              <a:t>新宏业食品有限公司是一家区域性速冻食品企业，主要生产和销售速冻火锅料、速冻调理肉制品等产品，在华东地区拥有较高的市场知名度和稳定的客户群体。</a:t>
            </a:r>
            <a:endParaRPr lang="zh-CN" altLang="en-US" dirty="0">
              <a:solidFill>
                <a:prstClr val="black"/>
              </a:solidFill>
              <a:latin typeface="思源黑体 CN Regular" panose="020B0500000000000000" pitchFamily="34" charset="-122"/>
              <a:ea typeface="思源黑体 CN Regular" panose="020B0500000000000000" pitchFamily="34" charset="-122"/>
              <a:cs typeface="Poppins Light" charset="0"/>
            </a:endParaRPr>
          </a:p>
        </p:txBody>
      </p:sp>
      <p:sp>
        <p:nvSpPr>
          <p:cNvPr id="29" name="文本框 28"/>
          <p:cNvSpPr txBox="1"/>
          <p:nvPr/>
        </p:nvSpPr>
        <p:spPr>
          <a:xfrm>
            <a:off x="4463415" y="3885565"/>
            <a:ext cx="4333875" cy="720090"/>
          </a:xfrm>
          <a:prstGeom prst="rect">
            <a:avLst/>
          </a:prstGeom>
          <a:noFill/>
        </p:spPr>
        <p:txBody>
          <a:bodyPr wrap="square" rtlCol="0">
            <a:noAutofit/>
          </a:bodyPr>
          <a:p>
            <a:pPr algn="l">
              <a:spcBef>
                <a:spcPts val="0"/>
              </a:spcBef>
              <a:spcAft>
                <a:spcPts val="0"/>
              </a:spcAft>
              <a:buClrTx/>
              <a:buSzTx/>
              <a:buFontTx/>
              <a:defRPr/>
            </a:pPr>
            <a:r>
              <a:rPr lang="zh-CN" altLang="en-US" sz="3200" noProof="0" dirty="0">
                <a:ln>
                  <a:noFill/>
                </a:ln>
                <a:solidFill>
                  <a:srgbClr val="456387"/>
                </a:solidFill>
                <a:effectLst/>
                <a:uLnTx/>
                <a:uFillTx/>
                <a:latin typeface="思源黑体 CN Heavy" panose="020B0A00000000000000" pitchFamily="34" charset="-122"/>
                <a:ea typeface="思源黑体 CN Heavy" panose="020B0A00000000000000" pitchFamily="34" charset="-122"/>
              </a:rPr>
              <a:t>洪湖新宏业</a:t>
            </a:r>
            <a:endParaRPr lang="zh-CN" altLang="en-US" sz="3200" noProof="0" dirty="0">
              <a:ln>
                <a:noFill/>
              </a:ln>
              <a:solidFill>
                <a:srgbClr val="456387"/>
              </a:solidFill>
              <a:effectLst/>
              <a:uLnTx/>
              <a:uFillTx/>
              <a:latin typeface="思源黑体 CN Heavy" panose="020B0A00000000000000" pitchFamily="34" charset="-122"/>
              <a:ea typeface="思源黑体 CN Heavy" panose="020B0A00000000000000" pitchFamily="34" charset="-122"/>
            </a:endParaRPr>
          </a:p>
        </p:txBody>
      </p:sp>
    </p:spTree>
  </p:cSld>
  <p:clrMapOvr>
    <a:masterClrMapping/>
  </p:clrMapOvr>
  <p:transition spd="med" advTm="3000">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42"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1000"/>
                                        <p:tgtEl>
                                          <p:spTgt spid="9"/>
                                        </p:tgtEl>
                                      </p:cBhvr>
                                    </p:animEffect>
                                    <p:anim calcmode="lin" valueType="num">
                                      <p:cBhvr>
                                        <p:cTn id="12" dur="1000" fill="hold"/>
                                        <p:tgtEl>
                                          <p:spTgt spid="9"/>
                                        </p:tgtEl>
                                        <p:attrNameLst>
                                          <p:attrName>ppt_x</p:attrName>
                                        </p:attrNameLst>
                                      </p:cBhvr>
                                      <p:tavLst>
                                        <p:tav tm="0">
                                          <p:val>
                                            <p:strVal val="#ppt_x"/>
                                          </p:val>
                                        </p:tav>
                                        <p:tav tm="100000">
                                          <p:val>
                                            <p:strVal val="#ppt_x"/>
                                          </p:val>
                                        </p:tav>
                                      </p:tavLst>
                                    </p:anim>
                                    <p:anim calcmode="lin" valueType="num">
                                      <p:cBhvr>
                                        <p:cTn id="13" dur="1000" fill="hold"/>
                                        <p:tgtEl>
                                          <p:spTgt spid="9"/>
                                        </p:tgtEl>
                                        <p:attrNameLst>
                                          <p:attrName>ppt_y</p:attrName>
                                        </p:attrNameLst>
                                      </p:cBhvr>
                                      <p:tavLst>
                                        <p:tav tm="0">
                                          <p:val>
                                            <p:strVal val="#ppt_y+.1"/>
                                          </p:val>
                                        </p:tav>
                                        <p:tav tm="100000">
                                          <p:val>
                                            <p:strVal val="#ppt_y"/>
                                          </p:val>
                                        </p:tav>
                                      </p:tavLst>
                                    </p:anim>
                                  </p:childTnLst>
                                </p:cTn>
                              </p:par>
                              <p:par>
                                <p:cTn id="14" presetID="42"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1000"/>
                                        <p:tgtEl>
                                          <p:spTgt spid="10"/>
                                        </p:tgtEl>
                                      </p:cBhvr>
                                    </p:animEffect>
                                    <p:anim calcmode="lin" valueType="num">
                                      <p:cBhvr>
                                        <p:cTn id="17" dur="1000" fill="hold"/>
                                        <p:tgtEl>
                                          <p:spTgt spid="10"/>
                                        </p:tgtEl>
                                        <p:attrNameLst>
                                          <p:attrName>ppt_x</p:attrName>
                                        </p:attrNameLst>
                                      </p:cBhvr>
                                      <p:tavLst>
                                        <p:tav tm="0">
                                          <p:val>
                                            <p:strVal val="#ppt_x"/>
                                          </p:val>
                                        </p:tav>
                                        <p:tav tm="100000">
                                          <p:val>
                                            <p:strVal val="#ppt_x"/>
                                          </p:val>
                                        </p:tav>
                                      </p:tavLst>
                                    </p:anim>
                                    <p:anim calcmode="lin" valueType="num">
                                      <p:cBhvr>
                                        <p:cTn id="18" dur="1000" fill="hold"/>
                                        <p:tgtEl>
                                          <p:spTgt spid="10"/>
                                        </p:tgtEl>
                                        <p:attrNameLst>
                                          <p:attrName>ppt_y</p:attrName>
                                        </p:attrNameLst>
                                      </p:cBhvr>
                                      <p:tavLst>
                                        <p:tav tm="0">
                                          <p:val>
                                            <p:strVal val="#ppt_y+.1"/>
                                          </p:val>
                                        </p:tav>
                                        <p:tav tm="100000">
                                          <p:val>
                                            <p:strVal val="#ppt_y"/>
                                          </p:val>
                                        </p:tav>
                                      </p:tavLst>
                                    </p:anim>
                                  </p:childTnLst>
                                </p:cTn>
                              </p:par>
                              <p:par>
                                <p:cTn id="19" presetID="42" presetClass="entr" presetSubtype="0" fill="hold" grpId="0" nodeType="withEffect">
                                  <p:stCondLst>
                                    <p:cond delay="0"/>
                                  </p:stCondLst>
                                  <p:childTnLst>
                                    <p:set>
                                      <p:cBhvr>
                                        <p:cTn id="20" dur="1" fill="hold">
                                          <p:stCondLst>
                                            <p:cond delay="0"/>
                                          </p:stCondLst>
                                        </p:cTn>
                                        <p:tgtEl>
                                          <p:spTgt spid="27"/>
                                        </p:tgtEl>
                                        <p:attrNameLst>
                                          <p:attrName>style.visibility</p:attrName>
                                        </p:attrNameLst>
                                      </p:cBhvr>
                                      <p:to>
                                        <p:strVal val="visible"/>
                                      </p:to>
                                    </p:set>
                                    <p:animEffect transition="in" filter="fade">
                                      <p:cBhvr>
                                        <p:cTn id="21" dur="1000"/>
                                        <p:tgtEl>
                                          <p:spTgt spid="27"/>
                                        </p:tgtEl>
                                      </p:cBhvr>
                                    </p:animEffect>
                                    <p:anim calcmode="lin" valueType="num">
                                      <p:cBhvr>
                                        <p:cTn id="22" dur="1000" fill="hold"/>
                                        <p:tgtEl>
                                          <p:spTgt spid="27"/>
                                        </p:tgtEl>
                                        <p:attrNameLst>
                                          <p:attrName>ppt_x</p:attrName>
                                        </p:attrNameLst>
                                      </p:cBhvr>
                                      <p:tavLst>
                                        <p:tav tm="0">
                                          <p:val>
                                            <p:strVal val="#ppt_x"/>
                                          </p:val>
                                        </p:tav>
                                        <p:tav tm="100000">
                                          <p:val>
                                            <p:strVal val="#ppt_x"/>
                                          </p:val>
                                        </p:tav>
                                      </p:tavLst>
                                    </p:anim>
                                    <p:anim calcmode="lin" valueType="num">
                                      <p:cBhvr>
                                        <p:cTn id="23" dur="1000" fill="hold"/>
                                        <p:tgtEl>
                                          <p:spTgt spid="27"/>
                                        </p:tgtEl>
                                        <p:attrNameLst>
                                          <p:attrName>ppt_y</p:attrName>
                                        </p:attrNameLst>
                                      </p:cBhvr>
                                      <p:tavLst>
                                        <p:tav tm="0">
                                          <p:val>
                                            <p:strVal val="#ppt_y+.1"/>
                                          </p:val>
                                        </p:tav>
                                        <p:tav tm="100000">
                                          <p:val>
                                            <p:strVal val="#ppt_y"/>
                                          </p:val>
                                        </p:tav>
                                      </p:tavLst>
                                    </p:anim>
                                  </p:childTnLst>
                                </p:cTn>
                              </p:par>
                              <p:par>
                                <p:cTn id="24" presetID="2" presetClass="entr" presetSubtype="2" fill="hold" grpId="0" nodeType="withEffect">
                                  <p:stCondLst>
                                    <p:cond delay="0"/>
                                  </p:stCondLst>
                                  <p:childTnLst>
                                    <p:set>
                                      <p:cBhvr>
                                        <p:cTn id="25" dur="1" fill="hold">
                                          <p:stCondLst>
                                            <p:cond delay="0"/>
                                          </p:stCondLst>
                                        </p:cTn>
                                        <p:tgtEl>
                                          <p:spTgt spid="17"/>
                                        </p:tgtEl>
                                        <p:attrNameLst>
                                          <p:attrName>style.visibility</p:attrName>
                                        </p:attrNameLst>
                                      </p:cBhvr>
                                      <p:to>
                                        <p:strVal val="visible"/>
                                      </p:to>
                                    </p:set>
                                    <p:anim calcmode="lin" valueType="num">
                                      <p:cBhvr additive="base">
                                        <p:cTn id="26" dur="500" fill="hold"/>
                                        <p:tgtEl>
                                          <p:spTgt spid="17"/>
                                        </p:tgtEl>
                                        <p:attrNameLst>
                                          <p:attrName>ppt_x</p:attrName>
                                        </p:attrNameLst>
                                      </p:cBhvr>
                                      <p:tavLst>
                                        <p:tav tm="0">
                                          <p:val>
                                            <p:strVal val="1+#ppt_w/2"/>
                                          </p:val>
                                        </p:tav>
                                        <p:tav tm="100000">
                                          <p:val>
                                            <p:strVal val="#ppt_x"/>
                                          </p:val>
                                        </p:tav>
                                      </p:tavLst>
                                    </p:anim>
                                    <p:anim calcmode="lin" valueType="num">
                                      <p:cBhvr additive="base">
                                        <p:cTn id="27" dur="500" fill="hold"/>
                                        <p:tgtEl>
                                          <p:spTgt spid="1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7" grpId="0"/>
      <p:bldP spid="2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47831" y="242047"/>
            <a:ext cx="1464428" cy="600634"/>
            <a:chOff x="1115735" y="587229"/>
            <a:chExt cx="10176791" cy="6547926"/>
          </a:xfrm>
        </p:grpSpPr>
        <p:sp>
          <p:nvSpPr>
            <p:cNvPr id="3" name="矩形 2"/>
            <p:cNvSpPr/>
            <p:nvPr/>
          </p:nvSpPr>
          <p:spPr>
            <a:xfrm>
              <a:off x="1115735" y="587229"/>
              <a:ext cx="9571839" cy="5410900"/>
            </a:xfrm>
            <a:prstGeom prst="rect">
              <a:avLst/>
            </a:prstGeom>
            <a:pattFill prst="wdDnDiag">
              <a:fgClr>
                <a:srgbClr val="203864"/>
              </a:fgClr>
              <a:bgClr>
                <a:schemeClr val="bg1"/>
              </a:bgClr>
            </a:patt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1720688" y="1724252"/>
              <a:ext cx="9571838" cy="5410903"/>
            </a:xfrm>
            <a:prstGeom prst="rect">
              <a:avLst/>
            </a:prstGeom>
            <a:solidFill>
              <a:schemeClr val="bg1"/>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5" name="文本框 4"/>
          <p:cNvSpPr txBox="1"/>
          <p:nvPr/>
        </p:nvSpPr>
        <p:spPr>
          <a:xfrm>
            <a:off x="376518" y="409847"/>
            <a:ext cx="1335741" cy="368300"/>
          </a:xfrm>
          <a:prstGeom prst="rect">
            <a:avLst/>
          </a:prstGeom>
          <a:noFill/>
        </p:spPr>
        <p:txBody>
          <a:bodyPr wrap="square" rtlCol="0">
            <a:spAutoFit/>
          </a:bodyPr>
          <a:lstStyle/>
          <a:p>
            <a:pPr algn="ctr"/>
            <a:r>
              <a:rPr lang="zh-CN" altLang="en-US" dirty="0">
                <a:latin typeface="思源黑体 CN Bold" panose="020B0800000000000000" pitchFamily="34" charset="-122"/>
                <a:ea typeface="思源黑体 CN Bold" panose="020B0800000000000000" pitchFamily="34" charset="-122"/>
              </a:rPr>
              <a:t>双方概况</a:t>
            </a:r>
            <a:endParaRPr lang="zh-CN" altLang="en-US" dirty="0">
              <a:latin typeface="思源黑体 CN Bold" panose="020B0800000000000000" pitchFamily="34" charset="-122"/>
              <a:ea typeface="思源黑体 CN Bold" panose="020B0800000000000000" pitchFamily="34" charset="-122"/>
            </a:endParaRPr>
          </a:p>
        </p:txBody>
      </p:sp>
      <p:sp>
        <p:nvSpPr>
          <p:cNvPr id="9" name="文本框 8"/>
          <p:cNvSpPr txBox="1"/>
          <p:nvPr/>
        </p:nvSpPr>
        <p:spPr>
          <a:xfrm>
            <a:off x="4456430" y="1622425"/>
            <a:ext cx="6589395" cy="1890395"/>
          </a:xfrm>
          <a:prstGeom prst="rect">
            <a:avLst/>
          </a:prstGeom>
          <a:noFill/>
        </p:spPr>
        <p:txBody>
          <a:bodyPr wrap="square" rtlCol="0">
            <a:noAutofit/>
          </a:bodyPr>
          <a:lstStyle/>
          <a:p>
            <a:pPr lvl="0" algn="just">
              <a:lnSpc>
                <a:spcPct val="150000"/>
              </a:lnSpc>
            </a:pPr>
            <a:endParaRPr lang="en-US" altLang="zh-CN" dirty="0">
              <a:solidFill>
                <a:prstClr val="black"/>
              </a:solidFill>
              <a:latin typeface="思源黑体 CN Regular" panose="020B0500000000000000" pitchFamily="34" charset="-122"/>
              <a:ea typeface="思源黑体 CN Regular" panose="020B0500000000000000" pitchFamily="34" charset="-122"/>
              <a:cs typeface="Poppins Light" charset="0"/>
            </a:endParaRPr>
          </a:p>
        </p:txBody>
      </p:sp>
      <p:sp>
        <p:nvSpPr>
          <p:cNvPr id="10" name="文本框 9"/>
          <p:cNvSpPr txBox="1"/>
          <p:nvPr/>
        </p:nvSpPr>
        <p:spPr>
          <a:xfrm>
            <a:off x="376609" y="1142334"/>
            <a:ext cx="5063281" cy="5835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456387"/>
                </a:solidFill>
                <a:effectLst/>
                <a:uLnTx/>
                <a:uFillTx/>
                <a:latin typeface="思源黑体 CN Heavy" panose="020B0A00000000000000" pitchFamily="34" charset="-122"/>
                <a:ea typeface="思源黑体 CN Heavy" panose="020B0A00000000000000" pitchFamily="34" charset="-122"/>
                <a:cs typeface="+mn-cs"/>
              </a:rPr>
              <a:t>安井食品并购</a:t>
            </a:r>
            <a:r>
              <a:rPr kumimoji="0" lang="zh-CN" altLang="en-US" sz="3200" b="0" i="0" u="none" strike="noStrike" kern="1200" cap="none" spc="0" normalizeH="0" baseline="0" noProof="0" dirty="0">
                <a:ln>
                  <a:noFill/>
                </a:ln>
                <a:solidFill>
                  <a:srgbClr val="456387"/>
                </a:solidFill>
                <a:effectLst/>
                <a:uLnTx/>
                <a:uFillTx/>
                <a:latin typeface="思源黑体 CN Heavy" panose="020B0A00000000000000" pitchFamily="34" charset="-122"/>
                <a:ea typeface="思源黑体 CN Heavy" panose="020B0A00000000000000" pitchFamily="34" charset="-122"/>
                <a:cs typeface="+mn-cs"/>
              </a:rPr>
              <a:t>新宏业</a:t>
            </a:r>
            <a:endParaRPr kumimoji="0" lang="zh-CN" altLang="en-US" sz="3200" b="0" i="0" u="none" strike="noStrike" kern="1200" cap="none" spc="0" normalizeH="0" baseline="0" noProof="0" dirty="0">
              <a:ln>
                <a:noFill/>
              </a:ln>
              <a:solidFill>
                <a:srgbClr val="456387"/>
              </a:solidFill>
              <a:effectLst/>
              <a:uLnTx/>
              <a:uFillTx/>
              <a:latin typeface="思源黑体 CN Heavy" panose="020B0A00000000000000" pitchFamily="34" charset="-122"/>
              <a:ea typeface="思源黑体 CN Heavy" panose="020B0A00000000000000" pitchFamily="34" charset="-122"/>
              <a:cs typeface="+mn-cs"/>
            </a:endParaRPr>
          </a:p>
        </p:txBody>
      </p:sp>
      <p:sp>
        <p:nvSpPr>
          <p:cNvPr id="17" name="文本框 16"/>
          <p:cNvSpPr txBox="1"/>
          <p:nvPr/>
        </p:nvSpPr>
        <p:spPr>
          <a:xfrm>
            <a:off x="10382885" y="4605655"/>
            <a:ext cx="1336040" cy="252730"/>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prstClr val="black"/>
              </a:solidFill>
              <a:effectLst/>
              <a:uLnTx/>
              <a:uFillTx/>
              <a:latin typeface="思源黑体 CN Normal" panose="020B0400000000000000" pitchFamily="34" charset="-122"/>
              <a:ea typeface="思源黑体 CN Normal" panose="020B0400000000000000" pitchFamily="34" charset="-122"/>
              <a:cs typeface="+mn-cs"/>
            </a:endParaRPr>
          </a:p>
        </p:txBody>
      </p:sp>
      <p:sp>
        <p:nvSpPr>
          <p:cNvPr id="27" name="文本框 26"/>
          <p:cNvSpPr txBox="1"/>
          <p:nvPr/>
        </p:nvSpPr>
        <p:spPr>
          <a:xfrm>
            <a:off x="4463415" y="4381500"/>
            <a:ext cx="6590030" cy="1949450"/>
          </a:xfrm>
          <a:prstGeom prst="rect">
            <a:avLst/>
          </a:prstGeom>
          <a:noFill/>
        </p:spPr>
        <p:txBody>
          <a:bodyPr wrap="square" rtlCol="0">
            <a:noAutofit/>
          </a:bodyPr>
          <a:lstStyle/>
          <a:p>
            <a:pPr lvl="0" algn="just">
              <a:lnSpc>
                <a:spcPct val="150000"/>
              </a:lnSpc>
            </a:pPr>
            <a:endParaRPr lang="zh-CN" altLang="en-US" dirty="0">
              <a:solidFill>
                <a:prstClr val="black"/>
              </a:solidFill>
              <a:latin typeface="思源黑体 CN Regular" panose="020B0500000000000000" pitchFamily="34" charset="-122"/>
              <a:ea typeface="思源黑体 CN Regular" panose="020B0500000000000000" pitchFamily="34" charset="-122"/>
              <a:cs typeface="Poppins Light" charset="0"/>
            </a:endParaRPr>
          </a:p>
        </p:txBody>
      </p:sp>
      <p:sp>
        <p:nvSpPr>
          <p:cNvPr id="12" name="文本框 11"/>
          <p:cNvSpPr txBox="1"/>
          <p:nvPr/>
        </p:nvSpPr>
        <p:spPr>
          <a:xfrm>
            <a:off x="911225" y="2025650"/>
            <a:ext cx="10456545" cy="3261360"/>
          </a:xfrm>
          <a:prstGeom prst="rect">
            <a:avLst/>
          </a:prstGeom>
          <a:noFill/>
        </p:spPr>
        <p:txBody>
          <a:bodyPr wrap="square" rtlCol="0">
            <a:noAutofit/>
          </a:bodyPr>
          <a:p>
            <a:r>
              <a:rPr lang="zh-CN" altLang="en-US" sz="2400" b="1">
                <a:solidFill>
                  <a:schemeClr val="accent1"/>
                </a:solidFill>
                <a:effectLst>
                  <a:outerShdw blurRad="38100" dist="25400" dir="5400000" algn="ctr" rotWithShape="0">
                    <a:srgbClr val="6E747A">
                      <a:alpha val="43000"/>
                      <a:alpha val="43000"/>
                    </a:srgbClr>
                  </a:outerShdw>
                </a:effectLst>
              </a:rPr>
              <a:t>一</a:t>
            </a:r>
            <a:r>
              <a:rPr lang="en-US" altLang="zh-CN" sz="2400" b="1">
                <a:solidFill>
                  <a:schemeClr val="accent1"/>
                </a:solidFill>
                <a:effectLst>
                  <a:outerShdw blurRad="38100" dist="25400" dir="5400000" algn="ctr" rotWithShape="0">
                    <a:srgbClr val="6E747A">
                      <a:alpha val="43000"/>
                      <a:alpha val="43000"/>
                    </a:srgbClr>
                  </a:outerShdw>
                </a:effectLst>
              </a:rPr>
              <a:t>、2018-2020</a:t>
            </a:r>
            <a:r>
              <a:rPr lang="zh-CN" altLang="en-US" sz="2400" b="1">
                <a:solidFill>
                  <a:schemeClr val="accent1"/>
                </a:solidFill>
                <a:effectLst>
                  <a:outerShdw blurRad="38100" dist="25400" dir="5400000" algn="ctr" rotWithShape="0">
                    <a:srgbClr val="6E747A">
                      <a:alpha val="43000"/>
                      <a:alpha val="43000"/>
                    </a:srgbClr>
                  </a:outerShdw>
                </a:effectLst>
              </a:rPr>
              <a:t>年</a:t>
            </a:r>
            <a:r>
              <a:rPr lang="en-US" altLang="zh-CN" sz="2400" b="1">
                <a:solidFill>
                  <a:schemeClr val="accent1"/>
                </a:solidFill>
                <a:effectLst>
                  <a:outerShdw blurRad="38100" dist="25400" dir="5400000" algn="ctr" rotWithShape="0">
                    <a:srgbClr val="6E747A">
                      <a:alpha val="43000"/>
                      <a:alpha val="43000"/>
                    </a:srgbClr>
                  </a:outerShdw>
                </a:effectLst>
              </a:rPr>
              <a:t>（</a:t>
            </a:r>
            <a:r>
              <a:rPr lang="zh-CN" altLang="en-US" sz="2400" b="1">
                <a:solidFill>
                  <a:schemeClr val="accent1"/>
                </a:solidFill>
                <a:effectLst>
                  <a:outerShdw blurRad="38100" dist="25400" dir="5400000" algn="ctr" rotWithShape="0">
                    <a:srgbClr val="6E747A">
                      <a:alpha val="43000"/>
                      <a:alpha val="43000"/>
                    </a:srgbClr>
                  </a:outerShdw>
                </a:effectLst>
              </a:rPr>
              <a:t>初次试水</a:t>
            </a:r>
            <a:r>
              <a:rPr lang="en-US" altLang="zh-CN" sz="2400" b="1">
                <a:solidFill>
                  <a:schemeClr val="accent1"/>
                </a:solidFill>
                <a:effectLst>
                  <a:outerShdw blurRad="38100" dist="25400" dir="5400000" algn="ctr" rotWithShape="0">
                    <a:srgbClr val="6E747A">
                      <a:alpha val="43000"/>
                      <a:alpha val="43000"/>
                    </a:srgbClr>
                  </a:outerShdw>
                </a:effectLst>
              </a:rPr>
              <a:t>）</a:t>
            </a:r>
            <a:endParaRPr lang="en-US" altLang="zh-CN" sz="2400" b="1">
              <a:solidFill>
                <a:schemeClr val="accent1"/>
              </a:solidFill>
              <a:effectLst>
                <a:outerShdw blurRad="38100" dist="25400" dir="5400000" algn="ctr" rotWithShape="0">
                  <a:srgbClr val="6E747A">
                    <a:alpha val="43000"/>
                    <a:alpha val="43000"/>
                  </a:srgbClr>
                </a:outerShdw>
              </a:effectLst>
            </a:endParaRPr>
          </a:p>
          <a:p>
            <a:pPr>
              <a:lnSpc>
                <a:spcPct val="130000"/>
              </a:lnSpc>
            </a:pPr>
            <a:r>
              <a:rPr lang="en-US" altLang="zh-CN"/>
              <a:t>  </a:t>
            </a:r>
            <a:r>
              <a:rPr lang="zh-CN" altLang="en-US"/>
              <a:t>新宏业作为安井长期合作的第一大鱼糜供应商（</a:t>
            </a:r>
            <a:r>
              <a:rPr lang="en-US" altLang="zh-CN"/>
              <a:t>2020 </a:t>
            </a:r>
            <a:r>
              <a:rPr lang="zh-CN" altLang="en-US"/>
              <a:t>年采购额占比约</a:t>
            </a:r>
            <a:r>
              <a:rPr lang="en-US" altLang="zh-CN"/>
              <a:t> 5%</a:t>
            </a:r>
            <a:r>
              <a:rPr lang="zh-CN" altLang="en-US"/>
              <a:t>），其淡水鱼糜产能占全国</a:t>
            </a:r>
            <a:r>
              <a:rPr lang="en-US" altLang="zh-CN"/>
              <a:t> 20%</a:t>
            </a:r>
            <a:r>
              <a:rPr lang="zh-CN" altLang="en-US"/>
              <a:t>。</a:t>
            </a:r>
            <a:r>
              <a:rPr lang="en-US" altLang="zh-CN"/>
              <a:t>2018 </a:t>
            </a:r>
            <a:r>
              <a:rPr lang="zh-CN" altLang="en-US"/>
              <a:t>年</a:t>
            </a:r>
            <a:r>
              <a:rPr lang="en-US" altLang="zh-CN"/>
              <a:t> 1 </a:t>
            </a:r>
            <a:r>
              <a:rPr lang="zh-CN" altLang="en-US"/>
              <a:t>月，安井以</a:t>
            </a:r>
            <a:r>
              <a:rPr lang="en-US" altLang="zh-CN"/>
              <a:t> 7980 </a:t>
            </a:r>
            <a:r>
              <a:rPr lang="zh-CN" altLang="en-US"/>
              <a:t>万元收购新宏业</a:t>
            </a:r>
            <a:r>
              <a:rPr lang="en-US" altLang="zh-CN"/>
              <a:t> 19% </a:t>
            </a:r>
            <a:r>
              <a:rPr lang="zh-CN" altLang="en-US"/>
              <a:t>股权</a:t>
            </a:r>
            <a:r>
              <a:rPr lang="en-US" altLang="zh-CN"/>
              <a:t>。</a:t>
            </a:r>
            <a:r>
              <a:rPr lang="zh-CN" altLang="en-US"/>
              <a:t>此次交易的核心目的是锁定原料供应稳定性，同时观察新宏业在小龙虾加工领域的发展潜力。参股期间，安井与新宏业在供应链端展开初步合作</a:t>
            </a:r>
            <a:r>
              <a:rPr lang="en-US" altLang="zh-CN"/>
              <a:t>。</a:t>
            </a:r>
            <a:endParaRPr lang="zh-CN" altLang="en-US"/>
          </a:p>
          <a:p>
            <a:r>
              <a:rPr lang="zh-CN" altLang="en-US" sz="2400" b="1">
                <a:solidFill>
                  <a:schemeClr val="accent1"/>
                </a:solidFill>
                <a:effectLst>
                  <a:outerShdw blurRad="38100" dist="25400" dir="5400000" algn="ctr" rotWithShape="0">
                    <a:srgbClr val="6E747A">
                      <a:alpha val="43000"/>
                      <a:alpha val="43000"/>
                    </a:srgbClr>
                  </a:outerShdw>
                </a:effectLst>
              </a:rPr>
              <a:t>二</a:t>
            </a:r>
            <a:r>
              <a:rPr lang="en-US" altLang="zh-CN" sz="2400" b="1">
                <a:solidFill>
                  <a:schemeClr val="accent1"/>
                </a:solidFill>
                <a:effectLst>
                  <a:outerShdw blurRad="38100" dist="25400" dir="5400000" algn="ctr" rotWithShape="0">
                    <a:srgbClr val="6E747A">
                      <a:alpha val="43000"/>
                      <a:alpha val="43000"/>
                    </a:srgbClr>
                  </a:outerShdw>
                </a:effectLst>
              </a:rPr>
              <a:t>、2021</a:t>
            </a:r>
            <a:r>
              <a:rPr lang="zh-CN" altLang="en-US" sz="2400" b="1">
                <a:solidFill>
                  <a:schemeClr val="accent1"/>
                </a:solidFill>
                <a:effectLst>
                  <a:outerShdw blurRad="38100" dist="25400" dir="5400000" algn="ctr" rotWithShape="0">
                    <a:srgbClr val="6E747A">
                      <a:alpha val="43000"/>
                      <a:alpha val="43000"/>
                    </a:srgbClr>
                  </a:outerShdw>
                </a:effectLst>
              </a:rPr>
              <a:t>（实现绝对控股）</a:t>
            </a:r>
            <a:endParaRPr lang="zh-CN" altLang="en-US" sz="2400" b="1">
              <a:solidFill>
                <a:schemeClr val="accent1"/>
              </a:solidFill>
              <a:effectLst>
                <a:outerShdw blurRad="38100" dist="25400" dir="5400000" algn="ctr" rotWithShape="0">
                  <a:srgbClr val="6E747A">
                    <a:alpha val="43000"/>
                    <a:alpha val="43000"/>
                  </a:srgbClr>
                </a:outerShdw>
              </a:effectLst>
            </a:endParaRPr>
          </a:p>
          <a:p>
            <a:pPr>
              <a:lnSpc>
                <a:spcPct val="120000"/>
              </a:lnSpc>
            </a:pPr>
            <a:r>
              <a:rPr lang="en-US" altLang="zh-CN"/>
              <a:t>  2021 </a:t>
            </a:r>
            <a:r>
              <a:rPr lang="zh-CN" altLang="en-US"/>
              <a:t>年</a:t>
            </a:r>
            <a:r>
              <a:rPr lang="en-US" altLang="zh-CN"/>
              <a:t> 6 </a:t>
            </a:r>
            <a:r>
              <a:rPr lang="zh-CN" altLang="en-US"/>
              <a:t>月，安井以</a:t>
            </a:r>
            <a:r>
              <a:rPr lang="en-US" altLang="zh-CN"/>
              <a:t> 7.17 </a:t>
            </a:r>
            <a:r>
              <a:rPr lang="zh-CN" altLang="en-US"/>
              <a:t>亿元收购新宏业剩余</a:t>
            </a:r>
            <a:r>
              <a:rPr lang="en-US" altLang="zh-CN"/>
              <a:t> 71% </a:t>
            </a:r>
            <a:r>
              <a:rPr lang="zh-CN" altLang="en-US"/>
              <a:t>股权，总持股比例达</a:t>
            </a:r>
            <a:r>
              <a:rPr lang="en-US" altLang="zh-CN"/>
              <a:t> 90%</a:t>
            </a:r>
            <a:r>
              <a:rPr lang="zh-CN" altLang="en-US"/>
              <a:t>。</a:t>
            </a:r>
            <a:r>
              <a:rPr lang="en-US" altLang="zh-CN"/>
              <a:t>2021 </a:t>
            </a:r>
            <a:r>
              <a:rPr lang="zh-CN" altLang="en-US"/>
              <a:t>年小龙虾预制菜市场规模突破</a:t>
            </a:r>
            <a:r>
              <a:rPr lang="en-US" altLang="zh-CN"/>
              <a:t> 200 </a:t>
            </a:r>
            <a:r>
              <a:rPr lang="zh-CN" altLang="en-US"/>
              <a:t>亿元，年增速超</a:t>
            </a:r>
            <a:r>
              <a:rPr lang="en-US" altLang="zh-CN"/>
              <a:t> 30%</a:t>
            </a:r>
            <a:r>
              <a:rPr lang="zh-CN" altLang="en-US"/>
              <a:t>，安井需快速切入这一赛道。为完成收购，安井采取股权质押</a:t>
            </a:r>
            <a:r>
              <a:rPr lang="en-US" altLang="zh-CN"/>
              <a:t> + </a:t>
            </a:r>
            <a:r>
              <a:rPr lang="zh-CN" altLang="en-US"/>
              <a:t>并购贷款组合融资</a:t>
            </a:r>
            <a:r>
              <a:rPr lang="en-US" altLang="zh-CN"/>
              <a:t>。</a:t>
            </a:r>
            <a:endParaRPr lang="en-US" altLang="zh-CN"/>
          </a:p>
        </p:txBody>
      </p:sp>
      <p:sp>
        <p:nvSpPr>
          <p:cNvPr id="13" name="文本框 12"/>
          <p:cNvSpPr txBox="1"/>
          <p:nvPr/>
        </p:nvSpPr>
        <p:spPr>
          <a:xfrm>
            <a:off x="377190" y="5287645"/>
            <a:ext cx="10991215" cy="954405"/>
          </a:xfrm>
          <a:prstGeom prst="rect">
            <a:avLst/>
          </a:prstGeom>
          <a:noFill/>
        </p:spPr>
        <p:txBody>
          <a:bodyPr wrap="square" rtlCol="0">
            <a:noAutofit/>
          </a:bodyPr>
          <a:p>
            <a:r>
              <a:rPr lang="zh-CN" altLang="en-US" b="1">
                <a:solidFill>
                  <a:schemeClr val="tx2">
                    <a:lumMod val="60000"/>
                    <a:lumOff val="40000"/>
                  </a:schemeClr>
                </a:solidFill>
              </a:rPr>
              <a:t>通过分步控股、深度整合和产能释放，安井不仅巩固了速冻食品龙头地位，更在预制菜赛道建立了先发优势。未来，随着新宏业产能释放和全球化布局深化，这一并购案例有望成为食品行业上下游整合的经典范式。</a:t>
            </a:r>
            <a:endParaRPr lang="zh-CN" altLang="en-US" b="1">
              <a:solidFill>
                <a:schemeClr val="tx2">
                  <a:lumMod val="60000"/>
                  <a:lumOff val="40000"/>
                </a:schemeClr>
              </a:solidFill>
            </a:endParaRPr>
          </a:p>
        </p:txBody>
      </p:sp>
    </p:spTree>
  </p:cSld>
  <p:clrMapOvr>
    <a:masterClrMapping/>
  </p:clrMapOvr>
  <p:transition spd="med" advTm="300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1000"/>
                                        <p:tgtEl>
                                          <p:spTgt spid="10"/>
                                        </p:tgtEl>
                                      </p:cBhvr>
                                    </p:animEffect>
                                    <p:anim calcmode="lin" valueType="num">
                                      <p:cBhvr>
                                        <p:cTn id="13" dur="1000" fill="hold"/>
                                        <p:tgtEl>
                                          <p:spTgt spid="10"/>
                                        </p:tgtEl>
                                        <p:attrNameLst>
                                          <p:attrName>ppt_x</p:attrName>
                                        </p:attrNameLst>
                                      </p:cBhvr>
                                      <p:tavLst>
                                        <p:tav tm="0">
                                          <p:val>
                                            <p:strVal val="#ppt_x"/>
                                          </p:val>
                                        </p:tav>
                                        <p:tav tm="100000">
                                          <p:val>
                                            <p:strVal val="#ppt_x"/>
                                          </p:val>
                                        </p:tav>
                                      </p:tavLst>
                                    </p:anim>
                                    <p:anim calcmode="lin" valueType="num">
                                      <p:cBhvr>
                                        <p:cTn id="14" dur="1000" fill="hold"/>
                                        <p:tgtEl>
                                          <p:spTgt spid="10"/>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1000"/>
                                        <p:tgtEl>
                                          <p:spTgt spid="27"/>
                                        </p:tgtEl>
                                      </p:cBhvr>
                                    </p:animEffect>
                                    <p:anim calcmode="lin" valueType="num">
                                      <p:cBhvr>
                                        <p:cTn id="18" dur="1000" fill="hold"/>
                                        <p:tgtEl>
                                          <p:spTgt spid="27"/>
                                        </p:tgtEl>
                                        <p:attrNameLst>
                                          <p:attrName>ppt_x</p:attrName>
                                        </p:attrNameLst>
                                      </p:cBhvr>
                                      <p:tavLst>
                                        <p:tav tm="0">
                                          <p:val>
                                            <p:strVal val="#ppt_x"/>
                                          </p:val>
                                        </p:tav>
                                        <p:tav tm="100000">
                                          <p:val>
                                            <p:strVal val="#ppt_x"/>
                                          </p:val>
                                        </p:tav>
                                      </p:tavLst>
                                    </p:anim>
                                    <p:anim calcmode="lin" valueType="num">
                                      <p:cBhvr>
                                        <p:cTn id="19" dur="1000" fill="hold"/>
                                        <p:tgtEl>
                                          <p:spTgt spid="27"/>
                                        </p:tgtEl>
                                        <p:attrNameLst>
                                          <p:attrName>ppt_y</p:attrName>
                                        </p:attrNameLst>
                                      </p:cBhvr>
                                      <p:tavLst>
                                        <p:tav tm="0">
                                          <p:val>
                                            <p:strVal val="#ppt_y+.1"/>
                                          </p:val>
                                        </p:tav>
                                        <p:tav tm="100000">
                                          <p:val>
                                            <p:strVal val="#ppt_y"/>
                                          </p:val>
                                        </p:tav>
                                      </p:tavLst>
                                    </p:anim>
                                  </p:childTnLst>
                                </p:cTn>
                              </p:par>
                              <p:par>
                                <p:cTn id="20" presetID="2" presetClass="entr" presetSubtype="2" fill="hold" grpId="0" nodeType="withEffect">
                                  <p:stCondLst>
                                    <p:cond delay="0"/>
                                  </p:stCondLst>
                                  <p:childTnLst>
                                    <p:set>
                                      <p:cBhvr>
                                        <p:cTn id="21" dur="1" fill="hold">
                                          <p:stCondLst>
                                            <p:cond delay="0"/>
                                          </p:stCondLst>
                                        </p:cTn>
                                        <p:tgtEl>
                                          <p:spTgt spid="17"/>
                                        </p:tgtEl>
                                        <p:attrNameLst>
                                          <p:attrName>style.visibility</p:attrName>
                                        </p:attrNameLst>
                                      </p:cBhvr>
                                      <p:to>
                                        <p:strVal val="visible"/>
                                      </p:to>
                                    </p:set>
                                    <p:anim calcmode="lin" valueType="num">
                                      <p:cBhvr additive="base">
                                        <p:cTn id="22" dur="500" fill="hold"/>
                                        <p:tgtEl>
                                          <p:spTgt spid="17"/>
                                        </p:tgtEl>
                                        <p:attrNameLst>
                                          <p:attrName>ppt_x</p:attrName>
                                        </p:attrNameLst>
                                      </p:cBhvr>
                                      <p:tavLst>
                                        <p:tav tm="0">
                                          <p:val>
                                            <p:strVal val="1+#ppt_w/2"/>
                                          </p:val>
                                        </p:tav>
                                        <p:tav tm="100000">
                                          <p:val>
                                            <p:strVal val="#ppt_x"/>
                                          </p:val>
                                        </p:tav>
                                      </p:tavLst>
                                    </p:anim>
                                    <p:anim calcmode="lin" valueType="num">
                                      <p:cBhvr additive="base">
                                        <p:cTn id="23" dur="500" fill="hold"/>
                                        <p:tgtEl>
                                          <p:spTgt spid="1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7" grpId="0"/>
      <p:bldP spid="2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171196" y="2097742"/>
            <a:ext cx="9849608" cy="2432970"/>
            <a:chOff x="1115735" y="587229"/>
            <a:chExt cx="9925879" cy="6091095"/>
          </a:xfrm>
        </p:grpSpPr>
        <p:sp>
          <p:nvSpPr>
            <p:cNvPr id="3" name="矩形 2"/>
            <p:cNvSpPr/>
            <p:nvPr/>
          </p:nvSpPr>
          <p:spPr>
            <a:xfrm>
              <a:off x="1115735" y="587229"/>
              <a:ext cx="9571839" cy="5410900"/>
            </a:xfrm>
            <a:prstGeom prst="rect">
              <a:avLst/>
            </a:prstGeom>
            <a:pattFill prst="wdDnDiag">
              <a:fgClr>
                <a:srgbClr val="203864"/>
              </a:fgClr>
              <a:bgClr>
                <a:schemeClr val="bg1"/>
              </a:bgClr>
            </a:patt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1469775" y="1267424"/>
              <a:ext cx="9571839" cy="5410900"/>
            </a:xfrm>
            <a:prstGeom prst="rect">
              <a:avLst/>
            </a:prstGeom>
            <a:solidFill>
              <a:schemeClr val="bg1"/>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5" name="文本框 4"/>
          <p:cNvSpPr txBox="1"/>
          <p:nvPr/>
        </p:nvSpPr>
        <p:spPr>
          <a:xfrm>
            <a:off x="3295015" y="3034665"/>
            <a:ext cx="6669405" cy="829945"/>
          </a:xfrm>
          <a:prstGeom prst="rect">
            <a:avLst/>
          </a:prstGeom>
          <a:noFill/>
        </p:spPr>
        <p:txBody>
          <a:bodyPr wrap="square" rtlCol="0">
            <a:spAutoFit/>
          </a:bodyPr>
          <a:lstStyle/>
          <a:p>
            <a:pPr algn="ctr"/>
            <a:r>
              <a:rPr lang="zh-CN" altLang="en-US" sz="4800" dirty="0">
                <a:latin typeface="思源宋体 Heavy" panose="02020900000000000000" pitchFamily="18" charset="-122"/>
                <a:ea typeface="思源宋体 Heavy" panose="02020900000000000000" pitchFamily="18" charset="-122"/>
              </a:rPr>
              <a:t>章贰  </a:t>
            </a:r>
            <a:r>
              <a:rPr lang="en-US" altLang="zh-CN" sz="4800" dirty="0">
                <a:latin typeface="思源宋体 Heavy" panose="02020900000000000000" pitchFamily="18" charset="-122"/>
                <a:ea typeface="思源宋体 Heavy" panose="02020900000000000000" pitchFamily="18" charset="-122"/>
              </a:rPr>
              <a:t>– </a:t>
            </a:r>
            <a:r>
              <a:rPr lang="zh-CN" altLang="en-US" sz="4800" dirty="0">
                <a:latin typeface="思源宋体 Heavy" panose="02020900000000000000" pitchFamily="18" charset="-122"/>
                <a:ea typeface="思源宋体 Heavy" panose="02020900000000000000" pitchFamily="18" charset="-122"/>
              </a:rPr>
              <a:t>并购动因</a:t>
            </a:r>
            <a:r>
              <a:rPr lang="zh-CN" altLang="en-US" sz="4800" dirty="0">
                <a:latin typeface="思源宋体 Heavy" panose="02020900000000000000" pitchFamily="18" charset="-122"/>
                <a:ea typeface="思源宋体 Heavy" panose="02020900000000000000" pitchFamily="18" charset="-122"/>
              </a:rPr>
              <a:t>分析</a:t>
            </a:r>
            <a:endParaRPr lang="zh-CN" altLang="en-US" sz="4800" dirty="0">
              <a:latin typeface="思源宋体 Heavy" panose="02020900000000000000" pitchFamily="18" charset="-122"/>
              <a:ea typeface="思源宋体 Heavy" panose="02020900000000000000" pitchFamily="18" charset="-122"/>
            </a:endParaRPr>
          </a:p>
        </p:txBody>
      </p:sp>
    </p:spTree>
  </p:cSld>
  <p:clrMapOvr>
    <a:masterClrMapping/>
  </p:clrMapOvr>
  <p:transition spd="med" advTm="3000">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47831" y="242047"/>
            <a:ext cx="1464428" cy="600634"/>
            <a:chOff x="1115735" y="587229"/>
            <a:chExt cx="10176791" cy="6547926"/>
          </a:xfrm>
        </p:grpSpPr>
        <p:sp>
          <p:nvSpPr>
            <p:cNvPr id="3" name="矩形 2"/>
            <p:cNvSpPr/>
            <p:nvPr/>
          </p:nvSpPr>
          <p:spPr>
            <a:xfrm>
              <a:off x="1115735" y="587229"/>
              <a:ext cx="9571839" cy="5410900"/>
            </a:xfrm>
            <a:prstGeom prst="rect">
              <a:avLst/>
            </a:prstGeom>
            <a:pattFill prst="wdDnDiag">
              <a:fgClr>
                <a:srgbClr val="203864"/>
              </a:fgClr>
              <a:bgClr>
                <a:schemeClr val="bg1"/>
              </a:bgClr>
            </a:patt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1720688" y="1724252"/>
              <a:ext cx="9571838" cy="5410903"/>
            </a:xfrm>
            <a:prstGeom prst="rect">
              <a:avLst/>
            </a:prstGeom>
            <a:solidFill>
              <a:schemeClr val="bg1"/>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5" name="文本框 4"/>
          <p:cNvSpPr txBox="1"/>
          <p:nvPr/>
        </p:nvSpPr>
        <p:spPr>
          <a:xfrm>
            <a:off x="376518" y="409847"/>
            <a:ext cx="1335741" cy="368300"/>
          </a:xfrm>
          <a:prstGeom prst="rect">
            <a:avLst/>
          </a:prstGeom>
          <a:noFill/>
        </p:spPr>
        <p:txBody>
          <a:bodyPr wrap="square" rtlCol="0">
            <a:spAutoFit/>
          </a:bodyPr>
          <a:lstStyle/>
          <a:p>
            <a:pPr algn="ctr"/>
            <a:r>
              <a:rPr lang="zh-CN" altLang="en-US" dirty="0">
                <a:latin typeface="思源黑体 CN Bold" panose="020B0800000000000000" pitchFamily="34" charset="-122"/>
                <a:ea typeface="思源黑体 CN Bold" panose="020B0800000000000000" pitchFamily="34" charset="-122"/>
              </a:rPr>
              <a:t>并购动因</a:t>
            </a:r>
            <a:endParaRPr lang="zh-CN" altLang="en-US" dirty="0">
              <a:latin typeface="思源黑体 CN Bold" panose="020B0800000000000000" pitchFamily="34" charset="-122"/>
              <a:ea typeface="思源黑体 CN Bold" panose="020B0800000000000000" pitchFamily="34" charset="-122"/>
            </a:endParaRPr>
          </a:p>
        </p:txBody>
      </p:sp>
      <p:sp>
        <p:nvSpPr>
          <p:cNvPr id="8" name="矩形 7"/>
          <p:cNvSpPr/>
          <p:nvPr/>
        </p:nvSpPr>
        <p:spPr>
          <a:xfrm>
            <a:off x="5619115" y="1414145"/>
            <a:ext cx="4493260" cy="1492250"/>
          </a:xfrm>
          <a:prstGeom prst="rect">
            <a:avLst/>
          </a:prstGeom>
        </p:spPr>
        <p:txBody>
          <a:bodyPr wrap="square">
            <a:noAutofit/>
          </a:bodyPr>
          <a:lstStyle/>
          <a:p>
            <a:pPr lvl="0" defTabSz="1216660">
              <a:lnSpc>
                <a:spcPct val="120000"/>
              </a:lnSpc>
              <a:spcBef>
                <a:spcPct val="20000"/>
              </a:spcBef>
              <a:defRPr/>
            </a:pPr>
            <a:r>
              <a:rPr lang="en-US" altLang="zh-CN" b="1"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1.</a:t>
            </a:r>
            <a:r>
              <a:rPr lang="zh-CN" altLang="en-US" b="1"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国家相关政策驱动</a:t>
            </a:r>
            <a:endParaRPr lang="en-US" altLang="zh-CN" b="1" dirty="0">
              <a:latin typeface="思源黑体 CN Normal" panose="020B0400000000000000" pitchFamily="34" charset="-122"/>
              <a:ea typeface="思源黑体 CN Normal" panose="020B0400000000000000" pitchFamily="34" charset="-122"/>
              <a:cs typeface="+mn-ea"/>
              <a:sym typeface="Calibri" panose="020F0502020204030204" pitchFamily="34" charset="0"/>
            </a:endParaRPr>
          </a:p>
          <a:p>
            <a:pPr lvl="0" defTabSz="1216660">
              <a:lnSpc>
                <a:spcPct val="120000"/>
              </a:lnSpc>
              <a:spcBef>
                <a:spcPct val="20000"/>
              </a:spcBef>
              <a:defRPr/>
            </a:pPr>
            <a:r>
              <a:rPr lang="en-US" altLang="zh-CN"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  </a:t>
            </a:r>
            <a:r>
              <a:rPr lang="zh-CN" altLang="en-US"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我国预制菜行业目前正处于起步阶段</a:t>
            </a:r>
            <a:r>
              <a:rPr lang="en-US" altLang="zh-CN"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a:t>
            </a:r>
            <a:r>
              <a:rPr lang="zh-CN" altLang="en-US"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国家对于预制菜管控的政策法规也处于完善的过程中</a:t>
            </a:r>
            <a:r>
              <a:rPr lang="en-US" altLang="zh-CN"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，2021</a:t>
            </a:r>
            <a:r>
              <a:rPr lang="zh-CN" altLang="en-US"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年</a:t>
            </a:r>
            <a:r>
              <a:rPr lang="en-US" altLang="zh-CN"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-2024</a:t>
            </a:r>
            <a:r>
              <a:rPr lang="zh-CN" altLang="en-US"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年国家也出台了多项政策为消费者的饮食安全提供强而有力的保障</a:t>
            </a:r>
            <a:r>
              <a:rPr lang="en-US" altLang="zh-CN"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a:t>
            </a:r>
            <a:r>
              <a:rPr lang="zh-CN" altLang="en-US"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促进我国预制菜行业标准化发展</a:t>
            </a:r>
            <a:r>
              <a:rPr lang="en-US" altLang="zh-CN"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a:t>
            </a:r>
            <a:r>
              <a:rPr lang="zh-CN" altLang="en-US"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这要要求企业要在政策环境下促进并购重组活动发展</a:t>
            </a:r>
            <a:r>
              <a:rPr lang="en-US" altLang="zh-CN"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a:t>
            </a:r>
            <a:r>
              <a:rPr lang="zh-CN" altLang="en-US"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实现企业竞争力的提高</a:t>
            </a:r>
            <a:r>
              <a:rPr lang="en-US" altLang="zh-CN"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a:t>
            </a:r>
            <a:endParaRPr lang="en-US" altLang="zh-CN"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endParaRPr>
          </a:p>
        </p:txBody>
      </p:sp>
      <p:sp>
        <p:nvSpPr>
          <p:cNvPr id="9" name="矩形 8"/>
          <p:cNvSpPr/>
          <p:nvPr/>
        </p:nvSpPr>
        <p:spPr>
          <a:xfrm>
            <a:off x="5619115" y="4784090"/>
            <a:ext cx="4493260" cy="906780"/>
          </a:xfrm>
          <a:prstGeom prst="rect">
            <a:avLst/>
          </a:prstGeom>
        </p:spPr>
        <p:txBody>
          <a:bodyPr wrap="square">
            <a:noAutofit/>
          </a:bodyPr>
          <a:lstStyle/>
          <a:p>
            <a:pPr lvl="0" defTabSz="1216660">
              <a:lnSpc>
                <a:spcPct val="120000"/>
              </a:lnSpc>
              <a:spcBef>
                <a:spcPct val="20000"/>
              </a:spcBef>
              <a:defRPr/>
            </a:pPr>
            <a:r>
              <a:rPr lang="zh-CN" altLang="en-US" sz="1800" b="1"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3.冷链运输技术逐渐成熟</a:t>
            </a:r>
            <a:endParaRPr lang="zh-CN" altLang="en-US" sz="1800" b="1" dirty="0">
              <a:latin typeface="思源黑体 CN Normal" panose="020B0400000000000000" pitchFamily="34" charset="-122"/>
              <a:ea typeface="思源黑体 CN Normal" panose="020B0400000000000000" pitchFamily="34" charset="-122"/>
              <a:cs typeface="+mn-ea"/>
              <a:sym typeface="Calibri" panose="020F0502020204030204" pitchFamily="34" charset="0"/>
            </a:endParaRPr>
          </a:p>
          <a:p>
            <a:pPr lvl="0" defTabSz="1216660">
              <a:lnSpc>
                <a:spcPct val="120000"/>
              </a:lnSpc>
              <a:spcBef>
                <a:spcPct val="20000"/>
              </a:spcBef>
              <a:defRPr/>
            </a:pPr>
            <a:r>
              <a:rPr lang="en-US" altLang="zh-CN"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  </a:t>
            </a:r>
            <a:r>
              <a:rPr lang="zh-CN" altLang="en-US"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预制菜行业发展依托冷链运输技术扶持</a:t>
            </a:r>
            <a:r>
              <a:rPr lang="en-US" altLang="zh-CN"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a:t>
            </a:r>
            <a:r>
              <a:rPr lang="zh-CN" altLang="en-US"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运输作为速冻品行业“产</a:t>
            </a:r>
            <a:r>
              <a:rPr lang="en-US" altLang="zh-CN"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a:t>
            </a:r>
            <a:r>
              <a:rPr lang="zh-CN" altLang="en-US"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运</a:t>
            </a:r>
            <a:r>
              <a:rPr lang="en-US" altLang="zh-CN"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a:t>
            </a:r>
            <a:r>
              <a:rPr lang="zh-CN" altLang="en-US"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销”产业链中的关键一环</a:t>
            </a:r>
            <a:r>
              <a:rPr lang="en-US" altLang="zh-CN"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a:t>
            </a:r>
            <a:r>
              <a:rPr lang="zh-CN" altLang="en-US"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拥有良好的冷链运输技术能够大大降低速冻品行业的运营风险</a:t>
            </a:r>
            <a:r>
              <a:rPr lang="en-US" altLang="zh-CN"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a:t>
            </a:r>
            <a:endParaRPr lang="en-US" altLang="zh-CN"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endParaRPr>
          </a:p>
        </p:txBody>
      </p:sp>
      <p:sp>
        <p:nvSpPr>
          <p:cNvPr id="10" name="矩形 9"/>
          <p:cNvSpPr/>
          <p:nvPr/>
        </p:nvSpPr>
        <p:spPr>
          <a:xfrm>
            <a:off x="5619115" y="3143885"/>
            <a:ext cx="4493260" cy="1402715"/>
          </a:xfrm>
          <a:prstGeom prst="rect">
            <a:avLst/>
          </a:prstGeom>
        </p:spPr>
        <p:txBody>
          <a:bodyPr wrap="square">
            <a:noAutofit/>
          </a:bodyPr>
          <a:lstStyle/>
          <a:p>
            <a:pPr lvl="0" defTabSz="1216660">
              <a:lnSpc>
                <a:spcPct val="120000"/>
              </a:lnSpc>
              <a:spcBef>
                <a:spcPct val="20000"/>
              </a:spcBef>
              <a:defRPr/>
            </a:pPr>
            <a:r>
              <a:rPr lang="zh-CN" altLang="en-US" sz="1800" b="1"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2.市场竞争较为激烈</a:t>
            </a:r>
            <a:endParaRPr lang="zh-CN" altLang="en-US" sz="1800" b="1" dirty="0">
              <a:latin typeface="思源黑体 CN Normal" panose="020B0400000000000000" pitchFamily="34" charset="-122"/>
              <a:ea typeface="思源黑体 CN Normal" panose="020B0400000000000000" pitchFamily="34" charset="-122"/>
              <a:cs typeface="+mn-ea"/>
              <a:sym typeface="Calibri" panose="020F0502020204030204" pitchFamily="34" charset="0"/>
            </a:endParaRPr>
          </a:p>
          <a:p>
            <a:pPr lvl="0" defTabSz="1216660">
              <a:lnSpc>
                <a:spcPct val="120000"/>
              </a:lnSpc>
              <a:spcBef>
                <a:spcPct val="20000"/>
              </a:spcBef>
              <a:defRPr/>
            </a:pPr>
            <a:r>
              <a:rPr lang="en-US" altLang="zh-CN"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  </a:t>
            </a:r>
            <a:r>
              <a:rPr lang="zh-CN" altLang="en-US"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随着人民生活水平的稳步提高</a:t>
            </a:r>
            <a:r>
              <a:rPr lang="en-US" altLang="zh-CN"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a:t>
            </a:r>
            <a:r>
              <a:rPr lang="zh-CN" altLang="en-US"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我国居民的消费水平也随着提高</a:t>
            </a:r>
            <a:r>
              <a:rPr lang="en-US" altLang="zh-CN"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a:t>
            </a:r>
            <a:r>
              <a:rPr lang="zh-CN" altLang="en-US"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我国速冻食品行业也随之发展</a:t>
            </a:r>
            <a:r>
              <a:rPr lang="en-US" altLang="zh-CN"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a:t>
            </a:r>
            <a:r>
              <a:rPr lang="zh-CN" altLang="en-US"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但速冻食品参与者众多</a:t>
            </a:r>
            <a:r>
              <a:rPr lang="en-US" altLang="zh-CN"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a:t>
            </a:r>
            <a:r>
              <a:rPr lang="zh-CN" altLang="en-US"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速冻食品行业竞争者例如三全食品</a:t>
            </a:r>
            <a:r>
              <a:rPr lang="en-US" altLang="zh-CN"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a:t>
            </a:r>
            <a:r>
              <a:rPr lang="zh-CN" altLang="en-US"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思念食品等</a:t>
            </a:r>
            <a:r>
              <a:rPr lang="en-US" altLang="zh-CN"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a:t>
            </a:r>
            <a:r>
              <a:rPr lang="zh-CN" altLang="en-US"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安井食品虽作为速冻产品行业巨头</a:t>
            </a:r>
            <a:r>
              <a:rPr lang="en-US" altLang="zh-CN"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a:t>
            </a:r>
            <a:r>
              <a:rPr lang="zh-CN" altLang="en-US"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但在市场竞争激烈背景下仍需扩大产能</a:t>
            </a:r>
            <a:r>
              <a:rPr lang="en-US" altLang="zh-CN"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a:t>
            </a:r>
            <a:r>
              <a:rPr lang="zh-CN" altLang="en-US"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力求抢占更多的市场份额</a:t>
            </a:r>
            <a:r>
              <a:rPr lang="en-US" altLang="zh-CN"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a:t>
            </a:r>
            <a:endParaRPr lang="en-US" altLang="zh-CN"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endParaRPr>
          </a:p>
        </p:txBody>
      </p:sp>
      <p:sp>
        <p:nvSpPr>
          <p:cNvPr id="11" name="菱形 10"/>
          <p:cNvSpPr/>
          <p:nvPr/>
        </p:nvSpPr>
        <p:spPr>
          <a:xfrm>
            <a:off x="588886" y="1651218"/>
            <a:ext cx="4039675" cy="4039675"/>
          </a:xfrm>
          <a:prstGeom prst="diamond">
            <a:avLst/>
          </a:prstGeom>
          <a:pattFill prst="wdUpDiag">
            <a:fgClr>
              <a:srgbClr val="203864"/>
            </a:fgClr>
            <a:bgClr>
              <a:schemeClr val="bg1"/>
            </a:bgClr>
          </a:patt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菱形 11"/>
          <p:cNvSpPr/>
          <p:nvPr/>
        </p:nvSpPr>
        <p:spPr>
          <a:xfrm>
            <a:off x="2723501" y="2255248"/>
            <a:ext cx="2528781" cy="2528781"/>
          </a:xfrm>
          <a:prstGeom prst="diamond">
            <a:avLst/>
          </a:prstGeom>
          <a:solidFill>
            <a:schemeClr val="bg1"/>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000" b="1">
                <a:solidFill>
                  <a:schemeClr val="tx2">
                    <a:lumMod val="75000"/>
                  </a:schemeClr>
                </a:solidFill>
              </a:rPr>
              <a:t>外部动因</a:t>
            </a:r>
            <a:endParaRPr lang="zh-CN" altLang="en-US" sz="4000" b="1">
              <a:solidFill>
                <a:schemeClr val="tx2">
                  <a:lumMod val="75000"/>
                </a:schemeClr>
              </a:solidFill>
            </a:endParaRPr>
          </a:p>
        </p:txBody>
      </p:sp>
      <p:sp>
        <p:nvSpPr>
          <p:cNvPr id="13" name="菱形 12"/>
          <p:cNvSpPr/>
          <p:nvPr/>
        </p:nvSpPr>
        <p:spPr>
          <a:xfrm>
            <a:off x="1212607" y="4546773"/>
            <a:ext cx="1144120" cy="1144120"/>
          </a:xfrm>
          <a:prstGeom prst="diamond">
            <a:avLst/>
          </a:prstGeom>
          <a:solidFill>
            <a:schemeClr val="bg1"/>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med" advTm="3000">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ppt_w</p:attrName>
                                        </p:attrNameLst>
                                      </p:cBhvr>
                                      <p:tavLst>
                                        <p:tav tm="0">
                                          <p:val>
                                            <p:fltVal val="0"/>
                                          </p:val>
                                        </p:tav>
                                        <p:tav tm="100000">
                                          <p:val>
                                            <p:strVal val="#ppt_w"/>
                                          </p:val>
                                        </p:tav>
                                      </p:tavLst>
                                    </p:anim>
                                    <p:anim calcmode="lin" valueType="num">
                                      <p:cBhvr>
                                        <p:cTn id="8" dur="500" fill="hold"/>
                                        <p:tgtEl>
                                          <p:spTgt spid="11"/>
                                        </p:tgtEl>
                                        <p:attrNameLst>
                                          <p:attrName>ppt_h</p:attrName>
                                        </p:attrNameLst>
                                      </p:cBhvr>
                                      <p:tavLst>
                                        <p:tav tm="0">
                                          <p:val>
                                            <p:fltVal val="0"/>
                                          </p:val>
                                        </p:tav>
                                        <p:tav tm="100000">
                                          <p:val>
                                            <p:strVal val="#ppt_h"/>
                                          </p:val>
                                        </p:tav>
                                      </p:tavLst>
                                    </p:anim>
                                    <p:animEffect transition="in" filter="fade">
                                      <p:cBhvr>
                                        <p:cTn id="9" dur="500"/>
                                        <p:tgtEl>
                                          <p:spTgt spid="11"/>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12"/>
                                        </p:tgtEl>
                                        <p:attrNameLst>
                                          <p:attrName>style.visibility</p:attrName>
                                        </p:attrNameLst>
                                      </p:cBhvr>
                                      <p:to>
                                        <p:strVal val="visible"/>
                                      </p:to>
                                    </p:set>
                                    <p:anim calcmode="lin" valueType="num">
                                      <p:cBhvr>
                                        <p:cTn id="12" dur="500" fill="hold"/>
                                        <p:tgtEl>
                                          <p:spTgt spid="12"/>
                                        </p:tgtEl>
                                        <p:attrNameLst>
                                          <p:attrName>ppt_w</p:attrName>
                                        </p:attrNameLst>
                                      </p:cBhvr>
                                      <p:tavLst>
                                        <p:tav tm="0">
                                          <p:val>
                                            <p:fltVal val="0"/>
                                          </p:val>
                                        </p:tav>
                                        <p:tav tm="100000">
                                          <p:val>
                                            <p:strVal val="#ppt_w"/>
                                          </p:val>
                                        </p:tav>
                                      </p:tavLst>
                                    </p:anim>
                                    <p:anim calcmode="lin" valueType="num">
                                      <p:cBhvr>
                                        <p:cTn id="13" dur="500" fill="hold"/>
                                        <p:tgtEl>
                                          <p:spTgt spid="12"/>
                                        </p:tgtEl>
                                        <p:attrNameLst>
                                          <p:attrName>ppt_h</p:attrName>
                                        </p:attrNameLst>
                                      </p:cBhvr>
                                      <p:tavLst>
                                        <p:tav tm="0">
                                          <p:val>
                                            <p:fltVal val="0"/>
                                          </p:val>
                                        </p:tav>
                                        <p:tav tm="100000">
                                          <p:val>
                                            <p:strVal val="#ppt_h"/>
                                          </p:val>
                                        </p:tav>
                                      </p:tavLst>
                                    </p:anim>
                                    <p:animEffect transition="in" filter="fade">
                                      <p:cBhvr>
                                        <p:cTn id="14" dur="500"/>
                                        <p:tgtEl>
                                          <p:spTgt spid="12"/>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anim calcmode="lin" valueType="num">
                                      <p:cBhvr>
                                        <p:cTn id="17" dur="500" fill="hold"/>
                                        <p:tgtEl>
                                          <p:spTgt spid="13"/>
                                        </p:tgtEl>
                                        <p:attrNameLst>
                                          <p:attrName>ppt_w</p:attrName>
                                        </p:attrNameLst>
                                      </p:cBhvr>
                                      <p:tavLst>
                                        <p:tav tm="0">
                                          <p:val>
                                            <p:fltVal val="0"/>
                                          </p:val>
                                        </p:tav>
                                        <p:tav tm="100000">
                                          <p:val>
                                            <p:strVal val="#ppt_w"/>
                                          </p:val>
                                        </p:tav>
                                      </p:tavLst>
                                    </p:anim>
                                    <p:anim calcmode="lin" valueType="num">
                                      <p:cBhvr>
                                        <p:cTn id="18" dur="500" fill="hold"/>
                                        <p:tgtEl>
                                          <p:spTgt spid="13"/>
                                        </p:tgtEl>
                                        <p:attrNameLst>
                                          <p:attrName>ppt_h</p:attrName>
                                        </p:attrNameLst>
                                      </p:cBhvr>
                                      <p:tavLst>
                                        <p:tav tm="0">
                                          <p:val>
                                            <p:fltVal val="0"/>
                                          </p:val>
                                        </p:tav>
                                        <p:tav tm="100000">
                                          <p:val>
                                            <p:strVal val="#ppt_h"/>
                                          </p:val>
                                        </p:tav>
                                      </p:tavLst>
                                    </p:anim>
                                    <p:animEffect transition="in" filter="fade">
                                      <p:cBhvr>
                                        <p:cTn id="19" dur="500"/>
                                        <p:tgtEl>
                                          <p:spTgt spid="13"/>
                                        </p:tgtEl>
                                      </p:cBhvr>
                                    </p:animEffect>
                                  </p:childTnLst>
                                </p:cTn>
                              </p:par>
                              <p:par>
                                <p:cTn id="20" presetID="42"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1000"/>
                                        <p:tgtEl>
                                          <p:spTgt spid="8"/>
                                        </p:tgtEl>
                                      </p:cBhvr>
                                    </p:animEffect>
                                    <p:anim calcmode="lin" valueType="num">
                                      <p:cBhvr>
                                        <p:cTn id="23" dur="1000" fill="hold"/>
                                        <p:tgtEl>
                                          <p:spTgt spid="8"/>
                                        </p:tgtEl>
                                        <p:attrNameLst>
                                          <p:attrName>ppt_x</p:attrName>
                                        </p:attrNameLst>
                                      </p:cBhvr>
                                      <p:tavLst>
                                        <p:tav tm="0">
                                          <p:val>
                                            <p:strVal val="#ppt_x"/>
                                          </p:val>
                                        </p:tav>
                                        <p:tav tm="100000">
                                          <p:val>
                                            <p:strVal val="#ppt_x"/>
                                          </p:val>
                                        </p:tav>
                                      </p:tavLst>
                                    </p:anim>
                                    <p:anim calcmode="lin" valueType="num">
                                      <p:cBhvr>
                                        <p:cTn id="24" dur="1000" fill="hold"/>
                                        <p:tgtEl>
                                          <p:spTgt spid="8"/>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1000"/>
                                        <p:tgtEl>
                                          <p:spTgt spid="9"/>
                                        </p:tgtEl>
                                      </p:cBhvr>
                                    </p:animEffect>
                                    <p:anim calcmode="lin" valueType="num">
                                      <p:cBhvr>
                                        <p:cTn id="28" dur="1000" fill="hold"/>
                                        <p:tgtEl>
                                          <p:spTgt spid="9"/>
                                        </p:tgtEl>
                                        <p:attrNameLst>
                                          <p:attrName>ppt_x</p:attrName>
                                        </p:attrNameLst>
                                      </p:cBhvr>
                                      <p:tavLst>
                                        <p:tav tm="0">
                                          <p:val>
                                            <p:strVal val="#ppt_x"/>
                                          </p:val>
                                        </p:tav>
                                        <p:tav tm="100000">
                                          <p:val>
                                            <p:strVal val="#ppt_x"/>
                                          </p:val>
                                        </p:tav>
                                      </p:tavLst>
                                    </p:anim>
                                    <p:anim calcmode="lin" valueType="num">
                                      <p:cBhvr>
                                        <p:cTn id="29" dur="1000" fill="hold"/>
                                        <p:tgtEl>
                                          <p:spTgt spid="9"/>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1000"/>
                                        <p:tgtEl>
                                          <p:spTgt spid="10"/>
                                        </p:tgtEl>
                                      </p:cBhvr>
                                    </p:animEffect>
                                    <p:anim calcmode="lin" valueType="num">
                                      <p:cBhvr>
                                        <p:cTn id="33" dur="1000" fill="hold"/>
                                        <p:tgtEl>
                                          <p:spTgt spid="10"/>
                                        </p:tgtEl>
                                        <p:attrNameLst>
                                          <p:attrName>ppt_x</p:attrName>
                                        </p:attrNameLst>
                                      </p:cBhvr>
                                      <p:tavLst>
                                        <p:tav tm="0">
                                          <p:val>
                                            <p:strVal val="#ppt_x"/>
                                          </p:val>
                                        </p:tav>
                                        <p:tav tm="100000">
                                          <p:val>
                                            <p:strVal val="#ppt_x"/>
                                          </p:val>
                                        </p:tav>
                                      </p:tavLst>
                                    </p:anim>
                                    <p:anim calcmode="lin" valueType="num">
                                      <p:cBhvr>
                                        <p:cTn id="3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animBg="1"/>
      <p:bldP spid="12" grpId="0" bldLvl="0" animBg="1"/>
      <p:bldP spid="1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47831" y="242047"/>
            <a:ext cx="1464428" cy="600634"/>
            <a:chOff x="1115735" y="587229"/>
            <a:chExt cx="10176791" cy="6547926"/>
          </a:xfrm>
        </p:grpSpPr>
        <p:sp>
          <p:nvSpPr>
            <p:cNvPr id="3" name="矩形 2"/>
            <p:cNvSpPr/>
            <p:nvPr/>
          </p:nvSpPr>
          <p:spPr>
            <a:xfrm>
              <a:off x="1115735" y="587229"/>
              <a:ext cx="9571839" cy="5410900"/>
            </a:xfrm>
            <a:prstGeom prst="rect">
              <a:avLst/>
            </a:prstGeom>
            <a:pattFill prst="wdDnDiag">
              <a:fgClr>
                <a:srgbClr val="203864"/>
              </a:fgClr>
              <a:bgClr>
                <a:schemeClr val="bg1"/>
              </a:bgClr>
            </a:patt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1720688" y="1724252"/>
              <a:ext cx="9571838" cy="5410903"/>
            </a:xfrm>
            <a:prstGeom prst="rect">
              <a:avLst/>
            </a:prstGeom>
            <a:solidFill>
              <a:schemeClr val="bg1"/>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5" name="文本框 4"/>
          <p:cNvSpPr txBox="1"/>
          <p:nvPr/>
        </p:nvSpPr>
        <p:spPr>
          <a:xfrm>
            <a:off x="376518" y="409847"/>
            <a:ext cx="1335741" cy="368300"/>
          </a:xfrm>
          <a:prstGeom prst="rect">
            <a:avLst/>
          </a:prstGeom>
          <a:noFill/>
        </p:spPr>
        <p:txBody>
          <a:bodyPr wrap="square" rtlCol="0">
            <a:spAutoFit/>
          </a:bodyPr>
          <a:lstStyle/>
          <a:p>
            <a:pPr algn="ctr"/>
            <a:r>
              <a:rPr lang="zh-CN" altLang="en-US" dirty="0">
                <a:latin typeface="思源黑体 CN Bold" panose="020B0800000000000000" pitchFamily="34" charset="-122"/>
                <a:ea typeface="思源黑体 CN Bold" panose="020B0800000000000000" pitchFamily="34" charset="-122"/>
              </a:rPr>
              <a:t>并购动因</a:t>
            </a:r>
            <a:endParaRPr lang="zh-CN" altLang="en-US" dirty="0">
              <a:latin typeface="思源黑体 CN Bold" panose="020B0800000000000000" pitchFamily="34" charset="-122"/>
              <a:ea typeface="思源黑体 CN Bold" panose="020B0800000000000000" pitchFamily="34" charset="-122"/>
            </a:endParaRPr>
          </a:p>
        </p:txBody>
      </p:sp>
      <p:grpSp>
        <p:nvGrpSpPr>
          <p:cNvPr id="6" name="组合 5"/>
          <p:cNvGrpSpPr/>
          <p:nvPr/>
        </p:nvGrpSpPr>
        <p:grpSpPr>
          <a:xfrm>
            <a:off x="760450" y="1832606"/>
            <a:ext cx="3146425" cy="2911475"/>
            <a:chOff x="760450" y="2148195"/>
            <a:chExt cx="3146425" cy="2911475"/>
          </a:xfrm>
          <a:effectLst/>
        </p:grpSpPr>
        <p:sp>
          <p:nvSpPr>
            <p:cNvPr id="7" name="Rectangle 5"/>
            <p:cNvSpPr>
              <a:spLocks noChangeArrowheads="1"/>
            </p:cNvSpPr>
            <p:nvPr/>
          </p:nvSpPr>
          <p:spPr bwMode="auto">
            <a:xfrm>
              <a:off x="760450" y="2148195"/>
              <a:ext cx="3146425" cy="1993900"/>
            </a:xfrm>
            <a:prstGeom prst="rect">
              <a:avLst/>
            </a:prstGeom>
            <a:solidFill>
              <a:srgbClr val="203864"/>
            </a:solidFill>
            <a:ln>
              <a:noFill/>
            </a:ln>
            <a:effectLst/>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id-ID" altLang="en-US" sz="4400" b="0" i="0" u="none" strike="noStrike" kern="1200" cap="none" spc="0" normalizeH="0" baseline="0" noProof="0">
                <a:ln>
                  <a:noFill/>
                </a:ln>
                <a:effectLst/>
                <a:uLnTx/>
                <a:uFillTx/>
                <a:latin typeface="思源宋体 Heavy" panose="02020900000000000000" pitchFamily="18" charset="-122"/>
                <a:ea typeface="思源宋体 Heavy" panose="02020900000000000000" pitchFamily="18" charset="-122"/>
                <a:cs typeface="+mn-ea"/>
                <a:sym typeface="+mn-lt"/>
              </a:endParaRPr>
            </a:p>
          </p:txBody>
        </p:sp>
        <p:sp>
          <p:nvSpPr>
            <p:cNvPr id="8" name="Oval 22"/>
            <p:cNvSpPr>
              <a:spLocks noChangeArrowheads="1"/>
            </p:cNvSpPr>
            <p:nvPr/>
          </p:nvSpPr>
          <p:spPr bwMode="auto">
            <a:xfrm>
              <a:off x="760450" y="4473882"/>
              <a:ext cx="585787" cy="585788"/>
            </a:xfrm>
            <a:prstGeom prst="ellipse">
              <a:avLst/>
            </a:prstGeom>
            <a:solidFill>
              <a:srgbClr val="203864"/>
            </a:solidFill>
            <a:ln>
              <a:noFill/>
            </a:ln>
            <a:effectLst/>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AU" altLang="en-US" sz="1200" b="0" i="0" u="none" strike="noStrike" kern="1200" cap="none" spc="0" normalizeH="0" baseline="0" noProof="0">
                <a:ln>
                  <a:noFill/>
                </a:ln>
                <a:effectLst/>
                <a:uLnTx/>
                <a:uFillTx/>
                <a:latin typeface="思源宋体 Heavy" panose="02020900000000000000" pitchFamily="18" charset="-122"/>
                <a:ea typeface="思源宋体 Heavy" panose="02020900000000000000" pitchFamily="18" charset="-122"/>
                <a:cs typeface="+mn-ea"/>
                <a:sym typeface="+mn-lt"/>
              </a:endParaRPr>
            </a:p>
          </p:txBody>
        </p:sp>
        <p:sp>
          <p:nvSpPr>
            <p:cNvPr id="9" name="TextBox 15"/>
            <p:cNvSpPr txBox="1">
              <a:spLocks noChangeArrowheads="1"/>
            </p:cNvSpPr>
            <p:nvPr/>
          </p:nvSpPr>
          <p:spPr bwMode="auto">
            <a:xfrm>
              <a:off x="766800" y="4582626"/>
              <a:ext cx="57308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schemeClr val="bg1"/>
                  </a:solidFill>
                  <a:effectLst/>
                  <a:uLnTx/>
                  <a:uFillTx/>
                  <a:latin typeface="思源宋体 Heavy" panose="02020900000000000000" pitchFamily="18" charset="-122"/>
                  <a:ea typeface="思源宋体 Heavy" panose="02020900000000000000" pitchFamily="18" charset="-122"/>
                  <a:cs typeface="+mn-ea"/>
                  <a:sym typeface="+mn-lt"/>
                </a:rPr>
                <a:t>01</a:t>
              </a:r>
              <a:endParaRPr kumimoji="0" lang="zh-CN" altLang="en-US" sz="1400" b="1" i="0" u="none" strike="noStrike" kern="1200" cap="none" spc="0" normalizeH="0" baseline="0" noProof="0" dirty="0">
                <a:ln>
                  <a:noFill/>
                </a:ln>
                <a:solidFill>
                  <a:schemeClr val="bg1"/>
                </a:solidFill>
                <a:effectLst/>
                <a:uLnTx/>
                <a:uFillTx/>
                <a:latin typeface="思源宋体 Heavy" panose="02020900000000000000" pitchFamily="18" charset="-122"/>
                <a:ea typeface="思源宋体 Heavy" panose="02020900000000000000" pitchFamily="18" charset="-122"/>
                <a:cs typeface="+mn-ea"/>
                <a:sym typeface="+mn-lt"/>
              </a:endParaRPr>
            </a:p>
          </p:txBody>
        </p:sp>
        <p:sp>
          <p:nvSpPr>
            <p:cNvPr id="11" name="TextBox 13"/>
            <p:cNvSpPr txBox="1"/>
            <p:nvPr/>
          </p:nvSpPr>
          <p:spPr>
            <a:xfrm>
              <a:off x="1063345" y="2291705"/>
              <a:ext cx="2526665" cy="1992630"/>
            </a:xfrm>
            <a:prstGeom prst="rect">
              <a:avLst/>
            </a:prstGeom>
            <a:noFill/>
          </p:spPr>
          <p:txBody>
            <a:bodyPr wrap="square" lIns="0" tIns="0" rIns="0" bIns="0" rtlCol="0" anchor="t" anchorCtr="0">
              <a:noAutofit/>
            </a:bodyPr>
            <a:lstStyle/>
            <a:p>
              <a:pPr marL="0" marR="0" lvl="0" indent="0" algn="just" defTabSz="1216660" rtl="0" eaLnBrk="1" fontAlgn="auto" latinLnBrk="0" hangingPunct="1">
                <a:lnSpc>
                  <a:spcPct val="120000"/>
                </a:lnSpc>
                <a:spcBef>
                  <a:spcPct val="20000"/>
                </a:spcBef>
                <a:spcAft>
                  <a:spcPts val="0"/>
                </a:spcAft>
                <a:buClrTx/>
                <a:buSzTx/>
                <a:buFontTx/>
                <a:buNone/>
                <a:defRPr/>
              </a:pPr>
              <a:r>
                <a:rPr kumimoji="0" lang="zh-CN" altLang="en-US" sz="1600" b="1" i="0" u="none" strike="noStrike" kern="1200" cap="none" spc="0" normalizeH="0" baseline="0" noProof="0" dirty="0">
                  <a:ln>
                    <a:noFill/>
                  </a:ln>
                  <a:solidFill>
                    <a:schemeClr val="bg1"/>
                  </a:solidFill>
                  <a:effectLst/>
                  <a:uLnTx/>
                  <a:uFillTx/>
                  <a:latin typeface="思源宋体 Heavy" panose="02020900000000000000" pitchFamily="18" charset="-122"/>
                  <a:ea typeface="思源宋体 Heavy" panose="02020900000000000000" pitchFamily="18" charset="-122"/>
                  <a:cs typeface="+mn-ea"/>
                  <a:sym typeface="+mn-lt"/>
                </a:rPr>
                <a:t>并购追求协同效应是并购活动的核心目标</a:t>
              </a:r>
              <a:r>
                <a:rPr kumimoji="0" lang="en-US" altLang="zh-CN" sz="1600" b="1" i="0" u="none" strike="noStrike" kern="1200" cap="none" spc="0" normalizeH="0" baseline="0" noProof="0" dirty="0">
                  <a:ln>
                    <a:noFill/>
                  </a:ln>
                  <a:solidFill>
                    <a:schemeClr val="bg1"/>
                  </a:solidFill>
                  <a:effectLst/>
                  <a:uLnTx/>
                  <a:uFillTx/>
                  <a:latin typeface="思源宋体 Heavy" panose="02020900000000000000" pitchFamily="18" charset="-122"/>
                  <a:ea typeface="思源宋体 Heavy" panose="02020900000000000000" pitchFamily="18" charset="-122"/>
                  <a:cs typeface="+mn-ea"/>
                  <a:sym typeface="+mn-lt"/>
                </a:rPr>
                <a:t>，</a:t>
              </a:r>
              <a:r>
                <a:rPr kumimoji="0" lang="zh-CN" altLang="en-US" sz="1600" b="1" i="0" u="none" strike="noStrike" kern="1200" cap="none" spc="0" normalizeH="0" baseline="0" noProof="0" dirty="0">
                  <a:ln>
                    <a:noFill/>
                  </a:ln>
                  <a:solidFill>
                    <a:schemeClr val="bg1"/>
                  </a:solidFill>
                  <a:effectLst/>
                  <a:uLnTx/>
                  <a:uFillTx/>
                  <a:latin typeface="思源宋体 Heavy" panose="02020900000000000000" pitchFamily="18" charset="-122"/>
                  <a:ea typeface="思源宋体 Heavy" panose="02020900000000000000" pitchFamily="18" charset="-122"/>
                  <a:cs typeface="+mn-ea"/>
                  <a:sym typeface="+mn-lt"/>
                </a:rPr>
                <a:t>其本质目标是整合双方资源实现“</a:t>
              </a:r>
              <a:r>
                <a:rPr kumimoji="0" lang="en-US" altLang="zh-CN" sz="1600" b="1" i="0" u="none" strike="noStrike" kern="1200" cap="none" spc="0" normalizeH="0" baseline="0" noProof="0" dirty="0">
                  <a:ln>
                    <a:noFill/>
                  </a:ln>
                  <a:solidFill>
                    <a:schemeClr val="bg1"/>
                  </a:solidFill>
                  <a:effectLst/>
                  <a:uLnTx/>
                  <a:uFillTx/>
                  <a:latin typeface="思源宋体 Heavy" panose="02020900000000000000" pitchFamily="18" charset="-122"/>
                  <a:ea typeface="思源宋体 Heavy" panose="02020900000000000000" pitchFamily="18" charset="-122"/>
                  <a:cs typeface="+mn-ea"/>
                  <a:sym typeface="+mn-lt"/>
                </a:rPr>
                <a:t>1+1&gt;2</a:t>
              </a:r>
              <a:r>
                <a:rPr kumimoji="0" lang="zh-CN" altLang="en-US" sz="1600" b="1" i="0" u="none" strike="noStrike" kern="1200" cap="none" spc="0" normalizeH="0" baseline="0" noProof="0" dirty="0">
                  <a:ln>
                    <a:noFill/>
                  </a:ln>
                  <a:solidFill>
                    <a:schemeClr val="bg1"/>
                  </a:solidFill>
                  <a:effectLst/>
                  <a:uLnTx/>
                  <a:uFillTx/>
                  <a:latin typeface="思源宋体 Heavy" panose="02020900000000000000" pitchFamily="18" charset="-122"/>
                  <a:ea typeface="思源宋体 Heavy" panose="02020900000000000000" pitchFamily="18" charset="-122"/>
                  <a:cs typeface="+mn-ea"/>
                  <a:sym typeface="+mn-lt"/>
                </a:rPr>
                <a:t>“的价值提升</a:t>
              </a:r>
              <a:r>
                <a:rPr kumimoji="0" lang="en-US" altLang="zh-CN" sz="1600" b="1" i="0" u="none" strike="noStrike" kern="1200" cap="none" spc="0" normalizeH="0" baseline="0" noProof="0" dirty="0">
                  <a:ln>
                    <a:noFill/>
                  </a:ln>
                  <a:solidFill>
                    <a:schemeClr val="bg1"/>
                  </a:solidFill>
                  <a:effectLst/>
                  <a:uLnTx/>
                  <a:uFillTx/>
                  <a:latin typeface="思源宋体 Heavy" panose="02020900000000000000" pitchFamily="18" charset="-122"/>
                  <a:ea typeface="思源宋体 Heavy" panose="02020900000000000000" pitchFamily="18" charset="-122"/>
                  <a:cs typeface="+mn-ea"/>
                  <a:sym typeface="+mn-lt"/>
                </a:rPr>
                <a:t>，</a:t>
              </a:r>
              <a:r>
                <a:rPr kumimoji="0" lang="zh-CN" altLang="en-US" sz="1600" b="1" i="0" u="none" strike="noStrike" kern="1200" cap="none" spc="0" normalizeH="0" baseline="0" noProof="0" dirty="0">
                  <a:ln>
                    <a:noFill/>
                  </a:ln>
                  <a:solidFill>
                    <a:schemeClr val="bg1"/>
                  </a:solidFill>
                  <a:effectLst/>
                  <a:uLnTx/>
                  <a:uFillTx/>
                  <a:latin typeface="思源宋体 Heavy" panose="02020900000000000000" pitchFamily="18" charset="-122"/>
                  <a:ea typeface="思源宋体 Heavy" panose="02020900000000000000" pitchFamily="18" charset="-122"/>
                  <a:cs typeface="+mn-ea"/>
                  <a:sym typeface="+mn-lt"/>
                </a:rPr>
                <a:t>主要体现在财务协同</a:t>
              </a:r>
              <a:r>
                <a:rPr kumimoji="0" lang="en-US" altLang="zh-CN" sz="1600" b="1" i="0" u="none" strike="noStrike" kern="1200" cap="none" spc="0" normalizeH="0" baseline="0" noProof="0" dirty="0">
                  <a:ln>
                    <a:noFill/>
                  </a:ln>
                  <a:solidFill>
                    <a:schemeClr val="bg1"/>
                  </a:solidFill>
                  <a:effectLst/>
                  <a:uLnTx/>
                  <a:uFillTx/>
                  <a:latin typeface="思源宋体 Heavy" panose="02020900000000000000" pitchFamily="18" charset="-122"/>
                  <a:ea typeface="思源宋体 Heavy" panose="02020900000000000000" pitchFamily="18" charset="-122"/>
                  <a:cs typeface="+mn-ea"/>
                  <a:sym typeface="+mn-lt"/>
                </a:rPr>
                <a:t>、</a:t>
              </a:r>
              <a:r>
                <a:rPr kumimoji="0" lang="zh-CN" altLang="en-US" sz="1600" b="1" i="0" u="none" strike="noStrike" kern="1200" cap="none" spc="0" normalizeH="0" baseline="0" noProof="0" dirty="0">
                  <a:ln>
                    <a:noFill/>
                  </a:ln>
                  <a:solidFill>
                    <a:schemeClr val="bg1"/>
                  </a:solidFill>
                  <a:effectLst/>
                  <a:uLnTx/>
                  <a:uFillTx/>
                  <a:latin typeface="思源宋体 Heavy" panose="02020900000000000000" pitchFamily="18" charset="-122"/>
                  <a:ea typeface="思源宋体 Heavy" panose="02020900000000000000" pitchFamily="18" charset="-122"/>
                  <a:cs typeface="+mn-ea"/>
                  <a:sym typeface="+mn-lt"/>
                </a:rPr>
                <a:t>运营协同、管理协同三个方面</a:t>
              </a:r>
              <a:r>
                <a:rPr kumimoji="0" lang="en-US" altLang="zh-CN" sz="1600" b="1" i="0" u="none" strike="noStrike" kern="1200" cap="none" spc="0" normalizeH="0" baseline="0" noProof="0" dirty="0">
                  <a:ln>
                    <a:noFill/>
                  </a:ln>
                  <a:solidFill>
                    <a:schemeClr val="bg1"/>
                  </a:solidFill>
                  <a:effectLst/>
                  <a:uLnTx/>
                  <a:uFillTx/>
                  <a:latin typeface="思源宋体 Heavy" panose="02020900000000000000" pitchFamily="18" charset="-122"/>
                  <a:ea typeface="思源宋体 Heavy" panose="02020900000000000000" pitchFamily="18" charset="-122"/>
                  <a:cs typeface="+mn-ea"/>
                  <a:sym typeface="+mn-lt"/>
                </a:rPr>
                <a:t>。</a:t>
              </a:r>
              <a:endParaRPr kumimoji="0" lang="en-US" altLang="zh-CN" sz="1600" b="1" i="0" u="none" strike="noStrike" kern="1200" cap="none" spc="0" normalizeH="0" baseline="0" noProof="0" dirty="0">
                <a:ln>
                  <a:noFill/>
                </a:ln>
                <a:solidFill>
                  <a:schemeClr val="bg1"/>
                </a:solidFill>
                <a:effectLst/>
                <a:uLnTx/>
                <a:uFillTx/>
                <a:latin typeface="思源宋体 Heavy" panose="02020900000000000000" pitchFamily="18" charset="-122"/>
                <a:ea typeface="思源宋体 Heavy" panose="02020900000000000000" pitchFamily="18" charset="-122"/>
                <a:cs typeface="+mn-ea"/>
                <a:sym typeface="+mn-lt"/>
              </a:endParaRPr>
            </a:p>
          </p:txBody>
        </p:sp>
      </p:grpSp>
      <p:grpSp>
        <p:nvGrpSpPr>
          <p:cNvPr id="12" name="组合 11"/>
          <p:cNvGrpSpPr/>
          <p:nvPr/>
        </p:nvGrpSpPr>
        <p:grpSpPr>
          <a:xfrm>
            <a:off x="7704931" y="1845526"/>
            <a:ext cx="3146425" cy="2911475"/>
            <a:chOff x="7704931" y="2161115"/>
            <a:chExt cx="3146425" cy="2911475"/>
          </a:xfrm>
          <a:effectLst/>
        </p:grpSpPr>
        <p:sp>
          <p:nvSpPr>
            <p:cNvPr id="13" name="Rectangle 6"/>
            <p:cNvSpPr>
              <a:spLocks noChangeArrowheads="1"/>
            </p:cNvSpPr>
            <p:nvPr/>
          </p:nvSpPr>
          <p:spPr bwMode="auto">
            <a:xfrm>
              <a:off x="7704931" y="2161115"/>
              <a:ext cx="3146425" cy="1993900"/>
            </a:xfrm>
            <a:prstGeom prst="rect">
              <a:avLst/>
            </a:prstGeom>
            <a:solidFill>
              <a:srgbClr val="203864"/>
            </a:solidFill>
            <a:ln>
              <a:noFill/>
            </a:ln>
            <a:effectLst/>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id-ID" altLang="en-US" sz="1400" b="0" i="0" u="none" strike="noStrike" kern="1200" cap="none" spc="0" normalizeH="0" baseline="0" noProof="0">
                <a:ln>
                  <a:noFill/>
                </a:ln>
                <a:effectLst/>
                <a:uLnTx/>
                <a:uFillTx/>
                <a:latin typeface="思源宋体 Heavy" panose="02020900000000000000" pitchFamily="18" charset="-122"/>
                <a:ea typeface="思源宋体 Heavy" panose="02020900000000000000" pitchFamily="18" charset="-122"/>
                <a:cs typeface="+mn-ea"/>
                <a:sym typeface="+mn-lt"/>
              </a:endParaRPr>
            </a:p>
          </p:txBody>
        </p:sp>
        <p:sp>
          <p:nvSpPr>
            <p:cNvPr id="14" name="Oval 36"/>
            <p:cNvSpPr>
              <a:spLocks noChangeArrowheads="1"/>
            </p:cNvSpPr>
            <p:nvPr/>
          </p:nvSpPr>
          <p:spPr bwMode="auto">
            <a:xfrm>
              <a:off x="7708106" y="4486802"/>
              <a:ext cx="585788" cy="585788"/>
            </a:xfrm>
            <a:prstGeom prst="ellipse">
              <a:avLst/>
            </a:prstGeom>
            <a:solidFill>
              <a:srgbClr val="203864"/>
            </a:solidFill>
            <a:ln>
              <a:noFill/>
            </a:ln>
            <a:effectLst/>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zh-CN" sz="1200" b="0" i="0" u="none" strike="noStrike" kern="1200" cap="none" spc="0" normalizeH="0" baseline="0" noProof="0">
                <a:ln>
                  <a:noFill/>
                </a:ln>
                <a:effectLst/>
                <a:uLnTx/>
                <a:uFillTx/>
                <a:latin typeface="思源宋体 Heavy" panose="02020900000000000000" pitchFamily="18" charset="-122"/>
                <a:ea typeface="思源宋体 Heavy" panose="02020900000000000000" pitchFamily="18" charset="-122"/>
                <a:cs typeface="+mn-ea"/>
                <a:sym typeface="+mn-lt"/>
              </a:endParaRPr>
            </a:p>
          </p:txBody>
        </p:sp>
        <p:sp>
          <p:nvSpPr>
            <p:cNvPr id="15" name="TextBox 15"/>
            <p:cNvSpPr txBox="1">
              <a:spLocks noChangeArrowheads="1"/>
            </p:cNvSpPr>
            <p:nvPr/>
          </p:nvSpPr>
          <p:spPr bwMode="auto">
            <a:xfrm>
              <a:off x="7716044" y="4594752"/>
              <a:ext cx="5715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schemeClr val="bg1"/>
                  </a:solidFill>
                  <a:effectLst/>
                  <a:uLnTx/>
                  <a:uFillTx/>
                  <a:latin typeface="思源宋体 Heavy" panose="02020900000000000000" pitchFamily="18" charset="-122"/>
                  <a:ea typeface="思源宋体 Heavy" panose="02020900000000000000" pitchFamily="18" charset="-122"/>
                  <a:cs typeface="+mn-ea"/>
                  <a:sym typeface="+mn-lt"/>
                </a:rPr>
                <a:t>03</a:t>
              </a:r>
              <a:endParaRPr kumimoji="0" lang="zh-CN" altLang="en-US" sz="1400" b="1" i="0" u="none" strike="noStrike" kern="1200" cap="none" spc="0" normalizeH="0" baseline="0" noProof="0" dirty="0">
                <a:ln>
                  <a:noFill/>
                </a:ln>
                <a:solidFill>
                  <a:schemeClr val="bg1"/>
                </a:solidFill>
                <a:effectLst/>
                <a:uLnTx/>
                <a:uFillTx/>
                <a:latin typeface="思源宋体 Heavy" panose="02020900000000000000" pitchFamily="18" charset="-122"/>
                <a:ea typeface="思源宋体 Heavy" panose="02020900000000000000" pitchFamily="18" charset="-122"/>
                <a:cs typeface="+mn-ea"/>
                <a:sym typeface="+mn-lt"/>
              </a:endParaRPr>
            </a:p>
          </p:txBody>
        </p:sp>
        <p:sp>
          <p:nvSpPr>
            <p:cNvPr id="17" name="TextBox 13"/>
            <p:cNvSpPr txBox="1"/>
            <p:nvPr/>
          </p:nvSpPr>
          <p:spPr>
            <a:xfrm>
              <a:off x="7793196" y="2173180"/>
              <a:ext cx="2981960" cy="2300605"/>
            </a:xfrm>
            <a:prstGeom prst="rect">
              <a:avLst/>
            </a:prstGeom>
            <a:noFill/>
          </p:spPr>
          <p:txBody>
            <a:bodyPr wrap="square" lIns="0" tIns="0" rIns="0" bIns="0" rtlCol="0" anchor="t" anchorCtr="0">
              <a:noAutofit/>
            </a:bodyPr>
            <a:lstStyle/>
            <a:p>
              <a:pPr marL="0" marR="0" lvl="0" indent="0" algn="ctr" defTabSz="1216660" rtl="0" eaLnBrk="1" fontAlgn="auto" latinLnBrk="0" hangingPunct="1">
                <a:lnSpc>
                  <a:spcPct val="110000"/>
                </a:lnSpc>
                <a:spcBef>
                  <a:spcPct val="20000"/>
                </a:spcBef>
                <a:spcAft>
                  <a:spcPts val="0"/>
                </a:spcAft>
                <a:buClrTx/>
                <a:buSzTx/>
                <a:buFontTx/>
                <a:buNone/>
                <a:defRPr/>
              </a:pPr>
              <a:r>
                <a:rPr kumimoji="0" lang="zh-CN" altLang="en-US" sz="1400" b="1" i="0" u="none" strike="noStrike" kern="1200" cap="none" spc="0" normalizeH="0" baseline="0" noProof="0" dirty="0">
                  <a:ln>
                    <a:noFill/>
                  </a:ln>
                  <a:solidFill>
                    <a:schemeClr val="bg1"/>
                  </a:solidFill>
                  <a:effectLst/>
                  <a:uLnTx/>
                  <a:uFillTx/>
                  <a:latin typeface="思源宋体 Heavy" panose="02020900000000000000" pitchFamily="18" charset="-122"/>
                  <a:ea typeface="思源宋体 Heavy" panose="02020900000000000000" pitchFamily="18" charset="-122"/>
                  <a:cs typeface="+mn-ea"/>
                  <a:sym typeface="+mn-lt"/>
                </a:rPr>
                <a:t>并购新宏业是安井从速冻调制食品</a:t>
              </a:r>
              <a:r>
                <a:rPr kumimoji="0" lang="en-US" altLang="zh-CN" sz="1400" b="1" i="0" u="none" strike="noStrike" kern="1200" cap="none" spc="0" normalizeH="0" baseline="0" noProof="0" dirty="0">
                  <a:ln>
                    <a:noFill/>
                  </a:ln>
                  <a:solidFill>
                    <a:schemeClr val="bg1"/>
                  </a:solidFill>
                  <a:effectLst/>
                  <a:uLnTx/>
                  <a:uFillTx/>
                  <a:latin typeface="思源宋体 Heavy" panose="02020900000000000000" pitchFamily="18" charset="-122"/>
                  <a:ea typeface="思源宋体 Heavy" panose="02020900000000000000" pitchFamily="18" charset="-122"/>
                  <a:cs typeface="+mn-ea"/>
                  <a:sym typeface="+mn-lt"/>
                </a:rPr>
                <a:t> + </a:t>
              </a:r>
              <a:r>
                <a:rPr kumimoji="0" lang="zh-CN" altLang="en-US" sz="1400" b="1" i="0" u="none" strike="noStrike" kern="1200" cap="none" spc="0" normalizeH="0" baseline="0" noProof="0" dirty="0">
                  <a:ln>
                    <a:noFill/>
                  </a:ln>
                  <a:solidFill>
                    <a:schemeClr val="bg1"/>
                  </a:solidFill>
                  <a:effectLst/>
                  <a:uLnTx/>
                  <a:uFillTx/>
                  <a:latin typeface="思源宋体 Heavy" panose="02020900000000000000" pitchFamily="18" charset="-122"/>
                  <a:ea typeface="思源宋体 Heavy" panose="02020900000000000000" pitchFamily="18" charset="-122"/>
                  <a:cs typeface="+mn-ea"/>
                  <a:sym typeface="+mn-lt"/>
                </a:rPr>
                <a:t>面米制品双轮驱动转向三路并进（新增预制菜）的关键节点</a:t>
              </a:r>
              <a:r>
                <a:rPr kumimoji="0" lang="en-US" altLang="zh-CN" sz="1400" b="1" i="0" u="none" strike="noStrike" kern="1200" cap="none" spc="0" normalizeH="0" baseline="0" noProof="0" dirty="0">
                  <a:ln>
                    <a:noFill/>
                  </a:ln>
                  <a:solidFill>
                    <a:schemeClr val="bg1"/>
                  </a:solidFill>
                  <a:effectLst/>
                  <a:uLnTx/>
                  <a:uFillTx/>
                  <a:latin typeface="思源宋体 Heavy" panose="02020900000000000000" pitchFamily="18" charset="-122"/>
                  <a:ea typeface="思源宋体 Heavy" panose="02020900000000000000" pitchFamily="18" charset="-122"/>
                  <a:cs typeface="+mn-ea"/>
                  <a:sym typeface="+mn-lt"/>
                </a:rPr>
                <a:t>。</a:t>
              </a:r>
              <a:r>
                <a:rPr kumimoji="0" lang="zh-CN" altLang="en-US" sz="1400" b="1" i="0" u="none" strike="noStrike" kern="1200" cap="none" spc="0" normalizeH="0" baseline="0" noProof="0" dirty="0">
                  <a:ln>
                    <a:noFill/>
                  </a:ln>
                  <a:solidFill>
                    <a:schemeClr val="bg1"/>
                  </a:solidFill>
                  <a:effectLst/>
                  <a:uLnTx/>
                  <a:uFillTx/>
                  <a:latin typeface="思源宋体 Heavy" panose="02020900000000000000" pitchFamily="18" charset="-122"/>
                  <a:ea typeface="思源宋体 Heavy" panose="02020900000000000000" pitchFamily="18" charset="-122"/>
                  <a:cs typeface="+mn-ea"/>
                  <a:sym typeface="+mn-lt"/>
                </a:rPr>
                <a:t>新宏业的调味小龙虾产品（如麻辣虾球、蒜蓉虾）直接补充了安井在预制菜领域的空白除小龙虾外，新宏业的水产加工品（如即食鱼制品、酱腌菜）与安井原有产品形成互补</a:t>
              </a:r>
              <a:r>
                <a:rPr kumimoji="0" lang="en-US" altLang="zh-CN" sz="1400" b="1" i="0" u="none" strike="noStrike" kern="1200" cap="none" spc="0" normalizeH="0" baseline="0" noProof="0" dirty="0">
                  <a:ln>
                    <a:noFill/>
                  </a:ln>
                  <a:solidFill>
                    <a:schemeClr val="bg1"/>
                  </a:solidFill>
                  <a:effectLst/>
                  <a:uLnTx/>
                  <a:uFillTx/>
                  <a:latin typeface="思源宋体 Heavy" panose="02020900000000000000" pitchFamily="18" charset="-122"/>
                  <a:ea typeface="思源宋体 Heavy" panose="02020900000000000000" pitchFamily="18" charset="-122"/>
                  <a:cs typeface="+mn-ea"/>
                  <a:sym typeface="+mn-lt"/>
                </a:rPr>
                <a:t>。</a:t>
              </a:r>
              <a:endParaRPr kumimoji="0" lang="en-US" altLang="zh-CN" sz="1400" b="1" i="0" u="none" strike="noStrike" kern="1200" cap="none" spc="0" normalizeH="0" baseline="0" noProof="0" dirty="0">
                <a:ln>
                  <a:noFill/>
                </a:ln>
                <a:solidFill>
                  <a:schemeClr val="bg1"/>
                </a:solidFill>
                <a:effectLst/>
                <a:uLnTx/>
                <a:uFillTx/>
                <a:latin typeface="思源宋体 Heavy" panose="02020900000000000000" pitchFamily="18" charset="-122"/>
                <a:ea typeface="思源宋体 Heavy" panose="02020900000000000000" pitchFamily="18" charset="-122"/>
                <a:cs typeface="+mn-ea"/>
                <a:sym typeface="+mn-lt"/>
              </a:endParaRPr>
            </a:p>
          </p:txBody>
        </p:sp>
      </p:grpSp>
      <p:grpSp>
        <p:nvGrpSpPr>
          <p:cNvPr id="18" name="组合 17"/>
          <p:cNvGrpSpPr/>
          <p:nvPr/>
        </p:nvGrpSpPr>
        <p:grpSpPr>
          <a:xfrm>
            <a:off x="4276791" y="1858226"/>
            <a:ext cx="3146425" cy="2915711"/>
            <a:chOff x="4522787" y="2156879"/>
            <a:chExt cx="3146425" cy="2915711"/>
          </a:xfrm>
          <a:effectLst/>
        </p:grpSpPr>
        <p:sp>
          <p:nvSpPr>
            <p:cNvPr id="19" name="Oval 33"/>
            <p:cNvSpPr>
              <a:spLocks noChangeArrowheads="1"/>
            </p:cNvSpPr>
            <p:nvPr/>
          </p:nvSpPr>
          <p:spPr bwMode="auto">
            <a:xfrm>
              <a:off x="4523581" y="4486802"/>
              <a:ext cx="585788" cy="585788"/>
            </a:xfrm>
            <a:prstGeom prst="ellipse">
              <a:avLst/>
            </a:prstGeom>
            <a:solidFill>
              <a:srgbClr val="203864"/>
            </a:solidFill>
            <a:ln>
              <a:noFill/>
            </a:ln>
            <a:effectLst/>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zh-CN" sz="1200" b="0" i="0" u="none" strike="noStrike" kern="1200" cap="none" spc="0" normalizeH="0" baseline="0" noProof="0">
                <a:ln>
                  <a:noFill/>
                </a:ln>
                <a:effectLst/>
                <a:uLnTx/>
                <a:uFillTx/>
                <a:latin typeface="思源宋体 Heavy" panose="02020900000000000000" pitchFamily="18" charset="-122"/>
                <a:ea typeface="思源宋体 Heavy" panose="02020900000000000000" pitchFamily="18" charset="-122"/>
                <a:cs typeface="+mn-ea"/>
                <a:sym typeface="+mn-lt"/>
              </a:endParaRPr>
            </a:p>
          </p:txBody>
        </p:sp>
        <p:sp>
          <p:nvSpPr>
            <p:cNvPr id="20" name="TextBox 15"/>
            <p:cNvSpPr txBox="1">
              <a:spLocks noChangeArrowheads="1"/>
            </p:cNvSpPr>
            <p:nvPr/>
          </p:nvSpPr>
          <p:spPr bwMode="auto">
            <a:xfrm>
              <a:off x="4531519" y="4594752"/>
              <a:ext cx="5715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schemeClr val="bg1"/>
                  </a:solidFill>
                  <a:effectLst/>
                  <a:uLnTx/>
                  <a:uFillTx/>
                  <a:latin typeface="思源宋体 Heavy" panose="02020900000000000000" pitchFamily="18" charset="-122"/>
                  <a:ea typeface="思源宋体 Heavy" panose="02020900000000000000" pitchFamily="18" charset="-122"/>
                  <a:cs typeface="+mn-ea"/>
                  <a:sym typeface="+mn-lt"/>
                </a:rPr>
                <a:t>02</a:t>
              </a:r>
              <a:endParaRPr kumimoji="0" lang="zh-CN" altLang="en-US" sz="1400" b="1" i="0" u="none" strike="noStrike" kern="1200" cap="none" spc="0" normalizeH="0" baseline="0" noProof="0" dirty="0">
                <a:ln>
                  <a:noFill/>
                </a:ln>
                <a:solidFill>
                  <a:schemeClr val="bg1"/>
                </a:solidFill>
                <a:effectLst/>
                <a:uLnTx/>
                <a:uFillTx/>
                <a:latin typeface="思源宋体 Heavy" panose="02020900000000000000" pitchFamily="18" charset="-122"/>
                <a:ea typeface="思源宋体 Heavy" panose="02020900000000000000" pitchFamily="18" charset="-122"/>
                <a:cs typeface="+mn-ea"/>
                <a:sym typeface="+mn-lt"/>
              </a:endParaRPr>
            </a:p>
          </p:txBody>
        </p:sp>
        <p:sp>
          <p:nvSpPr>
            <p:cNvPr id="21" name="Rectangle 5"/>
            <p:cNvSpPr>
              <a:spLocks noChangeArrowheads="1"/>
            </p:cNvSpPr>
            <p:nvPr/>
          </p:nvSpPr>
          <p:spPr bwMode="auto">
            <a:xfrm>
              <a:off x="4522787" y="2156879"/>
              <a:ext cx="3146425" cy="1993900"/>
            </a:xfrm>
            <a:prstGeom prst="rect">
              <a:avLst/>
            </a:prstGeom>
            <a:solidFill>
              <a:srgbClr val="203864"/>
            </a:solidFill>
            <a:ln>
              <a:noFill/>
            </a:ln>
            <a:effectLst/>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id-ID" altLang="en-US" sz="4400" b="0" i="0" u="none" strike="noStrike" kern="1200" cap="none" spc="0" normalizeH="0" baseline="0" noProof="0">
                <a:ln>
                  <a:noFill/>
                </a:ln>
                <a:solidFill>
                  <a:schemeClr val="bg1"/>
                </a:solidFill>
                <a:effectLst/>
                <a:uLnTx/>
                <a:uFillTx/>
                <a:latin typeface="思源宋体 Heavy" panose="02020900000000000000" pitchFamily="18" charset="-122"/>
                <a:ea typeface="思源宋体 Heavy" panose="02020900000000000000" pitchFamily="18" charset="-122"/>
                <a:cs typeface="+mn-ea"/>
                <a:sym typeface="+mn-lt"/>
              </a:endParaRPr>
            </a:p>
          </p:txBody>
        </p:sp>
        <p:sp>
          <p:nvSpPr>
            <p:cNvPr id="23" name="TextBox 13"/>
            <p:cNvSpPr txBox="1"/>
            <p:nvPr/>
          </p:nvSpPr>
          <p:spPr>
            <a:xfrm>
              <a:off x="4646612" y="2274354"/>
              <a:ext cx="2810510" cy="1993265"/>
            </a:xfrm>
            <a:prstGeom prst="rect">
              <a:avLst/>
            </a:prstGeom>
            <a:noFill/>
          </p:spPr>
          <p:txBody>
            <a:bodyPr wrap="square" lIns="0" tIns="0" rIns="0" bIns="0" rtlCol="0" anchor="t" anchorCtr="0">
              <a:noAutofit/>
            </a:bodyPr>
            <a:lstStyle/>
            <a:p>
              <a:pPr marL="0" marR="0" lvl="0" indent="0" algn="ctr" defTabSz="1216660" rtl="0" eaLnBrk="1" fontAlgn="auto" latinLnBrk="0" hangingPunct="1">
                <a:lnSpc>
                  <a:spcPct val="140000"/>
                </a:lnSpc>
                <a:spcBef>
                  <a:spcPct val="20000"/>
                </a:spcBef>
                <a:spcAft>
                  <a:spcPts val="0"/>
                </a:spcAft>
                <a:buClrTx/>
                <a:buSzTx/>
                <a:buFontTx/>
                <a:buNone/>
                <a:defRPr/>
              </a:pPr>
              <a:r>
                <a:rPr kumimoji="0" lang="zh-CN" altLang="en-US" sz="1400" b="1" i="0" u="none" strike="noStrike" kern="1200" cap="none" spc="0" normalizeH="0" baseline="0" noProof="0" dirty="0">
                  <a:ln>
                    <a:noFill/>
                  </a:ln>
                  <a:solidFill>
                    <a:schemeClr val="bg1"/>
                  </a:solidFill>
                  <a:effectLst/>
                  <a:uLnTx/>
                  <a:uFillTx/>
                  <a:latin typeface="思源宋体 Heavy" panose="02020900000000000000" pitchFamily="18" charset="-122"/>
                  <a:ea typeface="思源宋体 Heavy" panose="02020900000000000000" pitchFamily="18" charset="-122"/>
                  <a:cs typeface="+mn-ea"/>
                  <a:sym typeface="+mn-lt"/>
                </a:rPr>
                <a:t>安井食品以并购为核心引擎</a:t>
              </a:r>
              <a:r>
                <a:rPr kumimoji="0" lang="en-US" altLang="zh-CN" sz="1400" b="1" i="0" u="none" strike="noStrike" kern="1200" cap="none" spc="0" normalizeH="0" baseline="0" noProof="0" dirty="0">
                  <a:ln>
                    <a:noFill/>
                  </a:ln>
                  <a:solidFill>
                    <a:schemeClr val="bg1"/>
                  </a:solidFill>
                  <a:effectLst/>
                  <a:uLnTx/>
                  <a:uFillTx/>
                  <a:latin typeface="思源宋体 Heavy" panose="02020900000000000000" pitchFamily="18" charset="-122"/>
                  <a:ea typeface="思源宋体 Heavy" panose="02020900000000000000" pitchFamily="18" charset="-122"/>
                  <a:cs typeface="+mn-ea"/>
                  <a:sym typeface="+mn-lt"/>
                </a:rPr>
                <a:t>，</a:t>
              </a:r>
              <a:r>
                <a:rPr kumimoji="0" lang="zh-CN" altLang="en-US" sz="1400" b="1" i="0" u="none" strike="noStrike" kern="1200" cap="none" spc="0" normalizeH="0" baseline="0" noProof="0" dirty="0">
                  <a:ln>
                    <a:noFill/>
                  </a:ln>
                  <a:solidFill>
                    <a:schemeClr val="bg1"/>
                  </a:solidFill>
                  <a:effectLst/>
                  <a:uLnTx/>
                  <a:uFillTx/>
                  <a:latin typeface="思源宋体 Heavy" panose="02020900000000000000" pitchFamily="18" charset="-122"/>
                  <a:ea typeface="思源宋体 Heavy" panose="02020900000000000000" pitchFamily="18" charset="-122"/>
                  <a:cs typeface="+mn-ea"/>
                  <a:sym typeface="+mn-lt"/>
                </a:rPr>
                <a:t>在加速扩张中筑牢“速冻一哥”的行业地位</a:t>
              </a:r>
              <a:r>
                <a:rPr kumimoji="0" lang="en-US" altLang="zh-CN" sz="1400" b="1" i="0" u="none" strike="noStrike" kern="1200" cap="none" spc="0" normalizeH="0" baseline="0" noProof="0" dirty="0">
                  <a:ln>
                    <a:noFill/>
                  </a:ln>
                  <a:solidFill>
                    <a:schemeClr val="bg1"/>
                  </a:solidFill>
                  <a:effectLst/>
                  <a:uLnTx/>
                  <a:uFillTx/>
                  <a:latin typeface="思源宋体 Heavy" panose="02020900000000000000" pitchFamily="18" charset="-122"/>
                  <a:ea typeface="思源宋体 Heavy" panose="02020900000000000000" pitchFamily="18" charset="-122"/>
                  <a:cs typeface="+mn-ea"/>
                  <a:sym typeface="+mn-lt"/>
                </a:rPr>
                <a:t>，</a:t>
              </a:r>
              <a:r>
                <a:rPr kumimoji="0" lang="zh-CN" altLang="en-US" sz="1400" b="1" i="0" u="none" strike="noStrike" kern="1200" cap="none" spc="0" normalizeH="0" baseline="0" noProof="0" dirty="0">
                  <a:ln>
                    <a:noFill/>
                  </a:ln>
                  <a:solidFill>
                    <a:schemeClr val="bg1"/>
                  </a:solidFill>
                  <a:effectLst/>
                  <a:uLnTx/>
                  <a:uFillTx/>
                  <a:latin typeface="思源宋体 Heavy" panose="02020900000000000000" pitchFamily="18" charset="-122"/>
                  <a:ea typeface="思源宋体 Heavy" panose="02020900000000000000" pitchFamily="18" charset="-122"/>
                  <a:cs typeface="+mn-ea"/>
                  <a:sym typeface="+mn-lt"/>
                </a:rPr>
                <a:t>通过收购新宏业</a:t>
              </a:r>
              <a:r>
                <a:rPr kumimoji="0" lang="en-US" altLang="zh-CN" sz="1400" b="1" i="0" u="none" strike="noStrike" kern="1200" cap="none" spc="0" normalizeH="0" baseline="0" noProof="0" dirty="0">
                  <a:ln>
                    <a:noFill/>
                  </a:ln>
                  <a:solidFill>
                    <a:schemeClr val="bg1"/>
                  </a:solidFill>
                  <a:effectLst/>
                  <a:uLnTx/>
                  <a:uFillTx/>
                  <a:latin typeface="思源宋体 Heavy" panose="02020900000000000000" pitchFamily="18" charset="-122"/>
                  <a:ea typeface="思源宋体 Heavy" panose="02020900000000000000" pitchFamily="18" charset="-122"/>
                  <a:cs typeface="+mn-ea"/>
                  <a:sym typeface="+mn-lt"/>
                </a:rPr>
                <a:t>，</a:t>
              </a:r>
              <a:r>
                <a:rPr kumimoji="0" lang="zh-CN" altLang="en-US" sz="1400" b="1" i="0" u="none" strike="noStrike" kern="1200" cap="none" spc="0" normalizeH="0" baseline="0" noProof="0" dirty="0">
                  <a:ln>
                    <a:noFill/>
                  </a:ln>
                  <a:solidFill>
                    <a:schemeClr val="bg1"/>
                  </a:solidFill>
                  <a:effectLst/>
                  <a:uLnTx/>
                  <a:uFillTx/>
                  <a:latin typeface="思源宋体 Heavy" panose="02020900000000000000" pitchFamily="18" charset="-122"/>
                  <a:ea typeface="思源宋体 Heavy" panose="02020900000000000000" pitchFamily="18" charset="-122"/>
                  <a:cs typeface="+mn-ea"/>
                  <a:sym typeface="+mn-lt"/>
                </a:rPr>
                <a:t>能够进一步放大“销地产”模式的成本优势</a:t>
              </a:r>
              <a:r>
                <a:rPr kumimoji="0" lang="en-US" altLang="zh-CN" sz="1400" b="1" i="0" u="none" strike="noStrike" kern="1200" cap="none" spc="0" normalizeH="0" baseline="0" noProof="0" dirty="0">
                  <a:ln>
                    <a:noFill/>
                  </a:ln>
                  <a:solidFill>
                    <a:schemeClr val="bg1"/>
                  </a:solidFill>
                  <a:effectLst/>
                  <a:uLnTx/>
                  <a:uFillTx/>
                  <a:latin typeface="思源宋体 Heavy" panose="02020900000000000000" pitchFamily="18" charset="-122"/>
                  <a:ea typeface="思源宋体 Heavy" panose="02020900000000000000" pitchFamily="18" charset="-122"/>
                  <a:cs typeface="+mn-ea"/>
                  <a:sym typeface="+mn-lt"/>
                </a:rPr>
                <a:t>，</a:t>
              </a:r>
              <a:r>
                <a:rPr kumimoji="0" lang="zh-CN" altLang="en-US" sz="1400" b="1" i="0" u="none" strike="noStrike" kern="1200" cap="none" spc="0" normalizeH="0" baseline="0" noProof="0" dirty="0">
                  <a:ln>
                    <a:noFill/>
                  </a:ln>
                  <a:solidFill>
                    <a:schemeClr val="bg1"/>
                  </a:solidFill>
                  <a:effectLst/>
                  <a:uLnTx/>
                  <a:uFillTx/>
                  <a:latin typeface="思源宋体 Heavy" panose="02020900000000000000" pitchFamily="18" charset="-122"/>
                  <a:ea typeface="思源宋体 Heavy" panose="02020900000000000000" pitchFamily="18" charset="-122"/>
                  <a:cs typeface="+mn-ea"/>
                  <a:sym typeface="+mn-lt"/>
                </a:rPr>
                <a:t>在竞争激烈的速冻品市场中提升集中度</a:t>
              </a:r>
              <a:r>
                <a:rPr kumimoji="0" lang="en-US" altLang="zh-CN" sz="1400" b="1" i="0" u="none" strike="noStrike" kern="1200" cap="none" spc="0" normalizeH="0" baseline="0" noProof="0" dirty="0">
                  <a:ln>
                    <a:noFill/>
                  </a:ln>
                  <a:solidFill>
                    <a:schemeClr val="bg1"/>
                  </a:solidFill>
                  <a:effectLst/>
                  <a:uLnTx/>
                  <a:uFillTx/>
                  <a:latin typeface="思源宋体 Heavy" panose="02020900000000000000" pitchFamily="18" charset="-122"/>
                  <a:ea typeface="思源宋体 Heavy" panose="02020900000000000000" pitchFamily="18" charset="-122"/>
                  <a:cs typeface="+mn-ea"/>
                  <a:sym typeface="+mn-lt"/>
                </a:rPr>
                <a:t>，</a:t>
              </a:r>
              <a:r>
                <a:rPr kumimoji="0" lang="zh-CN" altLang="en-US" sz="1400" b="1" i="0" u="none" strike="noStrike" kern="1200" cap="none" spc="0" normalizeH="0" baseline="0" noProof="0" dirty="0">
                  <a:ln>
                    <a:noFill/>
                  </a:ln>
                  <a:solidFill>
                    <a:schemeClr val="bg1"/>
                  </a:solidFill>
                  <a:effectLst/>
                  <a:uLnTx/>
                  <a:uFillTx/>
                  <a:latin typeface="思源宋体 Heavy" panose="02020900000000000000" pitchFamily="18" charset="-122"/>
                  <a:ea typeface="思源宋体 Heavy" panose="02020900000000000000" pitchFamily="18" charset="-122"/>
                  <a:cs typeface="+mn-ea"/>
                  <a:sym typeface="+mn-lt"/>
                </a:rPr>
                <a:t>强化竞争壁垒</a:t>
              </a:r>
              <a:r>
                <a:rPr kumimoji="0" lang="en-US" altLang="zh-CN" sz="2000" b="1" i="0" u="none" strike="noStrike" kern="1200" cap="none" spc="0" normalizeH="0" baseline="0" noProof="0" dirty="0">
                  <a:ln>
                    <a:noFill/>
                  </a:ln>
                  <a:solidFill>
                    <a:schemeClr val="bg1"/>
                  </a:solidFill>
                  <a:effectLst/>
                  <a:uLnTx/>
                  <a:uFillTx/>
                  <a:latin typeface="思源宋体 Heavy" panose="02020900000000000000" pitchFamily="18" charset="-122"/>
                  <a:ea typeface="思源宋体 Heavy" panose="02020900000000000000" pitchFamily="18" charset="-122"/>
                  <a:cs typeface="+mn-ea"/>
                  <a:sym typeface="+mn-lt"/>
                </a:rPr>
                <a:t>。</a:t>
              </a:r>
              <a:endParaRPr kumimoji="0" lang="en-US" altLang="zh-CN" sz="2000" b="1" i="0" u="none" strike="noStrike" kern="1200" cap="none" spc="0" normalizeH="0" baseline="0" noProof="0" dirty="0">
                <a:ln>
                  <a:noFill/>
                </a:ln>
                <a:solidFill>
                  <a:schemeClr val="bg1"/>
                </a:solidFill>
                <a:effectLst/>
                <a:uLnTx/>
                <a:uFillTx/>
                <a:latin typeface="思源宋体 Heavy" panose="02020900000000000000" pitchFamily="18" charset="-122"/>
                <a:ea typeface="思源宋体 Heavy" panose="02020900000000000000" pitchFamily="18" charset="-122"/>
                <a:cs typeface="+mn-ea"/>
                <a:sym typeface="+mn-lt"/>
              </a:endParaRPr>
            </a:p>
          </p:txBody>
        </p:sp>
      </p:grpSp>
      <p:sp>
        <p:nvSpPr>
          <p:cNvPr id="24" name="TextBox 13"/>
          <p:cNvSpPr txBox="1"/>
          <p:nvPr/>
        </p:nvSpPr>
        <p:spPr>
          <a:xfrm>
            <a:off x="1392555" y="4283710"/>
            <a:ext cx="2515235" cy="656590"/>
          </a:xfrm>
          <a:prstGeom prst="rect">
            <a:avLst/>
          </a:prstGeom>
          <a:noFill/>
          <a:effectLst/>
        </p:spPr>
        <p:txBody>
          <a:bodyPr wrap="square" lIns="0" tIns="0" rIns="0" bIns="0" rtlCol="0" anchor="t" anchorCtr="0">
            <a:noAutofit/>
          </a:bodyPr>
          <a:lstStyle/>
          <a:p>
            <a:pPr lvl="0" defTabSz="1216660">
              <a:lnSpc>
                <a:spcPct val="120000"/>
              </a:lnSpc>
              <a:spcBef>
                <a:spcPct val="20000"/>
              </a:spcBef>
              <a:defRPr/>
            </a:pPr>
            <a:r>
              <a:rPr lang="zh-CN" altLang="en-US" dirty="0">
                <a:latin typeface="思源黑体 CN Heavy" panose="020B0A00000000000000" pitchFamily="34" charset="-122"/>
                <a:ea typeface="思源黑体 CN Heavy" panose="020B0A00000000000000" pitchFamily="34" charset="-122"/>
                <a:cs typeface="+mn-ea"/>
                <a:sym typeface="Calibri" panose="020F0502020204030204" pitchFamily="34" charset="0"/>
              </a:rPr>
              <a:t>追求并购协同效应发展</a:t>
            </a:r>
            <a:endParaRPr kumimoji="0" lang="zh-CN" altLang="en-US" b="0" i="0" u="none" strike="noStrike" kern="1200" cap="none" spc="0" normalizeH="0" baseline="0" noProof="0" dirty="0">
              <a:ln>
                <a:noFill/>
              </a:ln>
              <a:effectLst/>
              <a:uLnTx/>
              <a:uFillTx/>
              <a:latin typeface="思源黑体 CN Heavy" panose="020B0A00000000000000" pitchFamily="34" charset="-122"/>
              <a:ea typeface="思源黑体 CN Heavy" panose="020B0A00000000000000" pitchFamily="34" charset="-122"/>
              <a:cs typeface="+mn-ea"/>
              <a:sym typeface="Calibri" panose="020F0502020204030204" pitchFamily="34" charset="0"/>
            </a:endParaRPr>
          </a:p>
        </p:txBody>
      </p:sp>
      <p:sp>
        <p:nvSpPr>
          <p:cNvPr id="25" name="TextBox 13"/>
          <p:cNvSpPr txBox="1"/>
          <p:nvPr/>
        </p:nvSpPr>
        <p:spPr>
          <a:xfrm>
            <a:off x="4941570" y="4283710"/>
            <a:ext cx="2411730" cy="332105"/>
          </a:xfrm>
          <a:prstGeom prst="rect">
            <a:avLst/>
          </a:prstGeom>
          <a:noFill/>
          <a:effectLst/>
        </p:spPr>
        <p:txBody>
          <a:bodyPr wrap="square" lIns="0" tIns="0" rIns="0" bIns="0" rtlCol="0" anchor="t" anchorCtr="0">
            <a:spAutoFit/>
          </a:bodyPr>
          <a:lstStyle/>
          <a:p>
            <a:pPr marL="0" marR="0" lvl="0" indent="0" algn="l" defTabSz="1216660" rtl="0" eaLnBrk="1" fontAlgn="auto" latinLnBrk="0" hangingPunct="1">
              <a:lnSpc>
                <a:spcPct val="120000"/>
              </a:lnSpc>
              <a:spcBef>
                <a:spcPct val="20000"/>
              </a:spcBef>
              <a:spcAft>
                <a:spcPts val="0"/>
              </a:spcAft>
              <a:buClrTx/>
              <a:buSzTx/>
              <a:buFontTx/>
              <a:buNone/>
              <a:defRPr/>
            </a:pPr>
            <a:r>
              <a:rPr lang="zh-CN" altLang="en-US" dirty="0">
                <a:latin typeface="思源黑体 CN Heavy" panose="020B0A00000000000000" pitchFamily="34" charset="-122"/>
                <a:ea typeface="思源黑体 CN Heavy" panose="020B0A00000000000000" pitchFamily="34" charset="-122"/>
                <a:cs typeface="+mn-ea"/>
                <a:sym typeface="Calibri" panose="020F0502020204030204" pitchFamily="34" charset="0"/>
              </a:rPr>
              <a:t>加速扩张稳固市场地位</a:t>
            </a:r>
            <a:endParaRPr kumimoji="0" lang="zh-CN" altLang="en-US" b="0" i="0" u="none" strike="noStrike" kern="1200" cap="none" spc="0" normalizeH="0" baseline="0" noProof="0" dirty="0">
              <a:ln>
                <a:noFill/>
              </a:ln>
              <a:effectLst/>
              <a:uLnTx/>
              <a:uFillTx/>
              <a:latin typeface="思源黑体 CN Heavy" panose="020B0A00000000000000" pitchFamily="34" charset="-122"/>
              <a:ea typeface="思源黑体 CN Heavy" panose="020B0A00000000000000" pitchFamily="34" charset="-122"/>
              <a:cs typeface="+mn-ea"/>
              <a:sym typeface="Calibri" panose="020F0502020204030204" pitchFamily="34" charset="0"/>
            </a:endParaRPr>
          </a:p>
        </p:txBody>
      </p:sp>
      <p:sp>
        <p:nvSpPr>
          <p:cNvPr id="26" name="TextBox 13"/>
          <p:cNvSpPr txBox="1"/>
          <p:nvPr/>
        </p:nvSpPr>
        <p:spPr>
          <a:xfrm>
            <a:off x="8386990" y="4283848"/>
            <a:ext cx="2197389" cy="332105"/>
          </a:xfrm>
          <a:prstGeom prst="rect">
            <a:avLst/>
          </a:prstGeom>
          <a:noFill/>
          <a:effectLst/>
        </p:spPr>
        <p:txBody>
          <a:bodyPr wrap="square" lIns="0" tIns="0" rIns="0" bIns="0" rtlCol="0" anchor="t" anchorCtr="0">
            <a:spAutoFit/>
          </a:bodyPr>
          <a:lstStyle/>
          <a:p>
            <a:pPr marL="0" marR="0" lvl="0" indent="0" algn="l" defTabSz="1216660" rtl="0" eaLnBrk="1" fontAlgn="auto" latinLnBrk="0" hangingPunct="1">
              <a:lnSpc>
                <a:spcPct val="120000"/>
              </a:lnSpc>
              <a:spcBef>
                <a:spcPct val="20000"/>
              </a:spcBef>
              <a:spcAft>
                <a:spcPts val="0"/>
              </a:spcAft>
              <a:buClrTx/>
              <a:buSzTx/>
              <a:buFontTx/>
              <a:buNone/>
              <a:defRPr/>
            </a:pPr>
            <a:r>
              <a:rPr lang="zh-CN" altLang="en-US" dirty="0">
                <a:latin typeface="思源黑体 CN Heavy" panose="020B0A00000000000000" pitchFamily="34" charset="-122"/>
                <a:ea typeface="思源黑体 CN Heavy" panose="020B0A00000000000000" pitchFamily="34" charset="-122"/>
                <a:cs typeface="+mn-ea"/>
                <a:sym typeface="Calibri" panose="020F0502020204030204" pitchFamily="34" charset="0"/>
              </a:rPr>
              <a:t>推动多元化经营</a:t>
            </a:r>
            <a:endParaRPr kumimoji="0" lang="en-US" altLang="zh-CN" sz="1200" b="0" i="0" u="none" strike="noStrike" kern="1200" cap="none" spc="0" normalizeH="0" baseline="0" noProof="0" dirty="0">
              <a:ln>
                <a:noFill/>
              </a:ln>
              <a:effectLst/>
              <a:uLnTx/>
              <a:uFillTx/>
              <a:latin typeface="思源黑体 CN Normal" panose="020B0400000000000000" pitchFamily="34" charset="-122"/>
              <a:ea typeface="思源黑体 CN Normal" panose="020B0400000000000000" pitchFamily="34" charset="-122"/>
              <a:cs typeface="+mn-cs"/>
            </a:endParaRPr>
          </a:p>
        </p:txBody>
      </p:sp>
    </p:spTree>
  </p:cSld>
  <p:clrMapOvr>
    <a:masterClrMapping/>
  </p:clrMapOvr>
  <p:transition spd="med" advTm="3000">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1000"/>
                                        <p:tgtEl>
                                          <p:spTgt spid="12"/>
                                        </p:tgtEl>
                                      </p:cBhvr>
                                    </p:animEffect>
                                    <p:anim calcmode="lin" valueType="num">
                                      <p:cBhvr>
                                        <p:cTn id="13" dur="1000" fill="hold"/>
                                        <p:tgtEl>
                                          <p:spTgt spid="12"/>
                                        </p:tgtEl>
                                        <p:attrNameLst>
                                          <p:attrName>ppt_x</p:attrName>
                                        </p:attrNameLst>
                                      </p:cBhvr>
                                      <p:tavLst>
                                        <p:tav tm="0">
                                          <p:val>
                                            <p:strVal val="#ppt_x"/>
                                          </p:val>
                                        </p:tav>
                                        <p:tav tm="100000">
                                          <p:val>
                                            <p:strVal val="#ppt_x"/>
                                          </p:val>
                                        </p:tav>
                                      </p:tavLst>
                                    </p:anim>
                                    <p:anim calcmode="lin" valueType="num">
                                      <p:cBhvr>
                                        <p:cTn id="14" dur="1000" fill="hold"/>
                                        <p:tgtEl>
                                          <p:spTgt spid="12"/>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1000"/>
                                        <p:tgtEl>
                                          <p:spTgt spid="18"/>
                                        </p:tgtEl>
                                      </p:cBhvr>
                                    </p:animEffect>
                                    <p:anim calcmode="lin" valueType="num">
                                      <p:cBhvr>
                                        <p:cTn id="18" dur="1000" fill="hold"/>
                                        <p:tgtEl>
                                          <p:spTgt spid="18"/>
                                        </p:tgtEl>
                                        <p:attrNameLst>
                                          <p:attrName>ppt_x</p:attrName>
                                        </p:attrNameLst>
                                      </p:cBhvr>
                                      <p:tavLst>
                                        <p:tav tm="0">
                                          <p:val>
                                            <p:strVal val="#ppt_x"/>
                                          </p:val>
                                        </p:tav>
                                        <p:tav tm="100000">
                                          <p:val>
                                            <p:strVal val="#ppt_x"/>
                                          </p:val>
                                        </p:tav>
                                      </p:tavLst>
                                    </p:anim>
                                    <p:anim calcmode="lin" valueType="num">
                                      <p:cBhvr>
                                        <p:cTn id="19" dur="1000" fill="hold"/>
                                        <p:tgtEl>
                                          <p:spTgt spid="18"/>
                                        </p:tgtEl>
                                        <p:attrNameLst>
                                          <p:attrName>ppt_y</p:attrName>
                                        </p:attrNameLst>
                                      </p:cBhvr>
                                      <p:tavLst>
                                        <p:tav tm="0">
                                          <p:val>
                                            <p:strVal val="#ppt_y+.1"/>
                                          </p:val>
                                        </p:tav>
                                        <p:tav tm="100000">
                                          <p:val>
                                            <p:strVal val="#ppt_y"/>
                                          </p:val>
                                        </p:tav>
                                      </p:tavLst>
                                    </p:anim>
                                  </p:childTnLst>
                                </p:cTn>
                              </p:par>
                              <p:par>
                                <p:cTn id="20" presetID="47" presetClass="entr" presetSubtype="0" fill="hold" grpId="0" nodeType="with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1000"/>
                                        <p:tgtEl>
                                          <p:spTgt spid="24"/>
                                        </p:tgtEl>
                                      </p:cBhvr>
                                    </p:animEffect>
                                    <p:anim calcmode="lin" valueType="num">
                                      <p:cBhvr>
                                        <p:cTn id="23" dur="1000" fill="hold"/>
                                        <p:tgtEl>
                                          <p:spTgt spid="24"/>
                                        </p:tgtEl>
                                        <p:attrNameLst>
                                          <p:attrName>ppt_x</p:attrName>
                                        </p:attrNameLst>
                                      </p:cBhvr>
                                      <p:tavLst>
                                        <p:tav tm="0">
                                          <p:val>
                                            <p:strVal val="#ppt_x"/>
                                          </p:val>
                                        </p:tav>
                                        <p:tav tm="100000">
                                          <p:val>
                                            <p:strVal val="#ppt_x"/>
                                          </p:val>
                                        </p:tav>
                                      </p:tavLst>
                                    </p:anim>
                                    <p:anim calcmode="lin" valueType="num">
                                      <p:cBhvr>
                                        <p:cTn id="24" dur="1000" fill="hold"/>
                                        <p:tgtEl>
                                          <p:spTgt spid="24"/>
                                        </p:tgtEl>
                                        <p:attrNameLst>
                                          <p:attrName>ppt_y</p:attrName>
                                        </p:attrNameLst>
                                      </p:cBhvr>
                                      <p:tavLst>
                                        <p:tav tm="0">
                                          <p:val>
                                            <p:strVal val="#ppt_y-.1"/>
                                          </p:val>
                                        </p:tav>
                                        <p:tav tm="100000">
                                          <p:val>
                                            <p:strVal val="#ppt_y"/>
                                          </p:val>
                                        </p:tav>
                                      </p:tavLst>
                                    </p:anim>
                                  </p:childTnLst>
                                </p:cTn>
                              </p:par>
                              <p:par>
                                <p:cTn id="25" presetID="47" presetClass="entr" presetSubtype="0" fill="hold" grpId="0" nodeType="with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fade">
                                      <p:cBhvr>
                                        <p:cTn id="27" dur="1000"/>
                                        <p:tgtEl>
                                          <p:spTgt spid="25"/>
                                        </p:tgtEl>
                                      </p:cBhvr>
                                    </p:animEffect>
                                    <p:anim calcmode="lin" valueType="num">
                                      <p:cBhvr>
                                        <p:cTn id="28" dur="1000" fill="hold"/>
                                        <p:tgtEl>
                                          <p:spTgt spid="25"/>
                                        </p:tgtEl>
                                        <p:attrNameLst>
                                          <p:attrName>ppt_x</p:attrName>
                                        </p:attrNameLst>
                                      </p:cBhvr>
                                      <p:tavLst>
                                        <p:tav tm="0">
                                          <p:val>
                                            <p:strVal val="#ppt_x"/>
                                          </p:val>
                                        </p:tav>
                                        <p:tav tm="100000">
                                          <p:val>
                                            <p:strVal val="#ppt_x"/>
                                          </p:val>
                                        </p:tav>
                                      </p:tavLst>
                                    </p:anim>
                                    <p:anim calcmode="lin" valueType="num">
                                      <p:cBhvr>
                                        <p:cTn id="29" dur="1000" fill="hold"/>
                                        <p:tgtEl>
                                          <p:spTgt spid="25"/>
                                        </p:tgtEl>
                                        <p:attrNameLst>
                                          <p:attrName>ppt_y</p:attrName>
                                        </p:attrNameLst>
                                      </p:cBhvr>
                                      <p:tavLst>
                                        <p:tav tm="0">
                                          <p:val>
                                            <p:strVal val="#ppt_y-.1"/>
                                          </p:val>
                                        </p:tav>
                                        <p:tav tm="100000">
                                          <p:val>
                                            <p:strVal val="#ppt_y"/>
                                          </p:val>
                                        </p:tav>
                                      </p:tavLst>
                                    </p:anim>
                                  </p:childTnLst>
                                </p:cTn>
                              </p:par>
                              <p:par>
                                <p:cTn id="30" presetID="47" presetClass="entr" presetSubtype="0" fill="hold" grpId="0" nodeType="with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fade">
                                      <p:cBhvr>
                                        <p:cTn id="32" dur="1000"/>
                                        <p:tgtEl>
                                          <p:spTgt spid="26"/>
                                        </p:tgtEl>
                                      </p:cBhvr>
                                    </p:animEffect>
                                    <p:anim calcmode="lin" valueType="num">
                                      <p:cBhvr>
                                        <p:cTn id="33" dur="1000" fill="hold"/>
                                        <p:tgtEl>
                                          <p:spTgt spid="26"/>
                                        </p:tgtEl>
                                        <p:attrNameLst>
                                          <p:attrName>ppt_x</p:attrName>
                                        </p:attrNameLst>
                                      </p:cBhvr>
                                      <p:tavLst>
                                        <p:tav tm="0">
                                          <p:val>
                                            <p:strVal val="#ppt_x"/>
                                          </p:val>
                                        </p:tav>
                                        <p:tav tm="100000">
                                          <p:val>
                                            <p:strVal val="#ppt_x"/>
                                          </p:val>
                                        </p:tav>
                                      </p:tavLst>
                                    </p:anim>
                                    <p:anim calcmode="lin" valueType="num">
                                      <p:cBhvr>
                                        <p:cTn id="34"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bldLvl="0" animBg="1"/>
      <p:bldP spid="25" grpId="0" bldLvl="0" animBg="1"/>
      <p:bldP spid="26" grpId="0" bldLvl="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171196" y="2097742"/>
            <a:ext cx="9849608" cy="2432970"/>
            <a:chOff x="1115735" y="587229"/>
            <a:chExt cx="9925879" cy="6091095"/>
          </a:xfrm>
        </p:grpSpPr>
        <p:sp>
          <p:nvSpPr>
            <p:cNvPr id="3" name="矩形 2"/>
            <p:cNvSpPr/>
            <p:nvPr/>
          </p:nvSpPr>
          <p:spPr>
            <a:xfrm>
              <a:off x="1115735" y="587229"/>
              <a:ext cx="9571839" cy="5410900"/>
            </a:xfrm>
            <a:prstGeom prst="rect">
              <a:avLst/>
            </a:prstGeom>
            <a:pattFill prst="wdDnDiag">
              <a:fgClr>
                <a:srgbClr val="203864"/>
              </a:fgClr>
              <a:bgClr>
                <a:schemeClr val="bg1"/>
              </a:bgClr>
            </a:patt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1469775" y="1267424"/>
              <a:ext cx="9571839" cy="5410900"/>
            </a:xfrm>
            <a:prstGeom prst="rect">
              <a:avLst/>
            </a:prstGeom>
            <a:solidFill>
              <a:schemeClr val="bg1"/>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5" name="文本框 4"/>
          <p:cNvSpPr txBox="1"/>
          <p:nvPr/>
        </p:nvSpPr>
        <p:spPr>
          <a:xfrm>
            <a:off x="2437130" y="3035300"/>
            <a:ext cx="8232140" cy="829945"/>
          </a:xfrm>
          <a:prstGeom prst="rect">
            <a:avLst/>
          </a:prstGeom>
          <a:noFill/>
        </p:spPr>
        <p:txBody>
          <a:bodyPr wrap="square" rtlCol="0">
            <a:spAutoFit/>
          </a:bodyPr>
          <a:lstStyle/>
          <a:p>
            <a:pPr algn="ctr"/>
            <a:r>
              <a:rPr lang="zh-CN" altLang="en-US" sz="4800" dirty="0">
                <a:latin typeface="思源宋体 Heavy" panose="02020900000000000000" pitchFamily="18" charset="-122"/>
                <a:ea typeface="思源宋体 Heavy" panose="02020900000000000000" pitchFamily="18" charset="-122"/>
              </a:rPr>
              <a:t>章叁  </a:t>
            </a:r>
            <a:r>
              <a:rPr lang="en-US" altLang="zh-CN" sz="4800" dirty="0">
                <a:latin typeface="思源宋体 Heavy" panose="02020900000000000000" pitchFamily="18" charset="-122"/>
                <a:ea typeface="思源宋体 Heavy" panose="02020900000000000000" pitchFamily="18" charset="-122"/>
              </a:rPr>
              <a:t>–  </a:t>
            </a:r>
            <a:r>
              <a:rPr lang="zh-CN" altLang="en-US" sz="4800" dirty="0">
                <a:latin typeface="思源宋体 Heavy" panose="02020900000000000000" pitchFamily="18" charset="-122"/>
                <a:ea typeface="思源宋体 Heavy" panose="02020900000000000000" pitchFamily="18" charset="-122"/>
              </a:rPr>
              <a:t>并购</a:t>
            </a:r>
            <a:r>
              <a:rPr lang="zh-CN" altLang="en-US" sz="4800" dirty="0">
                <a:latin typeface="思源宋体 Heavy" panose="02020900000000000000" pitchFamily="18" charset="-122"/>
                <a:ea typeface="思源宋体 Heavy" panose="02020900000000000000" pitchFamily="18" charset="-122"/>
              </a:rPr>
              <a:t>财务绩效分析</a:t>
            </a:r>
            <a:endParaRPr lang="zh-CN" altLang="en-US" sz="4800" dirty="0">
              <a:latin typeface="思源宋体 Heavy" panose="02020900000000000000" pitchFamily="18" charset="-122"/>
              <a:ea typeface="思源宋体 Heavy" panose="02020900000000000000" pitchFamily="18" charset="-122"/>
            </a:endParaRPr>
          </a:p>
        </p:txBody>
      </p:sp>
    </p:spTree>
  </p:cSld>
  <p:clrMapOvr>
    <a:masterClrMapping/>
  </p:clrMapOvr>
  <p:transition spd="med" advTm="3000">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47831" y="242047"/>
            <a:ext cx="1464428" cy="600634"/>
            <a:chOff x="1115735" y="587229"/>
            <a:chExt cx="10176791" cy="6547926"/>
          </a:xfrm>
        </p:grpSpPr>
        <p:sp>
          <p:nvSpPr>
            <p:cNvPr id="3" name="矩形 2"/>
            <p:cNvSpPr/>
            <p:nvPr/>
          </p:nvSpPr>
          <p:spPr>
            <a:xfrm>
              <a:off x="1115735" y="587229"/>
              <a:ext cx="9571839" cy="5410900"/>
            </a:xfrm>
            <a:prstGeom prst="rect">
              <a:avLst/>
            </a:prstGeom>
            <a:pattFill prst="wdDnDiag">
              <a:fgClr>
                <a:srgbClr val="203864"/>
              </a:fgClr>
              <a:bgClr>
                <a:schemeClr val="bg1"/>
              </a:bgClr>
            </a:patt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1720688" y="1724252"/>
              <a:ext cx="9571838" cy="5410903"/>
            </a:xfrm>
            <a:prstGeom prst="rect">
              <a:avLst/>
            </a:prstGeom>
            <a:solidFill>
              <a:schemeClr val="bg1"/>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5" name="文本框 4"/>
          <p:cNvSpPr txBox="1"/>
          <p:nvPr/>
        </p:nvSpPr>
        <p:spPr>
          <a:xfrm>
            <a:off x="376518" y="409847"/>
            <a:ext cx="1335741" cy="368300"/>
          </a:xfrm>
          <a:prstGeom prst="rect">
            <a:avLst/>
          </a:prstGeom>
          <a:noFill/>
        </p:spPr>
        <p:txBody>
          <a:bodyPr wrap="square" rtlCol="0">
            <a:spAutoFit/>
          </a:bodyPr>
          <a:lstStyle/>
          <a:p>
            <a:pPr algn="ctr"/>
            <a:r>
              <a:rPr lang="zh-CN" altLang="en-US" dirty="0">
                <a:latin typeface="思源黑体 CN Bold" panose="020B0800000000000000" pitchFamily="34" charset="-122"/>
                <a:ea typeface="思源黑体 CN Bold" panose="020B0800000000000000" pitchFamily="34" charset="-122"/>
              </a:rPr>
              <a:t>偿债能力</a:t>
            </a:r>
            <a:endParaRPr lang="zh-CN" altLang="en-US" dirty="0">
              <a:latin typeface="思源黑体 CN Bold" panose="020B0800000000000000" pitchFamily="34" charset="-122"/>
              <a:ea typeface="思源黑体 CN Bold" panose="020B0800000000000000" pitchFamily="34" charset="-122"/>
            </a:endParaRPr>
          </a:p>
        </p:txBody>
      </p:sp>
      <p:grpSp>
        <p:nvGrpSpPr>
          <p:cNvPr id="8" name="组合 7"/>
          <p:cNvGrpSpPr/>
          <p:nvPr/>
        </p:nvGrpSpPr>
        <p:grpSpPr>
          <a:xfrm>
            <a:off x="6890734" y="1810569"/>
            <a:ext cx="4027559" cy="924811"/>
            <a:chOff x="1107347" y="1456019"/>
            <a:chExt cx="4027559" cy="924811"/>
          </a:xfrm>
        </p:grpSpPr>
        <p:sp>
          <p:nvSpPr>
            <p:cNvPr id="9" name="矩形 8"/>
            <p:cNvSpPr/>
            <p:nvPr/>
          </p:nvSpPr>
          <p:spPr>
            <a:xfrm flipH="1">
              <a:off x="1107347" y="1551963"/>
              <a:ext cx="117446" cy="771787"/>
            </a:xfrm>
            <a:prstGeom prst="rect">
              <a:avLst/>
            </a:prstGeom>
            <a:solidFill>
              <a:srgbClr val="1432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0" name="išľïdè"/>
            <p:cNvSpPr/>
            <p:nvPr/>
          </p:nvSpPr>
          <p:spPr bwMode="auto">
            <a:xfrm>
              <a:off x="1224793" y="1456019"/>
              <a:ext cx="3910113" cy="9248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algn="l" defTabSz="1216660" rtl="0" eaLnBrk="1" fontAlgn="auto" latinLnBrk="0" hangingPunct="1">
                <a:lnSpc>
                  <a:spcPct val="120000"/>
                </a:lnSpc>
                <a:spcBef>
                  <a:spcPct val="2000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mn-ea"/>
                  <a:sym typeface="思源黑体 CN Medium" panose="020B0600000000000000" pitchFamily="34" charset="-122"/>
                </a:rPr>
                <a:t>流动比率速动比率</a:t>
              </a:r>
              <a:endParaRPr kumimoji="0" lang="zh-CN" altLang="en-US" sz="1800" b="1"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mn-ea"/>
                <a:sym typeface="思源黑体 CN Medium" panose="020B0600000000000000" pitchFamily="34" charset="-122"/>
              </a:endParaRPr>
            </a:p>
          </p:txBody>
        </p:sp>
      </p:grpSp>
      <p:grpSp>
        <p:nvGrpSpPr>
          <p:cNvPr id="11" name="组合 10"/>
          <p:cNvGrpSpPr/>
          <p:nvPr/>
        </p:nvGrpSpPr>
        <p:grpSpPr>
          <a:xfrm>
            <a:off x="6890734" y="3160605"/>
            <a:ext cx="4027559" cy="924811"/>
            <a:chOff x="1107347" y="1503644"/>
            <a:chExt cx="4027559" cy="924811"/>
          </a:xfrm>
        </p:grpSpPr>
        <p:sp>
          <p:nvSpPr>
            <p:cNvPr id="12" name="矩形 11"/>
            <p:cNvSpPr/>
            <p:nvPr/>
          </p:nvSpPr>
          <p:spPr>
            <a:xfrm flipH="1">
              <a:off x="1107347" y="1551963"/>
              <a:ext cx="117446" cy="771787"/>
            </a:xfrm>
            <a:prstGeom prst="rect">
              <a:avLst/>
            </a:prstGeom>
            <a:solidFill>
              <a:srgbClr val="1432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3" name="išľïdè"/>
            <p:cNvSpPr/>
            <p:nvPr/>
          </p:nvSpPr>
          <p:spPr bwMode="auto">
            <a:xfrm>
              <a:off x="1224793" y="1503644"/>
              <a:ext cx="3910113" cy="9248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1216660" rtl="0" eaLnBrk="1" fontAlgn="auto" latinLnBrk="0" hangingPunct="1">
                <a:lnSpc>
                  <a:spcPct val="120000"/>
                </a:lnSpc>
                <a:spcBef>
                  <a:spcPct val="2000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mn-ea"/>
                  <a:sym typeface="思源黑体 CN Medium" panose="020B0600000000000000" pitchFamily="34" charset="-122"/>
                </a:rPr>
                <a:t>比率标准值</a:t>
              </a:r>
              <a:endParaRPr kumimoji="0" lang="zh-CN" altLang="en-US" sz="1800" b="1"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mn-ea"/>
                <a:sym typeface="思源黑体 CN Medium" panose="020B0600000000000000" pitchFamily="34" charset="-122"/>
              </a:endParaRPr>
            </a:p>
            <a:p>
              <a:pPr marL="0" marR="0" lvl="0" indent="0" algn="l" defTabSz="1216660" rtl="0" eaLnBrk="1" fontAlgn="auto" latinLnBrk="0" hangingPunct="1">
                <a:lnSpc>
                  <a:spcPct val="120000"/>
                </a:lnSpc>
                <a:spcBef>
                  <a:spcPct val="2000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latin typeface="思源黑体 CN Light" panose="020B0300000000000000" pitchFamily="34" charset="-122"/>
                  <a:ea typeface="思源黑体 CN Light" panose="020B0300000000000000" pitchFamily="34" charset="-122"/>
                  <a:cs typeface="+mn-ea"/>
                  <a:sym typeface="思源黑体 CN Medium" panose="020B0600000000000000" pitchFamily="34" charset="-122"/>
                </a:rPr>
                <a:t>当比率标准值大于</a:t>
              </a:r>
              <a:r>
                <a:rPr kumimoji="0" lang="en-US" altLang="zh-CN" sz="1200" b="0" i="0" u="none" strike="noStrike" kern="1200" cap="none" spc="0" normalizeH="0" baseline="0" noProof="0" dirty="0">
                  <a:ln>
                    <a:noFill/>
                  </a:ln>
                  <a:solidFill>
                    <a:prstClr val="black"/>
                  </a:solidFill>
                  <a:effectLst/>
                  <a:uLnTx/>
                  <a:uFillTx/>
                  <a:latin typeface="思源黑体 CN Light" panose="020B0300000000000000" pitchFamily="34" charset="-122"/>
                  <a:ea typeface="思源黑体 CN Light" panose="020B0300000000000000" pitchFamily="34" charset="-122"/>
                  <a:cs typeface="+mn-ea"/>
                  <a:sym typeface="思源黑体 CN Medium" panose="020B0600000000000000" pitchFamily="34" charset="-122"/>
                </a:rPr>
                <a:t>1</a:t>
              </a:r>
              <a:r>
                <a:rPr kumimoji="0" lang="zh-CN" altLang="en-US" sz="1200" b="0" i="0" u="none" strike="noStrike" kern="1200" cap="none" spc="0" normalizeH="0" baseline="0" noProof="0" dirty="0">
                  <a:ln>
                    <a:noFill/>
                  </a:ln>
                  <a:solidFill>
                    <a:prstClr val="black"/>
                  </a:solidFill>
                  <a:effectLst/>
                  <a:uLnTx/>
                  <a:uFillTx/>
                  <a:latin typeface="思源黑体 CN Light" panose="020B0300000000000000" pitchFamily="34" charset="-122"/>
                  <a:ea typeface="思源黑体 CN Light" panose="020B0300000000000000" pitchFamily="34" charset="-122"/>
                  <a:cs typeface="+mn-ea"/>
                  <a:sym typeface="思源黑体 CN Medium" panose="020B0600000000000000" pitchFamily="34" charset="-122"/>
                </a:rPr>
                <a:t>时</a:t>
              </a:r>
              <a:r>
                <a:rPr kumimoji="0" lang="en-US" altLang="zh-CN" sz="1200" b="0" i="0" u="none" strike="noStrike" kern="1200" cap="none" spc="0" normalizeH="0" baseline="0" noProof="0" dirty="0">
                  <a:ln>
                    <a:noFill/>
                  </a:ln>
                  <a:solidFill>
                    <a:prstClr val="black"/>
                  </a:solidFill>
                  <a:effectLst/>
                  <a:uLnTx/>
                  <a:uFillTx/>
                  <a:latin typeface="思源黑体 CN Light" panose="020B0300000000000000" pitchFamily="34" charset="-122"/>
                  <a:ea typeface="思源黑体 CN Light" panose="020B0300000000000000" pitchFamily="34" charset="-122"/>
                  <a:cs typeface="+mn-ea"/>
                  <a:sym typeface="思源黑体 CN Medium" panose="020B0600000000000000" pitchFamily="34" charset="-122"/>
                </a:rPr>
                <a:t>，</a:t>
              </a:r>
              <a:r>
                <a:rPr kumimoji="0" lang="zh-CN" altLang="en-US" sz="1200" b="0" i="0" u="none" strike="noStrike" kern="1200" cap="none" spc="0" normalizeH="0" baseline="0" noProof="0" dirty="0">
                  <a:ln>
                    <a:noFill/>
                  </a:ln>
                  <a:solidFill>
                    <a:prstClr val="black"/>
                  </a:solidFill>
                  <a:effectLst/>
                  <a:uLnTx/>
                  <a:uFillTx/>
                  <a:latin typeface="思源黑体 CN Light" panose="020B0300000000000000" pitchFamily="34" charset="-122"/>
                  <a:ea typeface="思源黑体 CN Light" panose="020B0300000000000000" pitchFamily="34" charset="-122"/>
                  <a:cs typeface="+mn-ea"/>
                  <a:sym typeface="思源黑体 CN Medium" panose="020B0600000000000000" pitchFamily="34" charset="-122"/>
                </a:rPr>
                <a:t>说明企业的流动资产</a:t>
              </a:r>
              <a:r>
                <a:rPr kumimoji="0" lang="en-US" altLang="zh-CN" sz="1200" b="0" i="0" u="none" strike="noStrike" kern="1200" cap="none" spc="0" normalizeH="0" baseline="0" noProof="0" dirty="0">
                  <a:ln>
                    <a:noFill/>
                  </a:ln>
                  <a:solidFill>
                    <a:prstClr val="black"/>
                  </a:solidFill>
                  <a:effectLst/>
                  <a:uLnTx/>
                  <a:uFillTx/>
                  <a:latin typeface="思源黑体 CN Light" panose="020B0300000000000000" pitchFamily="34" charset="-122"/>
                  <a:ea typeface="思源黑体 CN Light" panose="020B0300000000000000" pitchFamily="34" charset="-122"/>
                  <a:cs typeface="+mn-ea"/>
                  <a:sym typeface="思源黑体 CN Medium" panose="020B0600000000000000" pitchFamily="34" charset="-122"/>
                </a:rPr>
                <a:t>/</a:t>
              </a:r>
              <a:r>
                <a:rPr kumimoji="0" lang="zh-CN" altLang="en-US" sz="1200" b="0" i="0" u="none" strike="noStrike" kern="1200" cap="none" spc="0" normalizeH="0" baseline="0" noProof="0" dirty="0">
                  <a:ln>
                    <a:noFill/>
                  </a:ln>
                  <a:solidFill>
                    <a:prstClr val="black"/>
                  </a:solidFill>
                  <a:effectLst/>
                  <a:uLnTx/>
                  <a:uFillTx/>
                  <a:latin typeface="思源黑体 CN Light" panose="020B0300000000000000" pitchFamily="34" charset="-122"/>
                  <a:ea typeface="思源黑体 CN Light" panose="020B0300000000000000" pitchFamily="34" charset="-122"/>
                  <a:cs typeface="+mn-ea"/>
                  <a:sym typeface="思源黑体 CN Medium" panose="020B0600000000000000" pitchFamily="34" charset="-122"/>
                </a:rPr>
                <a:t>速动资产大于流动负债</a:t>
              </a:r>
              <a:r>
                <a:rPr kumimoji="0" lang="en-US" altLang="zh-CN" sz="1200" b="0" i="0" u="none" strike="noStrike" kern="1200" cap="none" spc="0" normalizeH="0" baseline="0" noProof="0" dirty="0">
                  <a:ln>
                    <a:noFill/>
                  </a:ln>
                  <a:solidFill>
                    <a:prstClr val="black"/>
                  </a:solidFill>
                  <a:effectLst/>
                  <a:uLnTx/>
                  <a:uFillTx/>
                  <a:latin typeface="思源黑体 CN Light" panose="020B0300000000000000" pitchFamily="34" charset="-122"/>
                  <a:ea typeface="思源黑体 CN Light" panose="020B0300000000000000" pitchFamily="34" charset="-122"/>
                  <a:cs typeface="+mn-ea"/>
                  <a:sym typeface="思源黑体 CN Medium" panose="020B0600000000000000" pitchFamily="34" charset="-122"/>
                </a:rPr>
                <a:t>，</a:t>
              </a:r>
              <a:r>
                <a:rPr kumimoji="0" lang="zh-CN" altLang="en-US" sz="1200" b="0" i="0" u="none" strike="noStrike" kern="1200" cap="none" spc="0" normalizeH="0" baseline="0" noProof="0" dirty="0">
                  <a:ln>
                    <a:noFill/>
                  </a:ln>
                  <a:solidFill>
                    <a:prstClr val="black"/>
                  </a:solidFill>
                  <a:effectLst/>
                  <a:uLnTx/>
                  <a:uFillTx/>
                  <a:latin typeface="思源黑体 CN Light" panose="020B0300000000000000" pitchFamily="34" charset="-122"/>
                  <a:ea typeface="思源黑体 CN Light" panose="020B0300000000000000" pitchFamily="34" charset="-122"/>
                  <a:cs typeface="+mn-ea"/>
                  <a:sym typeface="思源黑体 CN Medium" panose="020B0600000000000000" pitchFamily="34" charset="-122"/>
                </a:rPr>
                <a:t>则证明企业拥有足够能力去偿还债务</a:t>
              </a:r>
              <a:r>
                <a:rPr kumimoji="0" lang="en-US" altLang="zh-CN" sz="1200" b="0" i="0" u="none" strike="noStrike" kern="1200" cap="none" spc="0" normalizeH="0" baseline="0" noProof="0" dirty="0">
                  <a:ln>
                    <a:noFill/>
                  </a:ln>
                  <a:solidFill>
                    <a:prstClr val="black"/>
                  </a:solidFill>
                  <a:effectLst/>
                  <a:uLnTx/>
                  <a:uFillTx/>
                  <a:latin typeface="思源黑体 CN Light" panose="020B0300000000000000" pitchFamily="34" charset="-122"/>
                  <a:ea typeface="思源黑体 CN Light" panose="020B0300000000000000" pitchFamily="34" charset="-122"/>
                  <a:cs typeface="+mn-ea"/>
                  <a:sym typeface="思源黑体 CN Medium" panose="020B0600000000000000" pitchFamily="34" charset="-122"/>
                </a:rPr>
                <a:t>。</a:t>
              </a:r>
              <a:endParaRPr kumimoji="0" lang="en-US" altLang="zh-CN" sz="1200" b="0" i="0" u="none" strike="noStrike" kern="1200" cap="none" spc="0" normalizeH="0" baseline="0" noProof="0" dirty="0">
                <a:ln>
                  <a:noFill/>
                </a:ln>
                <a:solidFill>
                  <a:prstClr val="black"/>
                </a:solidFill>
                <a:effectLst/>
                <a:uLnTx/>
                <a:uFillTx/>
                <a:latin typeface="思源黑体 CN Light" panose="020B0300000000000000" pitchFamily="34" charset="-122"/>
                <a:ea typeface="思源黑体 CN Light" panose="020B0300000000000000" pitchFamily="34" charset="-122"/>
                <a:cs typeface="+mn-ea"/>
                <a:sym typeface="思源黑体 CN Medium" panose="020B0600000000000000" pitchFamily="34" charset="-122"/>
              </a:endParaRPr>
            </a:p>
          </p:txBody>
        </p:sp>
      </p:grpSp>
      <p:grpSp>
        <p:nvGrpSpPr>
          <p:cNvPr id="14" name="组合 13"/>
          <p:cNvGrpSpPr/>
          <p:nvPr/>
        </p:nvGrpSpPr>
        <p:grpSpPr>
          <a:xfrm>
            <a:off x="6890734" y="4510641"/>
            <a:ext cx="4027805" cy="1042035"/>
            <a:chOff x="1107347" y="1503644"/>
            <a:chExt cx="4027805" cy="1042035"/>
          </a:xfrm>
        </p:grpSpPr>
        <p:sp>
          <p:nvSpPr>
            <p:cNvPr id="15" name="矩形 14"/>
            <p:cNvSpPr/>
            <p:nvPr/>
          </p:nvSpPr>
          <p:spPr>
            <a:xfrm flipH="1">
              <a:off x="1107347" y="1551963"/>
              <a:ext cx="117446" cy="771787"/>
            </a:xfrm>
            <a:prstGeom prst="rect">
              <a:avLst/>
            </a:prstGeom>
            <a:solidFill>
              <a:srgbClr val="1432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6" name="išľïdè"/>
            <p:cNvSpPr/>
            <p:nvPr/>
          </p:nvSpPr>
          <p:spPr bwMode="auto">
            <a:xfrm>
              <a:off x="1224822" y="1503644"/>
              <a:ext cx="3910330" cy="1042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fontScale="8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1216660" rtl="0" eaLnBrk="1" fontAlgn="auto" latinLnBrk="0" hangingPunct="1">
                <a:lnSpc>
                  <a:spcPct val="120000"/>
                </a:lnSpc>
                <a:spcBef>
                  <a:spcPct val="20000"/>
                </a:spcBef>
                <a:spcAft>
                  <a:spcPts val="0"/>
                </a:spcAft>
                <a:buClrTx/>
                <a:buSzTx/>
                <a:buFontTx/>
                <a:buNone/>
                <a:defRPr/>
              </a:pPr>
              <a:r>
                <a:rPr kumimoji="0" lang="zh-CN" altLang="en-US" sz="2000" b="1"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mn-ea"/>
                  <a:sym typeface="思源黑体 CN Medium" panose="020B0600000000000000" pitchFamily="34" charset="-122"/>
                </a:rPr>
                <a:t>安井食品数值分析</a:t>
              </a:r>
              <a:endParaRPr kumimoji="0" lang="zh-CN" altLang="en-US" sz="2000" b="1"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mn-ea"/>
                <a:sym typeface="思源黑体 CN Medium" panose="020B0600000000000000" pitchFamily="34" charset="-122"/>
              </a:endParaRPr>
            </a:p>
            <a:p>
              <a:pPr marL="0" marR="0" lvl="0" indent="0" algn="l" defTabSz="1216660" rtl="0" eaLnBrk="1" fontAlgn="auto" latinLnBrk="0" hangingPunct="1">
                <a:lnSpc>
                  <a:spcPct val="120000"/>
                </a:lnSpc>
                <a:spcBef>
                  <a:spcPct val="20000"/>
                </a:spcBef>
                <a:spcAft>
                  <a:spcPts val="0"/>
                </a:spcAft>
                <a:buClrTx/>
                <a:buSzTx/>
                <a:buFontTx/>
                <a:buNone/>
                <a:defRPr/>
              </a:pPr>
              <a:r>
                <a:rPr kumimoji="0" lang="zh-CN" altLang="en-US" sz="1335" b="0" i="0" u="none" strike="noStrike" kern="1200" cap="none" spc="0" normalizeH="0" baseline="0" noProof="0" dirty="0">
                  <a:ln>
                    <a:noFill/>
                  </a:ln>
                  <a:solidFill>
                    <a:prstClr val="black"/>
                  </a:solidFill>
                  <a:effectLst/>
                  <a:uLnTx/>
                  <a:uFillTx/>
                  <a:latin typeface="思源黑体 CN Light" panose="020B0300000000000000" pitchFamily="34" charset="-122"/>
                  <a:ea typeface="思源黑体 CN Light" panose="020B0300000000000000" pitchFamily="34" charset="-122"/>
                  <a:cs typeface="+mn-ea"/>
                  <a:sym typeface="思源黑体 CN Medium" panose="020B0600000000000000" pitchFamily="34" charset="-122"/>
                </a:rPr>
                <a:t>2020-2024年间，企业的流动比率与速冻比率均处在上升水平，这足以证明安井食品拥有着良好的偿债能力水平</a:t>
              </a:r>
              <a:r>
                <a:rPr kumimoji="0" lang="en-US" altLang="zh-CN" sz="1200" b="0" i="0" u="none" strike="noStrike" kern="1200" cap="none" spc="0" normalizeH="0" baseline="0" noProof="0" dirty="0">
                  <a:ln>
                    <a:noFill/>
                  </a:ln>
                  <a:solidFill>
                    <a:prstClr val="black"/>
                  </a:solidFill>
                  <a:effectLst/>
                  <a:uLnTx/>
                  <a:uFillTx/>
                  <a:latin typeface="思源黑体 CN Light" panose="020B0300000000000000" pitchFamily="34" charset="-122"/>
                  <a:ea typeface="思源黑体 CN Light" panose="020B0300000000000000" pitchFamily="34" charset="-122"/>
                  <a:cs typeface="+mn-ea"/>
                  <a:sym typeface="思源黑体 CN Medium" panose="020B0600000000000000" pitchFamily="34" charset="-122"/>
                </a:rPr>
                <a:t>。</a:t>
              </a:r>
              <a:endParaRPr kumimoji="0" lang="en-US" altLang="zh-CN" sz="1200" b="0" i="0" u="none" strike="noStrike" kern="1200" cap="none" spc="0" normalizeH="0" baseline="0" noProof="0" dirty="0">
                <a:ln>
                  <a:noFill/>
                </a:ln>
                <a:solidFill>
                  <a:prstClr val="black"/>
                </a:solidFill>
                <a:effectLst/>
                <a:uLnTx/>
                <a:uFillTx/>
                <a:latin typeface="思源黑体 CN Light" panose="020B0300000000000000" pitchFamily="34" charset="-122"/>
                <a:ea typeface="思源黑体 CN Light" panose="020B0300000000000000" pitchFamily="34" charset="-122"/>
                <a:cs typeface="+mn-ea"/>
                <a:sym typeface="思源黑体 CN Medium" panose="020B0600000000000000" pitchFamily="34" charset="-122"/>
              </a:endParaRPr>
            </a:p>
          </p:txBody>
        </p:sp>
      </p:grpSp>
      <p:graphicFrame>
        <p:nvGraphicFramePr>
          <p:cNvPr id="18" name="表格 17"/>
          <p:cNvGraphicFramePr/>
          <p:nvPr>
            <p:custDataLst>
              <p:tags r:id="rId1"/>
            </p:custDataLst>
          </p:nvPr>
        </p:nvGraphicFramePr>
        <p:xfrm>
          <a:off x="859790" y="1219835"/>
          <a:ext cx="5837555" cy="1563370"/>
        </p:xfrm>
        <a:graphic>
          <a:graphicData uri="http://schemas.openxmlformats.org/drawingml/2006/table">
            <a:tbl>
              <a:tblPr/>
              <a:tblGrid>
                <a:gridCol w="556895"/>
                <a:gridCol w="1480820"/>
                <a:gridCol w="351155"/>
                <a:gridCol w="658495"/>
                <a:gridCol w="659130"/>
                <a:gridCol w="710565"/>
                <a:gridCol w="709930"/>
                <a:gridCol w="710565"/>
              </a:tblGrid>
              <a:tr h="379730">
                <a:tc>
                  <a:txBody>
                    <a:bodyPr/>
                    <a:p>
                      <a:pPr marL="0" indent="0" algn="l" fontAlgn="ctr">
                        <a:spcBef>
                          <a:spcPct val="0"/>
                        </a:spcBef>
                        <a:spcAft>
                          <a:spcPct val="0"/>
                        </a:spcAft>
                      </a:pPr>
                      <a:r>
                        <a:rPr lang="zh-CN" altLang="en-US" sz="1100" b="1" i="0">
                          <a:solidFill>
                            <a:srgbClr val="FFFFFF"/>
                          </a:solidFill>
                          <a:latin typeface="宋体" panose="02010600030101010101" pitchFamily="2" charset="-122"/>
                          <a:ea typeface="宋体" panose="02010600030101010101" pitchFamily="2" charset="-122"/>
                        </a:rPr>
                        <a:t>年份</a:t>
                      </a:r>
                      <a:endParaRPr lang="zh-CN" altLang="en-US" sz="1100" b="1" i="0">
                        <a:solidFill>
                          <a:srgbClr val="FFFFFF"/>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4874CB"/>
                    </a:solidFill>
                  </a:tcPr>
                </a:tc>
                <a:tc>
                  <a:txBody>
                    <a:bodyPr/>
                    <a:p>
                      <a:pPr marL="0" indent="0" algn="l" fontAlgn="ctr">
                        <a:spcBef>
                          <a:spcPct val="0"/>
                        </a:spcBef>
                        <a:spcAft>
                          <a:spcPct val="0"/>
                        </a:spcAft>
                      </a:pPr>
                      <a:r>
                        <a:rPr lang="zh-CN" altLang="en-US" sz="1100" b="1" i="0">
                          <a:solidFill>
                            <a:srgbClr val="FFFFFF"/>
                          </a:solidFill>
                          <a:latin typeface="宋体" panose="02010600030101010101" pitchFamily="2" charset="-122"/>
                          <a:ea typeface="宋体" panose="02010600030101010101" pitchFamily="2" charset="-122"/>
                        </a:rPr>
                        <a:t>财务指标</a:t>
                      </a:r>
                      <a:endParaRPr lang="zh-CN" altLang="en-US" sz="1100" b="1" i="0">
                        <a:solidFill>
                          <a:srgbClr val="FFFFFF"/>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4874CB"/>
                    </a:solidFill>
                  </a:tcPr>
                </a:tc>
                <a:tc>
                  <a:txBody>
                    <a:bodyPr/>
                    <a:p>
                      <a:pPr marL="0" indent="0" algn="l" fontAlgn="ctr">
                        <a:spcBef>
                          <a:spcPct val="0"/>
                        </a:spcBef>
                        <a:spcAft>
                          <a:spcPct val="0"/>
                        </a:spcAft>
                      </a:pPr>
                      <a:r>
                        <a:rPr lang="zh-CN" altLang="en-US" sz="1100" b="1" i="0">
                          <a:solidFill>
                            <a:srgbClr val="FFFFFF"/>
                          </a:solidFill>
                          <a:latin typeface="宋体" panose="02010600030101010101" pitchFamily="2" charset="-122"/>
                          <a:ea typeface="宋体" panose="02010600030101010101" pitchFamily="2" charset="-122"/>
                        </a:rPr>
                        <a:t>单位</a:t>
                      </a:r>
                      <a:endParaRPr lang="zh-CN" altLang="en-US" sz="1100" b="1" i="0">
                        <a:solidFill>
                          <a:srgbClr val="FFFFFF"/>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4874CB"/>
                    </a:solidFill>
                  </a:tcPr>
                </a:tc>
                <a:tc>
                  <a:txBody>
                    <a:bodyPr/>
                    <a:p>
                      <a:pPr marL="0" indent="0" algn="r" fontAlgn="ctr">
                        <a:spcBef>
                          <a:spcPct val="0"/>
                        </a:spcBef>
                        <a:spcAft>
                          <a:spcPct val="0"/>
                        </a:spcAft>
                      </a:pPr>
                      <a:r>
                        <a:rPr lang="en-US" altLang="zh-CN" sz="1100" b="1" i="0">
                          <a:solidFill>
                            <a:srgbClr val="FFFFFF"/>
                          </a:solidFill>
                          <a:latin typeface="宋体" panose="02010600030101010101" pitchFamily="2" charset="-122"/>
                          <a:ea typeface="宋体" panose="02010600030101010101" pitchFamily="2" charset="-122"/>
                        </a:rPr>
                        <a:t>2020</a:t>
                      </a:r>
                      <a:endParaRPr lang="en-US" altLang="zh-CN" sz="1100" b="1" i="0">
                        <a:solidFill>
                          <a:srgbClr val="FFFFFF"/>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4874CB"/>
                    </a:solidFill>
                  </a:tcPr>
                </a:tc>
                <a:tc>
                  <a:txBody>
                    <a:bodyPr/>
                    <a:p>
                      <a:pPr marL="0" indent="0" algn="r" fontAlgn="ctr">
                        <a:spcBef>
                          <a:spcPct val="0"/>
                        </a:spcBef>
                        <a:spcAft>
                          <a:spcPct val="0"/>
                        </a:spcAft>
                      </a:pPr>
                      <a:r>
                        <a:rPr lang="en-US" altLang="zh-CN" sz="1100" b="1" i="0">
                          <a:solidFill>
                            <a:srgbClr val="FFFFFF"/>
                          </a:solidFill>
                          <a:latin typeface="宋体" panose="02010600030101010101" pitchFamily="2" charset="-122"/>
                          <a:ea typeface="宋体" panose="02010600030101010101" pitchFamily="2" charset="-122"/>
                        </a:rPr>
                        <a:t>2021</a:t>
                      </a:r>
                      <a:endParaRPr lang="en-US" altLang="zh-CN" sz="1100" b="1" i="0">
                        <a:solidFill>
                          <a:srgbClr val="FFFFFF"/>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4874CB"/>
                    </a:solidFill>
                  </a:tcPr>
                </a:tc>
                <a:tc>
                  <a:txBody>
                    <a:bodyPr/>
                    <a:p>
                      <a:pPr marL="0" indent="0" algn="r" fontAlgn="ctr">
                        <a:spcBef>
                          <a:spcPct val="0"/>
                        </a:spcBef>
                        <a:spcAft>
                          <a:spcPct val="0"/>
                        </a:spcAft>
                      </a:pPr>
                      <a:r>
                        <a:rPr lang="en-US" altLang="zh-CN" sz="1100" b="1" i="0">
                          <a:solidFill>
                            <a:srgbClr val="FFFFFF"/>
                          </a:solidFill>
                          <a:latin typeface="宋体" panose="02010600030101010101" pitchFamily="2" charset="-122"/>
                          <a:ea typeface="宋体" panose="02010600030101010101" pitchFamily="2" charset="-122"/>
                        </a:rPr>
                        <a:t>2022</a:t>
                      </a:r>
                      <a:endParaRPr lang="en-US" altLang="zh-CN" sz="1100" b="1" i="0">
                        <a:solidFill>
                          <a:srgbClr val="FFFFFF"/>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4874CB"/>
                    </a:solidFill>
                  </a:tcPr>
                </a:tc>
                <a:tc>
                  <a:txBody>
                    <a:bodyPr/>
                    <a:p>
                      <a:pPr marL="0" indent="0" algn="r" fontAlgn="ctr">
                        <a:spcBef>
                          <a:spcPct val="0"/>
                        </a:spcBef>
                        <a:spcAft>
                          <a:spcPct val="0"/>
                        </a:spcAft>
                      </a:pPr>
                      <a:r>
                        <a:rPr lang="en-US" altLang="zh-CN" sz="1100" b="1" i="0">
                          <a:solidFill>
                            <a:srgbClr val="FFFFFF"/>
                          </a:solidFill>
                          <a:latin typeface="宋体" panose="02010600030101010101" pitchFamily="2" charset="-122"/>
                          <a:ea typeface="宋体" panose="02010600030101010101" pitchFamily="2" charset="-122"/>
                        </a:rPr>
                        <a:t>2023</a:t>
                      </a:r>
                      <a:endParaRPr lang="en-US" altLang="zh-CN" sz="1100" b="1" i="0">
                        <a:solidFill>
                          <a:srgbClr val="FFFFFF"/>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4874CB"/>
                    </a:solidFill>
                  </a:tcPr>
                </a:tc>
                <a:tc>
                  <a:txBody>
                    <a:bodyPr/>
                    <a:p>
                      <a:pPr marL="0" indent="0" algn="r" fontAlgn="ctr">
                        <a:spcBef>
                          <a:spcPct val="0"/>
                        </a:spcBef>
                        <a:spcAft>
                          <a:spcPct val="0"/>
                        </a:spcAft>
                      </a:pPr>
                      <a:r>
                        <a:rPr lang="en-US" altLang="zh-CN" sz="1100" b="1" i="0">
                          <a:solidFill>
                            <a:srgbClr val="FFFFFF"/>
                          </a:solidFill>
                          <a:latin typeface="宋体" panose="02010600030101010101" pitchFamily="2" charset="-122"/>
                          <a:ea typeface="宋体" panose="02010600030101010101" pitchFamily="2" charset="-122"/>
                        </a:rPr>
                        <a:t>2024</a:t>
                      </a:r>
                      <a:endParaRPr lang="en-US" altLang="zh-CN" sz="1100" b="1" i="0">
                        <a:solidFill>
                          <a:srgbClr val="FFFFFF"/>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4874CB"/>
                    </a:solidFill>
                  </a:tcPr>
                </a:tc>
              </a:tr>
              <a:tr h="379730">
                <a:tc>
                  <a:txBody>
                    <a:bodyPr/>
                    <a:p>
                      <a:pPr marL="0" indent="0" algn="l" fontAlgn="ctr">
                        <a:spcBef>
                          <a:spcPct val="0"/>
                        </a:spcBef>
                        <a:spcAft>
                          <a:spcPct val="0"/>
                        </a:spcAft>
                      </a:pPr>
                      <a:r>
                        <a:rPr lang="zh-CN" altLang="en-US" sz="1100" i="0">
                          <a:solidFill>
                            <a:srgbClr val="000000"/>
                          </a:solidFill>
                          <a:latin typeface="宋体" panose="02010600030101010101" pitchFamily="2" charset="-122"/>
                          <a:ea typeface="宋体" panose="02010600030101010101" pitchFamily="2" charset="-122"/>
                        </a:rPr>
                        <a:t>偿债能力</a:t>
                      </a:r>
                      <a:endParaRPr lang="zh-CN" altLang="en-US"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l" fontAlgn="ctr">
                        <a:spcBef>
                          <a:spcPct val="0"/>
                        </a:spcBef>
                        <a:spcAft>
                          <a:spcPct val="0"/>
                        </a:spcAft>
                      </a:pPr>
                      <a:r>
                        <a:rPr lang="zh-CN" altLang="en-US" sz="1100" i="0">
                          <a:solidFill>
                            <a:srgbClr val="000000"/>
                          </a:solidFill>
                          <a:latin typeface="宋体" panose="02010600030101010101" pitchFamily="2" charset="-122"/>
                          <a:ea typeface="宋体" panose="02010600030101010101" pitchFamily="2" charset="-122"/>
                        </a:rPr>
                        <a:t>流动比率</a:t>
                      </a:r>
                      <a:endParaRPr lang="zh-CN" altLang="en-US"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l" fontAlgn="ctr">
                        <a:spcBef>
                          <a:spcPct val="0"/>
                        </a:spcBef>
                        <a:spcAft>
                          <a:spcPct val="0"/>
                        </a:spcAft>
                      </a:pPr>
                      <a:r>
                        <a:rPr lang="zh-CN" altLang="en-US" sz="1100" i="0">
                          <a:solidFill>
                            <a:srgbClr val="000000"/>
                          </a:solidFill>
                          <a:latin typeface="宋体" panose="02010600030101010101" pitchFamily="2" charset="-122"/>
                          <a:ea typeface="宋体" panose="02010600030101010101" pitchFamily="2" charset="-122"/>
                        </a:rPr>
                        <a:t>倍</a:t>
                      </a:r>
                      <a:endParaRPr lang="zh-CN" altLang="en-US"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1.66</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1.38</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2.66</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2.6</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2.81</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r>
              <a:tr h="267335">
                <a:tc>
                  <a:txBody>
                    <a:bodyPr/>
                    <a:p>
                      <a:pPr marL="0" indent="0" algn="just">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 </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l" fontAlgn="ctr">
                        <a:spcBef>
                          <a:spcPct val="0"/>
                        </a:spcBef>
                        <a:spcAft>
                          <a:spcPct val="0"/>
                        </a:spcAft>
                      </a:pPr>
                      <a:r>
                        <a:rPr lang="zh-CN" altLang="en-US" sz="1100" i="0">
                          <a:solidFill>
                            <a:srgbClr val="000000"/>
                          </a:solidFill>
                          <a:latin typeface="宋体" panose="02010600030101010101" pitchFamily="2" charset="-122"/>
                          <a:ea typeface="宋体" panose="02010600030101010101" pitchFamily="2" charset="-122"/>
                        </a:rPr>
                        <a:t>速动比率</a:t>
                      </a:r>
                      <a:endParaRPr lang="zh-CN" altLang="en-US"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l"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0.98</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0.62</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1.85</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1.71</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1.92</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r>
              <a:tr h="266700">
                <a:tc>
                  <a:txBody>
                    <a:bodyPr/>
                    <a:p>
                      <a:pPr marL="0" indent="0" algn="just">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 </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l" fontAlgn="ctr">
                        <a:spcBef>
                          <a:spcPct val="0"/>
                        </a:spcBef>
                        <a:spcAft>
                          <a:spcPct val="0"/>
                        </a:spcAft>
                      </a:pPr>
                      <a:r>
                        <a:rPr lang="zh-CN" altLang="en-US" sz="1100" i="0">
                          <a:solidFill>
                            <a:srgbClr val="000000"/>
                          </a:solidFill>
                          <a:latin typeface="宋体" panose="02010600030101010101" pitchFamily="2" charset="-122"/>
                          <a:ea typeface="宋体" panose="02010600030101010101" pitchFamily="2" charset="-122"/>
                        </a:rPr>
                        <a:t>资产负债率</a:t>
                      </a:r>
                      <a:endParaRPr lang="zh-CN" altLang="en-US"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l"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48.09%</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41.36%</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26.29%</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25.43%</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23.62%</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r>
              <a:tr h="269875">
                <a:tc>
                  <a:txBody>
                    <a:bodyPr/>
                    <a:p>
                      <a:pPr marL="0" indent="0" algn="just">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 </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l" fontAlgn="ctr">
                        <a:spcBef>
                          <a:spcPct val="0"/>
                        </a:spcBef>
                        <a:spcAft>
                          <a:spcPct val="0"/>
                        </a:spcAft>
                      </a:pPr>
                      <a:r>
                        <a:rPr lang="zh-CN" altLang="en-US" sz="1100" i="0">
                          <a:solidFill>
                            <a:srgbClr val="000000"/>
                          </a:solidFill>
                          <a:latin typeface="宋体" panose="02010600030101010101" pitchFamily="2" charset="-122"/>
                          <a:ea typeface="宋体" panose="02010600030101010101" pitchFamily="2" charset="-122"/>
                        </a:rPr>
                        <a:t>利息保障倍数</a:t>
                      </a:r>
                      <a:endParaRPr lang="zh-CN" altLang="en-US"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l" fontAlgn="ctr">
                        <a:spcBef>
                          <a:spcPct val="0"/>
                        </a:spcBef>
                        <a:spcAft>
                          <a:spcPct val="0"/>
                        </a:spcAft>
                      </a:pPr>
                      <a:r>
                        <a:rPr lang="zh-CN" altLang="en-US" sz="1100" i="0">
                          <a:solidFill>
                            <a:srgbClr val="000000"/>
                          </a:solidFill>
                          <a:latin typeface="宋体" panose="02010600030101010101" pitchFamily="2" charset="-122"/>
                          <a:ea typeface="宋体" panose="02010600030101010101" pitchFamily="2" charset="-122"/>
                        </a:rPr>
                        <a:t>倍</a:t>
                      </a:r>
                      <a:endParaRPr lang="zh-CN" altLang="en-US"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55.68</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67.08</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115.3</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136.2</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1290.87</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r>
            </a:tbl>
          </a:graphicData>
        </a:graphic>
      </p:graphicFrame>
      <p:pic>
        <p:nvPicPr>
          <p:cNvPr id="19" name="图片 18" descr="WX20251105-121435@2x"/>
          <p:cNvPicPr>
            <a:picLocks noChangeAspect="1"/>
          </p:cNvPicPr>
          <p:nvPr/>
        </p:nvPicPr>
        <p:blipFill>
          <a:blip r:embed="rId2"/>
          <a:stretch>
            <a:fillRect/>
          </a:stretch>
        </p:blipFill>
        <p:spPr>
          <a:xfrm>
            <a:off x="859790" y="3160395"/>
            <a:ext cx="4888865" cy="2619375"/>
          </a:xfrm>
          <a:prstGeom prst="rect">
            <a:avLst/>
          </a:prstGeom>
        </p:spPr>
      </p:pic>
      <p:sp>
        <p:nvSpPr>
          <p:cNvPr id="20" name="文本框 19"/>
          <p:cNvSpPr txBox="1"/>
          <p:nvPr/>
        </p:nvSpPr>
        <p:spPr>
          <a:xfrm>
            <a:off x="7008495" y="2162810"/>
            <a:ext cx="3909695" cy="855345"/>
          </a:xfrm>
          <a:prstGeom prst="rect">
            <a:avLst/>
          </a:prstGeom>
          <a:noFill/>
        </p:spPr>
        <p:txBody>
          <a:bodyPr wrap="square" rtlCol="0">
            <a:noAutofit/>
          </a:bodyPr>
          <a:p>
            <a:pPr algn="l" defTabSz="1216660">
              <a:lnSpc>
                <a:spcPct val="120000"/>
              </a:lnSpc>
              <a:spcBef>
                <a:spcPct val="20000"/>
              </a:spcBef>
              <a:spcAft>
                <a:spcPts val="0"/>
              </a:spcAft>
              <a:buClrTx/>
              <a:buSzTx/>
              <a:buFontTx/>
              <a:defRPr/>
            </a:pPr>
            <a:r>
              <a:rPr lang="zh-CN" altLang="en-US" sz="1200" noProof="0" dirty="0">
                <a:ln>
                  <a:noFill/>
                </a:ln>
                <a:solidFill>
                  <a:prstClr val="black"/>
                </a:solidFill>
                <a:effectLst/>
                <a:uLnTx/>
                <a:uFillTx/>
                <a:latin typeface="思源黑体 CN Light" panose="020B0300000000000000" pitchFamily="34" charset="-122"/>
                <a:ea typeface="思源黑体 CN Light" panose="020B0300000000000000" pitchFamily="34" charset="-122"/>
                <a:cs typeface="+mn-ea"/>
              </a:rPr>
              <a:t>流动比率和速动比率作为最主要的短期偿债能力指标，其反映的是企业债务清偿能力水平。</a:t>
            </a:r>
            <a:endParaRPr lang="zh-CN" altLang="en-US" sz="1200" noProof="0" dirty="0">
              <a:ln>
                <a:noFill/>
              </a:ln>
              <a:solidFill>
                <a:prstClr val="black"/>
              </a:solidFill>
              <a:effectLst/>
              <a:uLnTx/>
              <a:uFillTx/>
              <a:latin typeface="思源黑体 CN Light" panose="020B0300000000000000" pitchFamily="34" charset="-122"/>
              <a:ea typeface="思源黑体 CN Light" panose="020B0300000000000000" pitchFamily="34" charset="-122"/>
              <a:cs typeface="+mn-ea"/>
            </a:endParaRPr>
          </a:p>
        </p:txBody>
      </p:sp>
    </p:spTree>
  </p:cSld>
  <p:clrMapOvr>
    <a:masterClrMapping/>
  </p:clrMapOvr>
  <p:transition spd="med" advTm="3000">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ppt_x"/>
                                          </p:val>
                                        </p:tav>
                                        <p:tav tm="100000">
                                          <p:val>
                                            <p:strVal val="#ppt_x"/>
                                          </p:val>
                                        </p:tav>
                                      </p:tavLst>
                                    </p:anim>
                                    <p:anim calcmode="lin" valueType="num">
                                      <p:cBhvr additive="base">
                                        <p:cTn id="12" dur="500" fill="hold"/>
                                        <p:tgtEl>
                                          <p:spTgt spid="11"/>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anim calcmode="lin" valueType="num">
                                      <p:cBhvr additive="base">
                                        <p:cTn id="15" dur="500" fill="hold"/>
                                        <p:tgtEl>
                                          <p:spTgt spid="14"/>
                                        </p:tgtEl>
                                        <p:attrNameLst>
                                          <p:attrName>ppt_x</p:attrName>
                                        </p:attrNameLst>
                                      </p:cBhvr>
                                      <p:tavLst>
                                        <p:tav tm="0">
                                          <p:val>
                                            <p:strVal val="#ppt_x"/>
                                          </p:val>
                                        </p:tav>
                                        <p:tav tm="100000">
                                          <p:val>
                                            <p:strVal val="#ppt_x"/>
                                          </p:val>
                                        </p:tav>
                                      </p:tavLst>
                                    </p:anim>
                                    <p:anim calcmode="lin" valueType="num">
                                      <p:cBhvr additive="base">
                                        <p:cTn id="16"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47831" y="242047"/>
            <a:ext cx="1464428" cy="600634"/>
            <a:chOff x="1115735" y="587229"/>
            <a:chExt cx="10176791" cy="6547926"/>
          </a:xfrm>
        </p:grpSpPr>
        <p:sp>
          <p:nvSpPr>
            <p:cNvPr id="3" name="矩形 2"/>
            <p:cNvSpPr/>
            <p:nvPr/>
          </p:nvSpPr>
          <p:spPr>
            <a:xfrm>
              <a:off x="1115735" y="587229"/>
              <a:ext cx="9571839" cy="5410900"/>
            </a:xfrm>
            <a:prstGeom prst="rect">
              <a:avLst/>
            </a:prstGeom>
            <a:pattFill prst="wdDnDiag">
              <a:fgClr>
                <a:srgbClr val="203864"/>
              </a:fgClr>
              <a:bgClr>
                <a:schemeClr val="bg1"/>
              </a:bgClr>
            </a:patt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1720688" y="1724252"/>
              <a:ext cx="9571838" cy="5410903"/>
            </a:xfrm>
            <a:prstGeom prst="rect">
              <a:avLst/>
            </a:prstGeom>
            <a:solidFill>
              <a:schemeClr val="bg1"/>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5" name="文本框 4"/>
          <p:cNvSpPr txBox="1"/>
          <p:nvPr/>
        </p:nvSpPr>
        <p:spPr>
          <a:xfrm>
            <a:off x="376518" y="409847"/>
            <a:ext cx="1335741" cy="368300"/>
          </a:xfrm>
          <a:prstGeom prst="rect">
            <a:avLst/>
          </a:prstGeom>
          <a:noFill/>
        </p:spPr>
        <p:txBody>
          <a:bodyPr wrap="square" rtlCol="0">
            <a:spAutoFit/>
          </a:bodyPr>
          <a:lstStyle/>
          <a:p>
            <a:pPr algn="ctr"/>
            <a:r>
              <a:rPr lang="zh-CN" altLang="en-US" dirty="0">
                <a:latin typeface="思源黑体 CN Bold" panose="020B0800000000000000" pitchFamily="34" charset="-122"/>
                <a:ea typeface="思源黑体 CN Bold" panose="020B0800000000000000" pitchFamily="34" charset="-122"/>
              </a:rPr>
              <a:t>偿债能力</a:t>
            </a:r>
            <a:endParaRPr lang="zh-CN" altLang="en-US" dirty="0">
              <a:latin typeface="思源黑体 CN Bold" panose="020B0800000000000000" pitchFamily="34" charset="-122"/>
              <a:ea typeface="思源黑体 CN Bold" panose="020B0800000000000000" pitchFamily="34" charset="-122"/>
            </a:endParaRPr>
          </a:p>
        </p:txBody>
      </p:sp>
      <p:grpSp>
        <p:nvGrpSpPr>
          <p:cNvPr id="8" name="组合 7"/>
          <p:cNvGrpSpPr/>
          <p:nvPr/>
        </p:nvGrpSpPr>
        <p:grpSpPr>
          <a:xfrm>
            <a:off x="6890734" y="1618164"/>
            <a:ext cx="4043680" cy="1699895"/>
            <a:chOff x="1107347" y="1263614"/>
            <a:chExt cx="4043680" cy="1699895"/>
          </a:xfrm>
        </p:grpSpPr>
        <p:sp>
          <p:nvSpPr>
            <p:cNvPr id="9" name="矩形 8"/>
            <p:cNvSpPr/>
            <p:nvPr/>
          </p:nvSpPr>
          <p:spPr>
            <a:xfrm flipH="1">
              <a:off x="1107347" y="1551963"/>
              <a:ext cx="117446" cy="771787"/>
            </a:xfrm>
            <a:prstGeom prst="rect">
              <a:avLst/>
            </a:prstGeom>
            <a:solidFill>
              <a:srgbClr val="1432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0" name="išľïdè"/>
            <p:cNvSpPr/>
            <p:nvPr/>
          </p:nvSpPr>
          <p:spPr bwMode="auto">
            <a:xfrm>
              <a:off x="1240697" y="1263614"/>
              <a:ext cx="3910330" cy="1699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fontScale="25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1216660" rtl="0" eaLnBrk="1" fontAlgn="auto" latinLnBrk="0" hangingPunct="1">
                <a:lnSpc>
                  <a:spcPct val="120000"/>
                </a:lnSpc>
                <a:spcBef>
                  <a:spcPct val="20000"/>
                </a:spcBef>
                <a:spcAft>
                  <a:spcPts val="0"/>
                </a:spcAft>
                <a:buClrTx/>
                <a:buSzTx/>
                <a:buFontTx/>
                <a:buNone/>
                <a:defRPr/>
              </a:pPr>
              <a:r>
                <a:rPr kumimoji="0" lang="zh-CN" altLang="en-US" sz="7200" b="1"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mn-ea"/>
                  <a:sym typeface="思源黑体 CN Medium" panose="020B0600000000000000" pitchFamily="34" charset="-122"/>
                </a:rPr>
                <a:t>资产负债率</a:t>
              </a:r>
              <a:endParaRPr kumimoji="0" lang="zh-CN" altLang="en-US" sz="7200" b="1"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mn-ea"/>
                <a:sym typeface="思源黑体 CN Medium" panose="020B0600000000000000" pitchFamily="34" charset="-122"/>
              </a:endParaRPr>
            </a:p>
            <a:p>
              <a:pPr marL="0" marR="0" lvl="0" indent="0" algn="l" defTabSz="1216660" rtl="0" eaLnBrk="1" fontAlgn="auto" latinLnBrk="0" hangingPunct="1">
                <a:lnSpc>
                  <a:spcPct val="120000"/>
                </a:lnSpc>
                <a:spcBef>
                  <a:spcPct val="20000"/>
                </a:spcBef>
                <a:spcAft>
                  <a:spcPts val="0"/>
                </a:spcAft>
                <a:buClrTx/>
                <a:buSzTx/>
                <a:buFontTx/>
                <a:buNone/>
                <a:defRPr/>
              </a:pPr>
              <a:r>
                <a:rPr kumimoji="0" lang="zh-CN" altLang="en-US" sz="4800" b="0" i="0" u="none" strike="noStrike" kern="1200" cap="none" spc="0" normalizeH="0" baseline="0" noProof="0" dirty="0">
                  <a:ln>
                    <a:noFill/>
                  </a:ln>
                  <a:solidFill>
                    <a:prstClr val="black"/>
                  </a:solidFill>
                  <a:effectLst/>
                  <a:uLnTx/>
                  <a:uFillTx/>
                  <a:latin typeface="思源黑体 CN Light" panose="020B0300000000000000" pitchFamily="34" charset="-122"/>
                  <a:ea typeface="思源黑体 CN Light" panose="020B0300000000000000" pitchFamily="34" charset="-122"/>
                  <a:cs typeface="+mn-ea"/>
                  <a:sym typeface="思源黑体 CN Medium" panose="020B0600000000000000" pitchFamily="34" charset="-122"/>
                </a:rPr>
                <a:t>作为偿债能力里分析企业长期偿债能力的重要指标之一</a:t>
              </a:r>
              <a:r>
                <a:rPr kumimoji="0" lang="en-US" altLang="zh-CN" sz="4800" b="0" i="0" u="none" strike="noStrike" kern="1200" cap="none" spc="0" normalizeH="0" baseline="0" noProof="0" dirty="0">
                  <a:ln>
                    <a:noFill/>
                  </a:ln>
                  <a:solidFill>
                    <a:prstClr val="black"/>
                  </a:solidFill>
                  <a:effectLst/>
                  <a:uLnTx/>
                  <a:uFillTx/>
                  <a:latin typeface="思源黑体 CN Light" panose="020B0300000000000000" pitchFamily="34" charset="-122"/>
                  <a:ea typeface="思源黑体 CN Light" panose="020B0300000000000000" pitchFamily="34" charset="-122"/>
                  <a:cs typeface="+mn-ea"/>
                  <a:sym typeface="思源黑体 CN Medium" panose="020B0600000000000000" pitchFamily="34" charset="-122"/>
                </a:rPr>
                <a:t>，</a:t>
              </a:r>
              <a:r>
                <a:rPr kumimoji="0" lang="zh-CN" altLang="en-US" sz="4800" b="0" i="0" u="none" strike="noStrike" kern="1200" cap="none" spc="0" normalizeH="0" baseline="0" noProof="0" dirty="0">
                  <a:ln>
                    <a:noFill/>
                  </a:ln>
                  <a:solidFill>
                    <a:prstClr val="black"/>
                  </a:solidFill>
                  <a:effectLst/>
                  <a:uLnTx/>
                  <a:uFillTx/>
                  <a:latin typeface="思源黑体 CN Light" panose="020B0300000000000000" pitchFamily="34" charset="-122"/>
                  <a:ea typeface="思源黑体 CN Light" panose="020B0300000000000000" pitchFamily="34" charset="-122"/>
                  <a:cs typeface="+mn-ea"/>
                  <a:sym typeface="思源黑体 CN Medium" panose="020B0600000000000000" pitchFamily="34" charset="-122"/>
                </a:rPr>
                <a:t>它也是衡量企业财务杠杆的重要指标值</a:t>
              </a:r>
              <a:r>
                <a:rPr kumimoji="0" lang="en-US" altLang="zh-CN" sz="4800" b="0" i="0" u="none" strike="noStrike" kern="1200" cap="none" spc="0" normalizeH="0" baseline="0" noProof="0" dirty="0">
                  <a:ln>
                    <a:noFill/>
                  </a:ln>
                  <a:solidFill>
                    <a:prstClr val="black"/>
                  </a:solidFill>
                  <a:effectLst/>
                  <a:uLnTx/>
                  <a:uFillTx/>
                  <a:latin typeface="思源黑体 CN Light" panose="020B0300000000000000" pitchFamily="34" charset="-122"/>
                  <a:ea typeface="思源黑体 CN Light" panose="020B0300000000000000" pitchFamily="34" charset="-122"/>
                  <a:cs typeface="+mn-ea"/>
                  <a:sym typeface="思源黑体 CN Medium" panose="020B0600000000000000" pitchFamily="34" charset="-122"/>
                </a:rPr>
                <a:t>，</a:t>
              </a:r>
              <a:r>
                <a:rPr kumimoji="0" lang="zh-CN" altLang="en-US" sz="4800" b="0" i="0" u="none" strike="noStrike" kern="1200" cap="none" spc="0" normalizeH="0" baseline="0" noProof="0" dirty="0">
                  <a:ln>
                    <a:noFill/>
                  </a:ln>
                  <a:solidFill>
                    <a:prstClr val="black"/>
                  </a:solidFill>
                  <a:effectLst/>
                  <a:uLnTx/>
                  <a:uFillTx/>
                  <a:latin typeface="思源黑体 CN Light" panose="020B0300000000000000" pitchFamily="34" charset="-122"/>
                  <a:ea typeface="思源黑体 CN Light" panose="020B0300000000000000" pitchFamily="34" charset="-122"/>
                  <a:cs typeface="+mn-ea"/>
                  <a:sym typeface="思源黑体 CN Medium" panose="020B0600000000000000" pitchFamily="34" charset="-122"/>
                </a:rPr>
                <a:t>资产负债率越低则表示企业内负债比率较少其财务状况较为健康</a:t>
              </a:r>
              <a:r>
                <a:rPr kumimoji="0" lang="en-US" altLang="zh-CN" sz="4800" b="0" i="0" u="none" strike="noStrike" kern="1200" cap="none" spc="0" normalizeH="0" baseline="0" noProof="0" dirty="0">
                  <a:ln>
                    <a:noFill/>
                  </a:ln>
                  <a:solidFill>
                    <a:prstClr val="black"/>
                  </a:solidFill>
                  <a:effectLst/>
                  <a:uLnTx/>
                  <a:uFillTx/>
                  <a:latin typeface="思源黑体 CN Light" panose="020B0300000000000000" pitchFamily="34" charset="-122"/>
                  <a:ea typeface="思源黑体 CN Light" panose="020B0300000000000000" pitchFamily="34" charset="-122"/>
                  <a:cs typeface="+mn-ea"/>
                  <a:sym typeface="思源黑体 CN Medium" panose="020B0600000000000000" pitchFamily="34" charset="-122"/>
                </a:rPr>
                <a:t>。</a:t>
              </a:r>
              <a:r>
                <a:rPr kumimoji="0" lang="zh-CN" altLang="en-US" sz="4800" b="0" i="0" u="none" strike="noStrike" kern="1200" cap="none" spc="0" normalizeH="0" baseline="0" noProof="0" dirty="0">
                  <a:ln>
                    <a:noFill/>
                  </a:ln>
                  <a:solidFill>
                    <a:prstClr val="black"/>
                  </a:solidFill>
                  <a:effectLst/>
                  <a:uLnTx/>
                  <a:uFillTx/>
                  <a:latin typeface="思源黑体 CN Light" panose="020B0300000000000000" pitchFamily="34" charset="-122"/>
                  <a:ea typeface="思源黑体 CN Light" panose="020B0300000000000000" pitchFamily="34" charset="-122"/>
                  <a:cs typeface="+mn-ea"/>
                  <a:sym typeface="思源黑体 CN Medium" panose="020B0600000000000000" pitchFamily="34" charset="-122"/>
                </a:rPr>
                <a:t>正常指标值区间</a:t>
              </a:r>
              <a:r>
                <a:rPr kumimoji="0" lang="en-US" altLang="zh-CN" sz="4800" b="0" i="0" u="none" strike="noStrike" kern="1200" cap="none" spc="0" normalizeH="0" baseline="0" noProof="0" dirty="0">
                  <a:ln>
                    <a:noFill/>
                  </a:ln>
                  <a:solidFill>
                    <a:prstClr val="black"/>
                  </a:solidFill>
                  <a:effectLst/>
                  <a:uLnTx/>
                  <a:uFillTx/>
                  <a:latin typeface="思源黑体 CN Light" panose="020B0300000000000000" pitchFamily="34" charset="-122"/>
                  <a:ea typeface="思源黑体 CN Light" panose="020B0300000000000000" pitchFamily="34" charset="-122"/>
                  <a:cs typeface="+mn-ea"/>
                  <a:sym typeface="思源黑体 CN Medium" panose="020B0600000000000000" pitchFamily="34" charset="-122"/>
                </a:rPr>
                <a:t>（40%-60%），</a:t>
              </a:r>
              <a:r>
                <a:rPr kumimoji="0" lang="zh-CN" altLang="en-US" sz="4800" b="0" i="0" u="none" strike="noStrike" kern="1200" cap="none" spc="0" normalizeH="0" baseline="0" noProof="0" dirty="0">
                  <a:ln>
                    <a:noFill/>
                  </a:ln>
                  <a:solidFill>
                    <a:prstClr val="black"/>
                  </a:solidFill>
                  <a:effectLst/>
                  <a:uLnTx/>
                  <a:uFillTx/>
                  <a:latin typeface="思源黑体 CN Light" panose="020B0300000000000000" pitchFamily="34" charset="-122"/>
                  <a:ea typeface="思源黑体 CN Light" panose="020B0300000000000000" pitchFamily="34" charset="-122"/>
                  <a:cs typeface="+mn-ea"/>
                  <a:sym typeface="思源黑体 CN Medium" panose="020B0600000000000000" pitchFamily="34" charset="-122"/>
                </a:rPr>
                <a:t>安井食品的资产负债率自并购后下降至</a:t>
              </a:r>
              <a:r>
                <a:rPr kumimoji="0" lang="en-US" altLang="zh-CN" sz="4800" b="0" i="0" u="none" strike="noStrike" kern="1200" cap="none" spc="0" normalizeH="0" baseline="0" noProof="0" dirty="0">
                  <a:ln>
                    <a:noFill/>
                  </a:ln>
                  <a:solidFill>
                    <a:prstClr val="black"/>
                  </a:solidFill>
                  <a:effectLst/>
                  <a:uLnTx/>
                  <a:uFillTx/>
                  <a:latin typeface="思源黑体 CN Light" panose="020B0300000000000000" pitchFamily="34" charset="-122"/>
                  <a:ea typeface="思源黑体 CN Light" panose="020B0300000000000000" pitchFamily="34" charset="-122"/>
                  <a:cs typeface="+mn-ea"/>
                  <a:sym typeface="思源黑体 CN Medium" panose="020B0600000000000000" pitchFamily="34" charset="-122"/>
                </a:rPr>
                <a:t>20%-30%</a:t>
              </a:r>
              <a:r>
                <a:rPr kumimoji="0" lang="zh-CN" altLang="en-US" sz="4800" b="0" i="0" u="none" strike="noStrike" kern="1200" cap="none" spc="0" normalizeH="0" baseline="0" noProof="0" dirty="0">
                  <a:ln>
                    <a:noFill/>
                  </a:ln>
                  <a:solidFill>
                    <a:prstClr val="black"/>
                  </a:solidFill>
                  <a:effectLst/>
                  <a:uLnTx/>
                  <a:uFillTx/>
                  <a:latin typeface="思源黑体 CN Light" panose="020B0300000000000000" pitchFamily="34" charset="-122"/>
                  <a:ea typeface="思源黑体 CN Light" panose="020B0300000000000000" pitchFamily="34" charset="-122"/>
                  <a:cs typeface="+mn-ea"/>
                  <a:sym typeface="思源黑体 CN Medium" panose="020B0600000000000000" pitchFamily="34" charset="-122"/>
                </a:rPr>
                <a:t>区间</a:t>
              </a:r>
              <a:r>
                <a:rPr kumimoji="0" lang="en-US" altLang="zh-CN" sz="4800" b="0" i="0" u="none" strike="noStrike" kern="1200" cap="none" spc="0" normalizeH="0" baseline="0" noProof="0" dirty="0">
                  <a:ln>
                    <a:noFill/>
                  </a:ln>
                  <a:solidFill>
                    <a:prstClr val="black"/>
                  </a:solidFill>
                  <a:effectLst/>
                  <a:uLnTx/>
                  <a:uFillTx/>
                  <a:latin typeface="思源黑体 CN Light" panose="020B0300000000000000" pitchFamily="34" charset="-122"/>
                  <a:ea typeface="思源黑体 CN Light" panose="020B0300000000000000" pitchFamily="34" charset="-122"/>
                  <a:cs typeface="+mn-ea"/>
                  <a:sym typeface="思源黑体 CN Medium" panose="020B0600000000000000" pitchFamily="34" charset="-122"/>
                </a:rPr>
                <a:t>。</a:t>
              </a:r>
              <a:endParaRPr kumimoji="0" lang="en-US" altLang="zh-CN" sz="4800" b="0" i="0" u="none" strike="noStrike" kern="1200" cap="none" spc="0" normalizeH="0" baseline="0" noProof="0" dirty="0">
                <a:ln>
                  <a:noFill/>
                </a:ln>
                <a:solidFill>
                  <a:prstClr val="black"/>
                </a:solidFill>
                <a:effectLst/>
                <a:uLnTx/>
                <a:uFillTx/>
                <a:latin typeface="思源黑体 CN Light" panose="020B0300000000000000" pitchFamily="34" charset="-122"/>
                <a:ea typeface="思源黑体 CN Light" panose="020B0300000000000000" pitchFamily="34" charset="-122"/>
                <a:cs typeface="+mn-ea"/>
                <a:sym typeface="思源黑体 CN Medium" panose="020B0600000000000000" pitchFamily="34" charset="-122"/>
              </a:endParaRPr>
            </a:p>
          </p:txBody>
        </p:sp>
      </p:grpSp>
      <p:grpSp>
        <p:nvGrpSpPr>
          <p:cNvPr id="11" name="组合 10"/>
          <p:cNvGrpSpPr/>
          <p:nvPr/>
        </p:nvGrpSpPr>
        <p:grpSpPr>
          <a:xfrm>
            <a:off x="6906609" y="4358850"/>
            <a:ext cx="4027805" cy="925195"/>
            <a:chOff x="1107347" y="1398869"/>
            <a:chExt cx="4027805" cy="925195"/>
          </a:xfrm>
        </p:grpSpPr>
        <p:sp>
          <p:nvSpPr>
            <p:cNvPr id="12" name="矩形 11"/>
            <p:cNvSpPr/>
            <p:nvPr/>
          </p:nvSpPr>
          <p:spPr>
            <a:xfrm flipH="1">
              <a:off x="1107347" y="1551963"/>
              <a:ext cx="117446" cy="771787"/>
            </a:xfrm>
            <a:prstGeom prst="rect">
              <a:avLst/>
            </a:prstGeom>
            <a:solidFill>
              <a:srgbClr val="1432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3" name="išľïdè"/>
            <p:cNvSpPr/>
            <p:nvPr/>
          </p:nvSpPr>
          <p:spPr bwMode="auto">
            <a:xfrm>
              <a:off x="1224822" y="1398869"/>
              <a:ext cx="3910330" cy="925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fontScale="25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1216660" rtl="0" eaLnBrk="1" fontAlgn="auto" latinLnBrk="0" hangingPunct="1">
                <a:lnSpc>
                  <a:spcPct val="120000"/>
                </a:lnSpc>
                <a:spcBef>
                  <a:spcPct val="20000"/>
                </a:spcBef>
                <a:spcAft>
                  <a:spcPts val="0"/>
                </a:spcAft>
                <a:buClrTx/>
                <a:buSzTx/>
                <a:buFontTx/>
                <a:buNone/>
                <a:defRPr/>
              </a:pPr>
              <a:r>
                <a:rPr kumimoji="0" lang="zh-CN" altLang="en-US" sz="7200" b="1"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mn-ea"/>
                  <a:sym typeface="思源黑体 CN Medium" panose="020B0600000000000000" pitchFamily="34" charset="-122"/>
                </a:rPr>
                <a:t>利息保障倍数</a:t>
              </a:r>
              <a:endParaRPr kumimoji="0" lang="zh-CN" altLang="en-US" sz="7200" b="1"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mn-ea"/>
                <a:sym typeface="思源黑体 CN Medium" panose="020B0600000000000000" pitchFamily="34" charset="-122"/>
              </a:endParaRPr>
            </a:p>
            <a:p>
              <a:pPr marL="0" marR="0" lvl="0" indent="0" algn="l" defTabSz="1216660" rtl="0" eaLnBrk="1" fontAlgn="auto" latinLnBrk="0" hangingPunct="1">
                <a:lnSpc>
                  <a:spcPct val="120000"/>
                </a:lnSpc>
                <a:spcBef>
                  <a:spcPct val="20000"/>
                </a:spcBef>
                <a:spcAft>
                  <a:spcPts val="0"/>
                </a:spcAft>
                <a:buClrTx/>
                <a:buSzTx/>
                <a:buFontTx/>
                <a:buNone/>
                <a:defRPr/>
              </a:pPr>
              <a:r>
                <a:rPr kumimoji="0" lang="zh-CN" altLang="en-US" sz="4800" b="0" i="0" u="none" strike="noStrike" kern="1200" cap="none" spc="0" normalizeH="0" baseline="0" noProof="0" dirty="0">
                  <a:ln>
                    <a:noFill/>
                  </a:ln>
                  <a:solidFill>
                    <a:prstClr val="black"/>
                  </a:solidFill>
                  <a:effectLst/>
                  <a:uLnTx/>
                  <a:uFillTx/>
                  <a:latin typeface="思源黑体 CN Light" panose="020B0300000000000000" pitchFamily="34" charset="-122"/>
                  <a:ea typeface="思源黑体 CN Light" panose="020B0300000000000000" pitchFamily="34" charset="-122"/>
                  <a:cs typeface="+mn-ea"/>
                  <a:sym typeface="思源黑体 CN Medium" panose="020B0600000000000000" pitchFamily="34" charset="-122"/>
                </a:rPr>
                <a:t>衡量企业偿付债务利息能力的核心指标，它反映公司赚的钱能否轻松覆盖需要支付的利息，倍数越高则说明公司支付利息越轻松，违约风险越低。</a:t>
              </a:r>
              <a:endParaRPr kumimoji="0" lang="zh-CN" altLang="en-US" sz="4800" b="0" i="0" u="none" strike="noStrike" kern="1200" cap="none" spc="0" normalizeH="0" baseline="0" noProof="0" dirty="0">
                <a:ln>
                  <a:noFill/>
                </a:ln>
                <a:solidFill>
                  <a:prstClr val="black"/>
                </a:solidFill>
                <a:effectLst/>
                <a:uLnTx/>
                <a:uFillTx/>
                <a:latin typeface="思源黑体 CN Light" panose="020B0300000000000000" pitchFamily="34" charset="-122"/>
                <a:ea typeface="思源黑体 CN Light" panose="020B0300000000000000" pitchFamily="34" charset="-122"/>
                <a:cs typeface="+mn-ea"/>
                <a:sym typeface="思源黑体 CN Medium" panose="020B0600000000000000" pitchFamily="34" charset="-122"/>
              </a:endParaRPr>
            </a:p>
          </p:txBody>
        </p:sp>
      </p:grpSp>
      <p:graphicFrame>
        <p:nvGraphicFramePr>
          <p:cNvPr id="7" name="表格 6"/>
          <p:cNvGraphicFramePr/>
          <p:nvPr>
            <p:custDataLst>
              <p:tags r:id="rId1"/>
            </p:custDataLst>
          </p:nvPr>
        </p:nvGraphicFramePr>
        <p:xfrm>
          <a:off x="859790" y="1082675"/>
          <a:ext cx="5852795" cy="1700530"/>
        </p:xfrm>
        <a:graphic>
          <a:graphicData uri="http://schemas.openxmlformats.org/drawingml/2006/table">
            <a:tbl>
              <a:tblPr/>
              <a:tblGrid>
                <a:gridCol w="558800"/>
                <a:gridCol w="1483995"/>
                <a:gridCol w="352425"/>
                <a:gridCol w="660400"/>
                <a:gridCol w="660400"/>
                <a:gridCol w="712470"/>
                <a:gridCol w="711835"/>
                <a:gridCol w="712470"/>
              </a:tblGrid>
              <a:tr h="347980">
                <a:tc>
                  <a:txBody>
                    <a:bodyPr/>
                    <a:p>
                      <a:pPr marL="0" indent="0" algn="l" fontAlgn="ctr">
                        <a:spcBef>
                          <a:spcPct val="0"/>
                        </a:spcBef>
                        <a:spcAft>
                          <a:spcPct val="0"/>
                        </a:spcAft>
                      </a:pPr>
                      <a:r>
                        <a:rPr lang="zh-CN" altLang="en-US" sz="1100" b="1" i="0">
                          <a:solidFill>
                            <a:srgbClr val="FFFFFF"/>
                          </a:solidFill>
                          <a:latin typeface="宋体" panose="02010600030101010101" pitchFamily="2" charset="-122"/>
                          <a:ea typeface="宋体" panose="02010600030101010101" pitchFamily="2" charset="-122"/>
                        </a:rPr>
                        <a:t>年份</a:t>
                      </a:r>
                      <a:endParaRPr lang="zh-CN" altLang="en-US" sz="1100" b="1" i="0">
                        <a:solidFill>
                          <a:srgbClr val="FFFFFF"/>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4874CB"/>
                    </a:solidFill>
                  </a:tcPr>
                </a:tc>
                <a:tc>
                  <a:txBody>
                    <a:bodyPr/>
                    <a:p>
                      <a:pPr marL="0" indent="0" algn="l" fontAlgn="ctr">
                        <a:spcBef>
                          <a:spcPct val="0"/>
                        </a:spcBef>
                        <a:spcAft>
                          <a:spcPct val="0"/>
                        </a:spcAft>
                      </a:pPr>
                      <a:r>
                        <a:rPr lang="zh-CN" altLang="en-US" sz="1100" b="1" i="0">
                          <a:solidFill>
                            <a:srgbClr val="FFFFFF"/>
                          </a:solidFill>
                          <a:latin typeface="宋体" panose="02010600030101010101" pitchFamily="2" charset="-122"/>
                          <a:ea typeface="宋体" panose="02010600030101010101" pitchFamily="2" charset="-122"/>
                        </a:rPr>
                        <a:t>财务指标</a:t>
                      </a:r>
                      <a:endParaRPr lang="zh-CN" altLang="en-US" sz="1100" b="1" i="0">
                        <a:solidFill>
                          <a:srgbClr val="FFFFFF"/>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4874CB"/>
                    </a:solidFill>
                  </a:tcPr>
                </a:tc>
                <a:tc>
                  <a:txBody>
                    <a:bodyPr/>
                    <a:p>
                      <a:pPr marL="0" indent="0" algn="l" fontAlgn="ctr">
                        <a:spcBef>
                          <a:spcPct val="0"/>
                        </a:spcBef>
                        <a:spcAft>
                          <a:spcPct val="0"/>
                        </a:spcAft>
                      </a:pPr>
                      <a:r>
                        <a:rPr lang="zh-CN" altLang="en-US" sz="1100" b="1" i="0">
                          <a:solidFill>
                            <a:srgbClr val="FFFFFF"/>
                          </a:solidFill>
                          <a:latin typeface="宋体" panose="02010600030101010101" pitchFamily="2" charset="-122"/>
                          <a:ea typeface="宋体" panose="02010600030101010101" pitchFamily="2" charset="-122"/>
                        </a:rPr>
                        <a:t>单位</a:t>
                      </a:r>
                      <a:endParaRPr lang="zh-CN" altLang="en-US" sz="1100" b="1" i="0">
                        <a:solidFill>
                          <a:srgbClr val="FFFFFF"/>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4874CB"/>
                    </a:solidFill>
                  </a:tcPr>
                </a:tc>
                <a:tc>
                  <a:txBody>
                    <a:bodyPr/>
                    <a:p>
                      <a:pPr marL="0" indent="0" algn="r" fontAlgn="ctr">
                        <a:spcBef>
                          <a:spcPct val="0"/>
                        </a:spcBef>
                        <a:spcAft>
                          <a:spcPct val="0"/>
                        </a:spcAft>
                      </a:pPr>
                      <a:r>
                        <a:rPr lang="en-US" altLang="zh-CN" sz="1100" b="1" i="0">
                          <a:solidFill>
                            <a:srgbClr val="FFFFFF"/>
                          </a:solidFill>
                          <a:latin typeface="宋体" panose="02010600030101010101" pitchFamily="2" charset="-122"/>
                          <a:ea typeface="宋体" panose="02010600030101010101" pitchFamily="2" charset="-122"/>
                        </a:rPr>
                        <a:t>2020</a:t>
                      </a:r>
                      <a:endParaRPr lang="en-US" altLang="zh-CN" sz="1100" b="1" i="0">
                        <a:solidFill>
                          <a:srgbClr val="FFFFFF"/>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4874CB"/>
                    </a:solidFill>
                  </a:tcPr>
                </a:tc>
                <a:tc>
                  <a:txBody>
                    <a:bodyPr/>
                    <a:p>
                      <a:pPr marL="0" indent="0" algn="r" fontAlgn="ctr">
                        <a:spcBef>
                          <a:spcPct val="0"/>
                        </a:spcBef>
                        <a:spcAft>
                          <a:spcPct val="0"/>
                        </a:spcAft>
                      </a:pPr>
                      <a:r>
                        <a:rPr lang="en-US" altLang="zh-CN" sz="1100" b="1" i="0">
                          <a:solidFill>
                            <a:srgbClr val="FFFFFF"/>
                          </a:solidFill>
                          <a:latin typeface="宋体" panose="02010600030101010101" pitchFamily="2" charset="-122"/>
                          <a:ea typeface="宋体" panose="02010600030101010101" pitchFamily="2" charset="-122"/>
                        </a:rPr>
                        <a:t>2021</a:t>
                      </a:r>
                      <a:endParaRPr lang="en-US" altLang="zh-CN" sz="1100" b="1" i="0">
                        <a:solidFill>
                          <a:srgbClr val="FFFFFF"/>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4874CB"/>
                    </a:solidFill>
                  </a:tcPr>
                </a:tc>
                <a:tc>
                  <a:txBody>
                    <a:bodyPr/>
                    <a:p>
                      <a:pPr marL="0" indent="0" algn="r" fontAlgn="ctr">
                        <a:spcBef>
                          <a:spcPct val="0"/>
                        </a:spcBef>
                        <a:spcAft>
                          <a:spcPct val="0"/>
                        </a:spcAft>
                      </a:pPr>
                      <a:r>
                        <a:rPr lang="en-US" altLang="zh-CN" sz="1100" b="1" i="0">
                          <a:solidFill>
                            <a:srgbClr val="FFFFFF"/>
                          </a:solidFill>
                          <a:latin typeface="宋体" panose="02010600030101010101" pitchFamily="2" charset="-122"/>
                          <a:ea typeface="宋体" panose="02010600030101010101" pitchFamily="2" charset="-122"/>
                        </a:rPr>
                        <a:t>2022</a:t>
                      </a:r>
                      <a:endParaRPr lang="en-US" altLang="zh-CN" sz="1100" b="1" i="0">
                        <a:solidFill>
                          <a:srgbClr val="FFFFFF"/>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4874CB"/>
                    </a:solidFill>
                  </a:tcPr>
                </a:tc>
                <a:tc>
                  <a:txBody>
                    <a:bodyPr/>
                    <a:p>
                      <a:pPr marL="0" indent="0" algn="r" fontAlgn="ctr">
                        <a:spcBef>
                          <a:spcPct val="0"/>
                        </a:spcBef>
                        <a:spcAft>
                          <a:spcPct val="0"/>
                        </a:spcAft>
                      </a:pPr>
                      <a:r>
                        <a:rPr lang="en-US" altLang="zh-CN" sz="1100" b="1" i="0">
                          <a:solidFill>
                            <a:srgbClr val="FFFFFF"/>
                          </a:solidFill>
                          <a:latin typeface="宋体" panose="02010600030101010101" pitchFamily="2" charset="-122"/>
                          <a:ea typeface="宋体" panose="02010600030101010101" pitchFamily="2" charset="-122"/>
                        </a:rPr>
                        <a:t>2023</a:t>
                      </a:r>
                      <a:endParaRPr lang="en-US" altLang="zh-CN" sz="1100" b="1" i="0">
                        <a:solidFill>
                          <a:srgbClr val="FFFFFF"/>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4874CB"/>
                    </a:solidFill>
                  </a:tcPr>
                </a:tc>
                <a:tc>
                  <a:txBody>
                    <a:bodyPr/>
                    <a:p>
                      <a:pPr marL="0" indent="0" algn="r" fontAlgn="ctr">
                        <a:spcBef>
                          <a:spcPct val="0"/>
                        </a:spcBef>
                        <a:spcAft>
                          <a:spcPct val="0"/>
                        </a:spcAft>
                      </a:pPr>
                      <a:r>
                        <a:rPr lang="en-US" altLang="zh-CN" sz="1100" b="1" i="0">
                          <a:solidFill>
                            <a:srgbClr val="FFFFFF"/>
                          </a:solidFill>
                          <a:latin typeface="宋体" panose="02010600030101010101" pitchFamily="2" charset="-122"/>
                          <a:ea typeface="宋体" panose="02010600030101010101" pitchFamily="2" charset="-122"/>
                        </a:rPr>
                        <a:t>2024</a:t>
                      </a:r>
                      <a:endParaRPr lang="en-US" altLang="zh-CN" sz="1100" b="1" i="0">
                        <a:solidFill>
                          <a:srgbClr val="FFFFFF"/>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4874CB"/>
                    </a:solidFill>
                  </a:tcPr>
                </a:tc>
              </a:tr>
              <a:tr h="348615">
                <a:tc>
                  <a:txBody>
                    <a:bodyPr/>
                    <a:p>
                      <a:pPr marL="0" indent="0" algn="l" fontAlgn="ctr">
                        <a:spcBef>
                          <a:spcPct val="0"/>
                        </a:spcBef>
                        <a:spcAft>
                          <a:spcPct val="0"/>
                        </a:spcAft>
                      </a:pPr>
                      <a:r>
                        <a:rPr lang="zh-CN" altLang="en-US" sz="1100" i="0">
                          <a:solidFill>
                            <a:srgbClr val="000000"/>
                          </a:solidFill>
                          <a:latin typeface="宋体" panose="02010600030101010101" pitchFamily="2" charset="-122"/>
                          <a:ea typeface="宋体" panose="02010600030101010101" pitchFamily="2" charset="-122"/>
                        </a:rPr>
                        <a:t>偿债能力</a:t>
                      </a:r>
                      <a:endParaRPr lang="zh-CN" altLang="en-US"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l" fontAlgn="ctr">
                        <a:spcBef>
                          <a:spcPct val="0"/>
                        </a:spcBef>
                        <a:spcAft>
                          <a:spcPct val="0"/>
                        </a:spcAft>
                      </a:pPr>
                      <a:r>
                        <a:rPr lang="zh-CN" altLang="en-US" sz="1100" i="0">
                          <a:solidFill>
                            <a:srgbClr val="000000"/>
                          </a:solidFill>
                          <a:latin typeface="宋体" panose="02010600030101010101" pitchFamily="2" charset="-122"/>
                          <a:ea typeface="宋体" panose="02010600030101010101" pitchFamily="2" charset="-122"/>
                        </a:rPr>
                        <a:t>流动比率</a:t>
                      </a:r>
                      <a:endParaRPr lang="zh-CN" altLang="en-US"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l" fontAlgn="ctr">
                        <a:spcBef>
                          <a:spcPct val="0"/>
                        </a:spcBef>
                        <a:spcAft>
                          <a:spcPct val="0"/>
                        </a:spcAft>
                      </a:pPr>
                      <a:r>
                        <a:rPr lang="zh-CN" altLang="en-US" sz="1100" i="0">
                          <a:solidFill>
                            <a:srgbClr val="000000"/>
                          </a:solidFill>
                          <a:latin typeface="宋体" panose="02010600030101010101" pitchFamily="2" charset="-122"/>
                          <a:ea typeface="宋体" panose="02010600030101010101" pitchFamily="2" charset="-122"/>
                        </a:rPr>
                        <a:t>倍</a:t>
                      </a:r>
                      <a:endParaRPr lang="zh-CN" altLang="en-US"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1.66</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1.38</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2.66</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2.6</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2.81</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r>
              <a:tr h="333375">
                <a:tc>
                  <a:txBody>
                    <a:bodyPr/>
                    <a:p>
                      <a:pPr marL="0" indent="0" algn="just">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 </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l" fontAlgn="ctr">
                        <a:spcBef>
                          <a:spcPct val="0"/>
                        </a:spcBef>
                        <a:spcAft>
                          <a:spcPct val="0"/>
                        </a:spcAft>
                      </a:pPr>
                      <a:r>
                        <a:rPr lang="zh-CN" altLang="en-US" sz="1100" i="0">
                          <a:solidFill>
                            <a:srgbClr val="000000"/>
                          </a:solidFill>
                          <a:latin typeface="宋体" panose="02010600030101010101" pitchFamily="2" charset="-122"/>
                          <a:ea typeface="宋体" panose="02010600030101010101" pitchFamily="2" charset="-122"/>
                        </a:rPr>
                        <a:t>速动比率</a:t>
                      </a:r>
                      <a:endParaRPr lang="zh-CN" altLang="en-US"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l"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0.98</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0.62</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1.85</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1.71</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1.92</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r>
              <a:tr h="332740">
                <a:tc>
                  <a:txBody>
                    <a:bodyPr/>
                    <a:p>
                      <a:pPr marL="0" indent="0" algn="just">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 </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l" fontAlgn="ctr">
                        <a:spcBef>
                          <a:spcPct val="0"/>
                        </a:spcBef>
                        <a:spcAft>
                          <a:spcPct val="0"/>
                        </a:spcAft>
                      </a:pPr>
                      <a:r>
                        <a:rPr lang="zh-CN" altLang="en-US" sz="1100" i="0">
                          <a:solidFill>
                            <a:srgbClr val="000000"/>
                          </a:solidFill>
                          <a:latin typeface="宋体" panose="02010600030101010101" pitchFamily="2" charset="-122"/>
                          <a:ea typeface="宋体" panose="02010600030101010101" pitchFamily="2" charset="-122"/>
                        </a:rPr>
                        <a:t>资产负债率</a:t>
                      </a:r>
                      <a:endParaRPr lang="zh-CN" altLang="en-US"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l"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48.09%</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41.36%</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26.29%</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25.43%</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23.62%</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r>
              <a:tr h="337820">
                <a:tc>
                  <a:txBody>
                    <a:bodyPr/>
                    <a:p>
                      <a:pPr marL="0" indent="0" algn="just">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 </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l" fontAlgn="ctr">
                        <a:spcBef>
                          <a:spcPct val="0"/>
                        </a:spcBef>
                        <a:spcAft>
                          <a:spcPct val="0"/>
                        </a:spcAft>
                      </a:pPr>
                      <a:r>
                        <a:rPr lang="zh-CN" altLang="en-US" sz="1100" i="0">
                          <a:solidFill>
                            <a:srgbClr val="000000"/>
                          </a:solidFill>
                          <a:latin typeface="宋体" panose="02010600030101010101" pitchFamily="2" charset="-122"/>
                          <a:ea typeface="宋体" panose="02010600030101010101" pitchFamily="2" charset="-122"/>
                        </a:rPr>
                        <a:t>利息保障倍数</a:t>
                      </a:r>
                      <a:endParaRPr lang="zh-CN" altLang="en-US"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l" fontAlgn="ctr">
                        <a:spcBef>
                          <a:spcPct val="0"/>
                        </a:spcBef>
                        <a:spcAft>
                          <a:spcPct val="0"/>
                        </a:spcAft>
                      </a:pPr>
                      <a:r>
                        <a:rPr lang="zh-CN" altLang="en-US" sz="1100" i="0">
                          <a:solidFill>
                            <a:srgbClr val="000000"/>
                          </a:solidFill>
                          <a:latin typeface="宋体" panose="02010600030101010101" pitchFamily="2" charset="-122"/>
                          <a:ea typeface="宋体" panose="02010600030101010101" pitchFamily="2" charset="-122"/>
                        </a:rPr>
                        <a:t>倍</a:t>
                      </a:r>
                      <a:endParaRPr lang="zh-CN" altLang="en-US"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55.68</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67.08</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115.3</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136.2</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1290.87</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r>
            </a:tbl>
          </a:graphicData>
        </a:graphic>
      </p:graphicFrame>
      <p:pic>
        <p:nvPicPr>
          <p:cNvPr id="17" name="图片 16" descr="WX20251105-133503@2x"/>
          <p:cNvPicPr>
            <a:picLocks noChangeAspect="1"/>
          </p:cNvPicPr>
          <p:nvPr/>
        </p:nvPicPr>
        <p:blipFill>
          <a:blip r:embed="rId2"/>
          <a:stretch>
            <a:fillRect/>
          </a:stretch>
        </p:blipFill>
        <p:spPr>
          <a:xfrm>
            <a:off x="860425" y="3208020"/>
            <a:ext cx="5234940" cy="3345180"/>
          </a:xfrm>
          <a:prstGeom prst="rect">
            <a:avLst/>
          </a:prstGeom>
        </p:spPr>
      </p:pic>
    </p:spTree>
  </p:cSld>
  <p:clrMapOvr>
    <a:masterClrMapping/>
  </p:clrMapOvr>
  <p:transition spd="med" advTm="3000">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ppt_x"/>
                                          </p:val>
                                        </p:tav>
                                        <p:tav tm="100000">
                                          <p:val>
                                            <p:strVal val="#ppt_x"/>
                                          </p:val>
                                        </p:tav>
                                      </p:tavLst>
                                    </p:anim>
                                    <p:anim calcmode="lin" valueType="num">
                                      <p:cBhvr additive="base">
                                        <p:cTn id="1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47831" y="242047"/>
            <a:ext cx="1464428" cy="600634"/>
            <a:chOff x="1115735" y="587229"/>
            <a:chExt cx="10176791" cy="6547926"/>
          </a:xfrm>
        </p:grpSpPr>
        <p:sp>
          <p:nvSpPr>
            <p:cNvPr id="3" name="矩形 2"/>
            <p:cNvSpPr/>
            <p:nvPr/>
          </p:nvSpPr>
          <p:spPr>
            <a:xfrm>
              <a:off x="1115735" y="587229"/>
              <a:ext cx="9571839" cy="5410900"/>
            </a:xfrm>
            <a:prstGeom prst="rect">
              <a:avLst/>
            </a:prstGeom>
            <a:pattFill prst="wdDnDiag">
              <a:fgClr>
                <a:srgbClr val="203864"/>
              </a:fgClr>
              <a:bgClr>
                <a:schemeClr val="bg1"/>
              </a:bgClr>
            </a:patt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1720688" y="1724252"/>
              <a:ext cx="9571838" cy="5410903"/>
            </a:xfrm>
            <a:prstGeom prst="rect">
              <a:avLst/>
            </a:prstGeom>
            <a:solidFill>
              <a:schemeClr val="bg1"/>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5" name="文本框 4"/>
          <p:cNvSpPr txBox="1"/>
          <p:nvPr/>
        </p:nvSpPr>
        <p:spPr>
          <a:xfrm>
            <a:off x="376518" y="409847"/>
            <a:ext cx="1335741" cy="368300"/>
          </a:xfrm>
          <a:prstGeom prst="rect">
            <a:avLst/>
          </a:prstGeom>
          <a:noFill/>
        </p:spPr>
        <p:txBody>
          <a:bodyPr wrap="square" rtlCol="0">
            <a:spAutoFit/>
          </a:bodyPr>
          <a:lstStyle/>
          <a:p>
            <a:pPr algn="ctr"/>
            <a:r>
              <a:rPr lang="zh-CN" altLang="en-US" dirty="0">
                <a:latin typeface="思源黑体 CN Bold" panose="020B0800000000000000" pitchFamily="34" charset="-122"/>
                <a:ea typeface="思源黑体 CN Bold" panose="020B0800000000000000" pitchFamily="34" charset="-122"/>
              </a:rPr>
              <a:t>盈利能力</a:t>
            </a:r>
            <a:endParaRPr lang="zh-CN" altLang="en-US" dirty="0">
              <a:latin typeface="思源黑体 CN Bold" panose="020B0800000000000000" pitchFamily="34" charset="-122"/>
              <a:ea typeface="思源黑体 CN Bold" panose="020B0800000000000000" pitchFamily="34" charset="-122"/>
            </a:endParaRPr>
          </a:p>
        </p:txBody>
      </p:sp>
      <p:grpSp>
        <p:nvGrpSpPr>
          <p:cNvPr id="6" name="组合 5"/>
          <p:cNvGrpSpPr/>
          <p:nvPr/>
        </p:nvGrpSpPr>
        <p:grpSpPr>
          <a:xfrm>
            <a:off x="1450402" y="2838355"/>
            <a:ext cx="2185350" cy="3481609"/>
            <a:chOff x="735349" y="1555958"/>
            <a:chExt cx="2419318" cy="3854357"/>
          </a:xfrm>
          <a:solidFill>
            <a:srgbClr val="203864"/>
          </a:solidFill>
        </p:grpSpPr>
        <p:sp>
          <p:nvSpPr>
            <p:cNvPr id="7" name="任意多边形 8"/>
            <p:cNvSpPr/>
            <p:nvPr/>
          </p:nvSpPr>
          <p:spPr bwMode="auto">
            <a:xfrm>
              <a:off x="738726" y="1555958"/>
              <a:ext cx="2415941" cy="3850140"/>
            </a:xfrm>
            <a:custGeom>
              <a:avLst/>
              <a:gdLst>
                <a:gd name="T0" fmla="*/ 2271713 w 21600"/>
                <a:gd name="T1" fmla="*/ 3620294 h 21600"/>
                <a:gd name="T2" fmla="*/ 2271713 w 21600"/>
                <a:gd name="T3" fmla="*/ 3620294 h 21600"/>
                <a:gd name="T4" fmla="*/ 2271713 w 21600"/>
                <a:gd name="T5" fmla="*/ 3620294 h 21600"/>
                <a:gd name="T6" fmla="*/ 2271713 w 21600"/>
                <a:gd name="T7" fmla="*/ 3620294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0"/>
                  </a:moveTo>
                  <a:lnTo>
                    <a:pt x="21599" y="0"/>
                  </a:lnTo>
                  <a:lnTo>
                    <a:pt x="21599" y="21599"/>
                  </a:lnTo>
                  <a:lnTo>
                    <a:pt x="0" y="21599"/>
                  </a:lnTo>
                  <a:lnTo>
                    <a:pt x="0" y="0"/>
                  </a:lnTo>
                  <a:close/>
                </a:path>
              </a:pathLst>
            </a:custGeom>
            <a:solidFill>
              <a:srgbClr val="FFFFFF"/>
            </a:solidFill>
            <a:ln w="12700" cap="flat" cmpd="sng">
              <a:solidFill>
                <a:srgbClr val="203864"/>
              </a:solidFill>
              <a:prstDash val="solid"/>
              <a:miter lim="0"/>
            </a:ln>
            <a:effectLst/>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anchor="ctr"/>
            <a:lstStyle/>
            <a:p>
              <a:pPr algn="ctr"/>
              <a:endParaRPr lang="en-US" sz="1600" b="1" dirty="0">
                <a:solidFill>
                  <a:srgbClr val="203864"/>
                </a:solidFill>
                <a:latin typeface="思源黑体 CN Normal" panose="020B0400000000000000" pitchFamily="34" charset="-122"/>
                <a:ea typeface="思源黑体 CN Normal" panose="020B0400000000000000" pitchFamily="34" charset="-122"/>
              </a:endParaRPr>
            </a:p>
          </p:txBody>
        </p:sp>
        <p:sp>
          <p:nvSpPr>
            <p:cNvPr id="8" name="任意多边形 9"/>
            <p:cNvSpPr/>
            <p:nvPr/>
          </p:nvSpPr>
          <p:spPr bwMode="auto">
            <a:xfrm>
              <a:off x="735349" y="4291825"/>
              <a:ext cx="1688289" cy="1114270"/>
            </a:xfrm>
            <a:custGeom>
              <a:avLst/>
              <a:gdLst>
                <a:gd name="T0" fmla="*/ 1587500 w 21600"/>
                <a:gd name="T1" fmla="*/ 1047750 h 21600"/>
                <a:gd name="T2" fmla="*/ 1587500 w 21600"/>
                <a:gd name="T3" fmla="*/ 1047750 h 21600"/>
                <a:gd name="T4" fmla="*/ 1587500 w 21600"/>
                <a:gd name="T5" fmla="*/ 1047750 h 21600"/>
                <a:gd name="T6" fmla="*/ 1587500 w 21600"/>
                <a:gd name="T7" fmla="*/ 104775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0"/>
                  </a:moveTo>
                  <a:lnTo>
                    <a:pt x="21599" y="12216"/>
                  </a:lnTo>
                  <a:lnTo>
                    <a:pt x="21599" y="21600"/>
                  </a:lnTo>
                  <a:lnTo>
                    <a:pt x="0" y="21600"/>
                  </a:lnTo>
                  <a:lnTo>
                    <a:pt x="0" y="0"/>
                  </a:lnTo>
                  <a:close/>
                </a:path>
              </a:pathLst>
            </a:custGeom>
            <a:solidFill>
              <a:srgbClr val="203864">
                <a:alpha val="65000"/>
              </a:srgbClr>
            </a:solidFill>
            <a:ln>
              <a:noFill/>
            </a:ln>
            <a:effectLst/>
          </p:spPr>
          <p:txBody>
            <a:bodyPr anchor="ctr"/>
            <a:lstStyle/>
            <a:p>
              <a:pPr algn="ctr"/>
              <a:endParaRPr b="1">
                <a:solidFill>
                  <a:schemeClr val="bg1"/>
                </a:solidFill>
                <a:latin typeface="思源黑体 CN Normal" panose="020B0400000000000000" pitchFamily="34" charset="-122"/>
                <a:ea typeface="思源黑体 CN Normal" panose="020B0400000000000000" pitchFamily="34" charset="-122"/>
              </a:endParaRPr>
            </a:p>
          </p:txBody>
        </p:sp>
        <p:sp>
          <p:nvSpPr>
            <p:cNvPr id="9" name="任意多边形 10"/>
            <p:cNvSpPr/>
            <p:nvPr/>
          </p:nvSpPr>
          <p:spPr bwMode="auto">
            <a:xfrm flipH="1">
              <a:off x="738726" y="3815728"/>
              <a:ext cx="2415941" cy="1594587"/>
            </a:xfrm>
            <a:custGeom>
              <a:avLst/>
              <a:gdLst>
                <a:gd name="T0" fmla="*/ 2271713 w 21600"/>
                <a:gd name="T1" fmla="*/ 1499394 h 21600"/>
                <a:gd name="T2" fmla="*/ 2271713 w 21600"/>
                <a:gd name="T3" fmla="*/ 1499394 h 21600"/>
                <a:gd name="T4" fmla="*/ 2271713 w 21600"/>
                <a:gd name="T5" fmla="*/ 1499394 h 21600"/>
                <a:gd name="T6" fmla="*/ 2271713 w 21600"/>
                <a:gd name="T7" fmla="*/ 1499394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0"/>
                  </a:moveTo>
                  <a:lnTo>
                    <a:pt x="21600" y="12216"/>
                  </a:lnTo>
                  <a:lnTo>
                    <a:pt x="21600" y="21600"/>
                  </a:lnTo>
                  <a:lnTo>
                    <a:pt x="0" y="21600"/>
                  </a:lnTo>
                  <a:lnTo>
                    <a:pt x="0" y="0"/>
                  </a:lnTo>
                  <a:close/>
                </a:path>
              </a:pathLst>
            </a:custGeom>
            <a:grpFill/>
            <a:ln>
              <a:noFill/>
            </a:ln>
            <a:effectLst/>
          </p:spPr>
          <p:txBody>
            <a:bodyPr anchor="ctr"/>
            <a:lstStyle/>
            <a:p>
              <a:pPr algn="ctr"/>
              <a:endParaRPr b="1">
                <a:solidFill>
                  <a:schemeClr val="bg1"/>
                </a:solidFill>
                <a:latin typeface="思源黑体 CN Normal" panose="020B0400000000000000" pitchFamily="34" charset="-122"/>
                <a:ea typeface="思源黑体 CN Normal" panose="020B0400000000000000" pitchFamily="34" charset="-122"/>
              </a:endParaRPr>
            </a:p>
          </p:txBody>
        </p:sp>
        <p:sp>
          <p:nvSpPr>
            <p:cNvPr id="10" name="任意多边形 19"/>
            <p:cNvSpPr/>
            <p:nvPr/>
          </p:nvSpPr>
          <p:spPr bwMode="auto">
            <a:xfrm>
              <a:off x="929502" y="4905517"/>
              <a:ext cx="2008220" cy="32415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grpFill/>
            <a:ln>
              <a:noFill/>
            </a:ln>
            <a:effectLst/>
          </p:spPr>
          <p:txBody>
            <a:bodyPr wrap="none" lIns="0" tIns="0" rIns="0" bIns="0" anchor="ctr">
              <a:normAutofit/>
            </a:bodyPr>
            <a:lstStyle/>
            <a:p>
              <a:pPr defTabSz="584200">
                <a:defRPr/>
              </a:pPr>
              <a:r>
                <a:rPr lang="zh-CN" altLang="en-US" b="1" dirty="0">
                  <a:solidFill>
                    <a:schemeClr val="bg1"/>
                  </a:solidFill>
                  <a:latin typeface="思源黑体 CN Normal" panose="020B0400000000000000" pitchFamily="34" charset="-122"/>
                  <a:ea typeface="思源黑体 CN Normal" panose="020B0400000000000000" pitchFamily="34" charset="-122"/>
                </a:rPr>
                <a:t>营业收入与</a:t>
              </a:r>
              <a:r>
                <a:rPr lang="zh-CN" altLang="en-US" b="1" dirty="0">
                  <a:solidFill>
                    <a:schemeClr val="bg1"/>
                  </a:solidFill>
                  <a:latin typeface="思源黑体 CN Normal" panose="020B0400000000000000" pitchFamily="34" charset="-122"/>
                  <a:ea typeface="思源黑体 CN Normal" panose="020B0400000000000000" pitchFamily="34" charset="-122"/>
                </a:rPr>
                <a:t>净利润</a:t>
              </a:r>
              <a:endParaRPr lang="zh-CN" altLang="en-US" b="1" dirty="0">
                <a:solidFill>
                  <a:schemeClr val="bg1"/>
                </a:solidFill>
                <a:latin typeface="思源黑体 CN Normal" panose="020B0400000000000000" pitchFamily="34" charset="-122"/>
                <a:ea typeface="思源黑体 CN Normal" panose="020B0400000000000000" pitchFamily="34" charset="-122"/>
              </a:endParaRPr>
            </a:p>
          </p:txBody>
        </p:sp>
      </p:grpSp>
      <p:graphicFrame>
        <p:nvGraphicFramePr>
          <p:cNvPr id="27" name="表格 26"/>
          <p:cNvGraphicFramePr/>
          <p:nvPr>
            <p:custDataLst>
              <p:tags r:id="rId1"/>
            </p:custDataLst>
          </p:nvPr>
        </p:nvGraphicFramePr>
        <p:xfrm>
          <a:off x="2157730" y="835025"/>
          <a:ext cx="7788275" cy="1620520"/>
        </p:xfrm>
        <a:graphic>
          <a:graphicData uri="http://schemas.openxmlformats.org/drawingml/2006/table">
            <a:tbl>
              <a:tblPr/>
              <a:tblGrid>
                <a:gridCol w="679450"/>
                <a:gridCol w="1287145"/>
                <a:gridCol w="415925"/>
                <a:gridCol w="1134745"/>
                <a:gridCol w="945515"/>
                <a:gridCol w="1010920"/>
                <a:gridCol w="1073785"/>
                <a:gridCol w="1240790"/>
              </a:tblGrid>
              <a:tr h="335280">
                <a:tc>
                  <a:txBody>
                    <a:bodyPr/>
                    <a:p>
                      <a:pPr marL="0" indent="0" algn="l" fontAlgn="ctr">
                        <a:spcBef>
                          <a:spcPct val="0"/>
                        </a:spcBef>
                        <a:spcAft>
                          <a:spcPct val="0"/>
                        </a:spcAft>
                      </a:pPr>
                      <a:r>
                        <a:rPr lang="zh-CN" altLang="en-US" sz="1100" b="1" i="0">
                          <a:solidFill>
                            <a:srgbClr val="FFFFFF"/>
                          </a:solidFill>
                          <a:latin typeface="宋体" panose="02010600030101010101" pitchFamily="2" charset="-122"/>
                          <a:ea typeface="宋体" panose="02010600030101010101" pitchFamily="2" charset="-122"/>
                        </a:rPr>
                        <a:t>年份</a:t>
                      </a:r>
                      <a:endParaRPr lang="zh-CN" altLang="en-US" sz="1100" b="1" i="0">
                        <a:solidFill>
                          <a:srgbClr val="FFFFFF"/>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4874CB"/>
                    </a:solidFill>
                  </a:tcPr>
                </a:tc>
                <a:tc>
                  <a:txBody>
                    <a:bodyPr/>
                    <a:p>
                      <a:pPr marL="0" indent="0" algn="l" fontAlgn="ctr">
                        <a:spcBef>
                          <a:spcPct val="0"/>
                        </a:spcBef>
                        <a:spcAft>
                          <a:spcPct val="0"/>
                        </a:spcAft>
                      </a:pPr>
                      <a:r>
                        <a:rPr lang="zh-CN" altLang="en-US" sz="1100" b="1" i="0">
                          <a:solidFill>
                            <a:srgbClr val="FFFFFF"/>
                          </a:solidFill>
                          <a:latin typeface="宋体" panose="02010600030101010101" pitchFamily="2" charset="-122"/>
                          <a:ea typeface="宋体" panose="02010600030101010101" pitchFamily="2" charset="-122"/>
                        </a:rPr>
                        <a:t>财务指标</a:t>
                      </a:r>
                      <a:endParaRPr lang="zh-CN" altLang="en-US" sz="1100" b="1" i="0">
                        <a:solidFill>
                          <a:srgbClr val="FFFFFF"/>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4874CB"/>
                    </a:solidFill>
                  </a:tcPr>
                </a:tc>
                <a:tc>
                  <a:txBody>
                    <a:bodyPr/>
                    <a:p>
                      <a:pPr marL="0" indent="0" algn="l" fontAlgn="ctr">
                        <a:spcBef>
                          <a:spcPct val="0"/>
                        </a:spcBef>
                        <a:spcAft>
                          <a:spcPct val="0"/>
                        </a:spcAft>
                      </a:pPr>
                      <a:r>
                        <a:rPr lang="zh-CN" altLang="en-US" sz="1100" b="1" i="0">
                          <a:solidFill>
                            <a:srgbClr val="FFFFFF"/>
                          </a:solidFill>
                          <a:latin typeface="宋体" panose="02010600030101010101" pitchFamily="2" charset="-122"/>
                          <a:ea typeface="宋体" panose="02010600030101010101" pitchFamily="2" charset="-122"/>
                        </a:rPr>
                        <a:t>单位</a:t>
                      </a:r>
                      <a:endParaRPr lang="zh-CN" altLang="en-US" sz="1100" b="1" i="0">
                        <a:solidFill>
                          <a:srgbClr val="FFFFFF"/>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4874CB"/>
                    </a:solidFill>
                  </a:tcPr>
                </a:tc>
                <a:tc>
                  <a:txBody>
                    <a:bodyPr/>
                    <a:p>
                      <a:pPr marL="0" indent="0" algn="r" fontAlgn="ctr">
                        <a:spcBef>
                          <a:spcPct val="0"/>
                        </a:spcBef>
                        <a:spcAft>
                          <a:spcPct val="0"/>
                        </a:spcAft>
                      </a:pPr>
                      <a:r>
                        <a:rPr lang="en-US" altLang="zh-CN" sz="1100" b="1" i="0">
                          <a:solidFill>
                            <a:srgbClr val="FFFFFF"/>
                          </a:solidFill>
                          <a:latin typeface="宋体" panose="02010600030101010101" pitchFamily="2" charset="-122"/>
                          <a:ea typeface="宋体" panose="02010600030101010101" pitchFamily="2" charset="-122"/>
                        </a:rPr>
                        <a:t>2020</a:t>
                      </a:r>
                      <a:endParaRPr lang="en-US" altLang="zh-CN" sz="1100" b="1" i="0">
                        <a:solidFill>
                          <a:srgbClr val="FFFFFF"/>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4874CB"/>
                    </a:solidFill>
                  </a:tcPr>
                </a:tc>
                <a:tc>
                  <a:txBody>
                    <a:bodyPr/>
                    <a:p>
                      <a:pPr marL="0" indent="0" algn="ctr" fontAlgn="ctr">
                        <a:spcBef>
                          <a:spcPct val="0"/>
                        </a:spcBef>
                        <a:spcAft>
                          <a:spcPct val="0"/>
                        </a:spcAft>
                      </a:pPr>
                      <a:r>
                        <a:rPr lang="en-US" altLang="zh-CN" sz="1100" b="1" i="0">
                          <a:solidFill>
                            <a:srgbClr val="FFFFFF"/>
                          </a:solidFill>
                          <a:latin typeface="宋体" panose="02010600030101010101" pitchFamily="2" charset="-122"/>
                          <a:ea typeface="宋体" panose="02010600030101010101" pitchFamily="2" charset="-122"/>
                        </a:rPr>
                        <a:t>2021</a:t>
                      </a:r>
                      <a:endParaRPr lang="en-US" altLang="zh-CN" sz="1100" b="1" i="0">
                        <a:solidFill>
                          <a:srgbClr val="FFFFFF"/>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4874CB"/>
                    </a:solidFill>
                  </a:tcPr>
                </a:tc>
                <a:tc>
                  <a:txBody>
                    <a:bodyPr/>
                    <a:p>
                      <a:pPr marL="0" indent="0" algn="r" fontAlgn="ctr">
                        <a:spcBef>
                          <a:spcPct val="0"/>
                        </a:spcBef>
                        <a:spcAft>
                          <a:spcPct val="0"/>
                        </a:spcAft>
                      </a:pPr>
                      <a:r>
                        <a:rPr lang="en-US" altLang="zh-CN" sz="1100" b="1" i="0">
                          <a:solidFill>
                            <a:srgbClr val="FFFFFF"/>
                          </a:solidFill>
                          <a:latin typeface="宋体" panose="02010600030101010101" pitchFamily="2" charset="-122"/>
                          <a:ea typeface="宋体" panose="02010600030101010101" pitchFamily="2" charset="-122"/>
                        </a:rPr>
                        <a:t>2022</a:t>
                      </a:r>
                      <a:endParaRPr lang="en-US" altLang="zh-CN" sz="1100" b="1" i="0">
                        <a:solidFill>
                          <a:srgbClr val="FFFFFF"/>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4874CB"/>
                    </a:solidFill>
                  </a:tcPr>
                </a:tc>
                <a:tc>
                  <a:txBody>
                    <a:bodyPr/>
                    <a:p>
                      <a:pPr marL="0" indent="0" algn="r" fontAlgn="ctr">
                        <a:spcBef>
                          <a:spcPct val="0"/>
                        </a:spcBef>
                        <a:spcAft>
                          <a:spcPct val="0"/>
                        </a:spcAft>
                      </a:pPr>
                      <a:r>
                        <a:rPr lang="en-US" altLang="zh-CN" sz="1100" b="1" i="0">
                          <a:solidFill>
                            <a:srgbClr val="FFFFFF"/>
                          </a:solidFill>
                          <a:latin typeface="宋体" panose="02010600030101010101" pitchFamily="2" charset="-122"/>
                          <a:ea typeface="宋体" panose="02010600030101010101" pitchFamily="2" charset="-122"/>
                        </a:rPr>
                        <a:t>2023</a:t>
                      </a:r>
                      <a:endParaRPr lang="en-US" altLang="zh-CN" sz="1100" b="1" i="0">
                        <a:solidFill>
                          <a:srgbClr val="FFFFFF"/>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4874CB"/>
                    </a:solidFill>
                  </a:tcPr>
                </a:tc>
                <a:tc>
                  <a:txBody>
                    <a:bodyPr/>
                    <a:p>
                      <a:pPr marL="0" indent="0" algn="r" fontAlgn="ctr">
                        <a:spcBef>
                          <a:spcPct val="0"/>
                        </a:spcBef>
                        <a:spcAft>
                          <a:spcPct val="0"/>
                        </a:spcAft>
                      </a:pPr>
                      <a:r>
                        <a:rPr lang="en-US" altLang="zh-CN" sz="1100" b="1" i="0">
                          <a:solidFill>
                            <a:srgbClr val="FFFFFF"/>
                          </a:solidFill>
                          <a:latin typeface="宋体" panose="02010600030101010101" pitchFamily="2" charset="-122"/>
                          <a:ea typeface="宋体" panose="02010600030101010101" pitchFamily="2" charset="-122"/>
                        </a:rPr>
                        <a:t>2024</a:t>
                      </a:r>
                      <a:endParaRPr lang="en-US" altLang="zh-CN" sz="1100" b="1" i="0">
                        <a:solidFill>
                          <a:srgbClr val="FFFFFF"/>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4874CB"/>
                    </a:solidFill>
                  </a:tcPr>
                </a:tc>
              </a:tr>
              <a:tr h="335280">
                <a:tc>
                  <a:txBody>
                    <a:bodyPr/>
                    <a:p>
                      <a:pPr marL="0" indent="0" algn="l" fontAlgn="ctr">
                        <a:spcBef>
                          <a:spcPct val="0"/>
                        </a:spcBef>
                        <a:spcAft>
                          <a:spcPct val="0"/>
                        </a:spcAft>
                      </a:pPr>
                      <a:r>
                        <a:rPr lang="zh-CN" altLang="en-US" sz="1100" i="0">
                          <a:solidFill>
                            <a:srgbClr val="000000"/>
                          </a:solidFill>
                          <a:latin typeface="宋体" panose="02010600030101010101" pitchFamily="2" charset="-122"/>
                          <a:ea typeface="宋体" panose="02010600030101010101" pitchFamily="2" charset="-122"/>
                        </a:rPr>
                        <a:t>盈利能力</a:t>
                      </a:r>
                      <a:endParaRPr lang="zh-CN" altLang="en-US"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l" fontAlgn="ctr">
                        <a:spcBef>
                          <a:spcPct val="0"/>
                        </a:spcBef>
                        <a:spcAft>
                          <a:spcPct val="0"/>
                        </a:spcAft>
                      </a:pPr>
                      <a:r>
                        <a:rPr lang="zh-CN" altLang="en-US" sz="1100" i="0">
                          <a:solidFill>
                            <a:srgbClr val="000000"/>
                          </a:solidFill>
                          <a:latin typeface="宋体" panose="02010600030101010101" pitchFamily="2" charset="-122"/>
                          <a:ea typeface="宋体" panose="02010600030101010101" pitchFamily="2" charset="-122"/>
                        </a:rPr>
                        <a:t>营业收入</a:t>
                      </a:r>
                      <a:endParaRPr lang="zh-CN" altLang="en-US"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l" fontAlgn="ctr">
                        <a:spcBef>
                          <a:spcPct val="0"/>
                        </a:spcBef>
                        <a:spcAft>
                          <a:spcPct val="0"/>
                        </a:spcAft>
                      </a:pPr>
                      <a:r>
                        <a:rPr lang="zh-CN" altLang="en-US" sz="1100" i="0">
                          <a:solidFill>
                            <a:srgbClr val="000000"/>
                          </a:solidFill>
                          <a:latin typeface="宋体" panose="02010600030101010101" pitchFamily="2" charset="-122"/>
                          <a:ea typeface="宋体" panose="02010600030101010101" pitchFamily="2" charset="-122"/>
                        </a:rPr>
                        <a:t>万元</a:t>
                      </a:r>
                      <a:endParaRPr lang="zh-CN" altLang="en-US"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6965114987</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9272201670</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12182663119</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14045234826</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15126651674</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r>
              <a:tr h="460375">
                <a:tc>
                  <a:txBody>
                    <a:bodyPr/>
                    <a:p>
                      <a:pPr marL="0" indent="0" algn="just">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 </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l" fontAlgn="ctr">
                        <a:spcBef>
                          <a:spcPct val="0"/>
                        </a:spcBef>
                        <a:spcAft>
                          <a:spcPct val="0"/>
                        </a:spcAft>
                      </a:pPr>
                      <a:r>
                        <a:rPr lang="zh-CN" altLang="en-US" sz="1100" i="0">
                          <a:solidFill>
                            <a:srgbClr val="000000"/>
                          </a:solidFill>
                          <a:latin typeface="宋体" panose="02010600030101010101" pitchFamily="2" charset="-122"/>
                          <a:ea typeface="宋体" panose="02010600030101010101" pitchFamily="2" charset="-122"/>
                        </a:rPr>
                        <a:t>归属于母公司所有者的净利润</a:t>
                      </a:r>
                      <a:endParaRPr lang="zh-CN" altLang="en-US"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l" fontAlgn="ctr">
                        <a:spcBef>
                          <a:spcPct val="0"/>
                        </a:spcBef>
                        <a:spcAft>
                          <a:spcPct val="0"/>
                        </a:spcAft>
                      </a:pPr>
                      <a:r>
                        <a:rPr lang="zh-CN" altLang="en-US" sz="1100" i="0">
                          <a:solidFill>
                            <a:srgbClr val="000000"/>
                          </a:solidFill>
                          <a:latin typeface="宋体" panose="02010600030101010101" pitchFamily="2" charset="-122"/>
                          <a:ea typeface="宋体" panose="02010600030101010101" pitchFamily="2" charset="-122"/>
                        </a:rPr>
                        <a:t>万元</a:t>
                      </a:r>
                      <a:endParaRPr lang="zh-CN" altLang="en-US"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603800300</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682296100</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1101030000</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1478066300</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1484831200</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r>
              <a:tr h="243205">
                <a:tc>
                  <a:txBody>
                    <a:bodyPr/>
                    <a:p>
                      <a:pPr marL="0" indent="0" algn="just">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 </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l" fontAlgn="ctr">
                        <a:spcBef>
                          <a:spcPct val="0"/>
                        </a:spcBef>
                        <a:spcAft>
                          <a:spcPct val="0"/>
                        </a:spcAft>
                      </a:pPr>
                      <a:r>
                        <a:rPr lang="zh-CN" altLang="en-US" sz="1100" i="0">
                          <a:solidFill>
                            <a:srgbClr val="000000"/>
                          </a:solidFill>
                          <a:latin typeface="宋体" panose="02010600030101010101" pitchFamily="2" charset="-122"/>
                          <a:ea typeface="宋体" panose="02010600030101010101" pitchFamily="2" charset="-122"/>
                        </a:rPr>
                        <a:t>销售净利率</a:t>
                      </a:r>
                      <a:endParaRPr lang="zh-CN" altLang="en-US"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l"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8.67</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7.41</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9.17</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10.69</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10.01</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r>
              <a:tr h="246380">
                <a:tc>
                  <a:txBody>
                    <a:bodyPr/>
                    <a:p>
                      <a:pPr marL="0" indent="0" algn="just">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 </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l" fontAlgn="ctr">
                        <a:spcBef>
                          <a:spcPct val="0"/>
                        </a:spcBef>
                        <a:spcAft>
                          <a:spcPct val="0"/>
                        </a:spcAft>
                      </a:pPr>
                      <a:r>
                        <a:rPr lang="zh-CN" altLang="en-US" sz="1100" i="0">
                          <a:solidFill>
                            <a:srgbClr val="000000"/>
                          </a:solidFill>
                          <a:latin typeface="宋体" panose="02010600030101010101" pitchFamily="2" charset="-122"/>
                          <a:ea typeface="宋体" panose="02010600030101010101" pitchFamily="2" charset="-122"/>
                        </a:rPr>
                        <a:t>净资产收益率</a:t>
                      </a:r>
                      <a:endParaRPr lang="zh-CN" altLang="en-US"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l"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19.52</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15.56</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13.11</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12.11</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11.57</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r>
            </a:tbl>
          </a:graphicData>
        </a:graphic>
      </p:graphicFrame>
      <p:sp>
        <p:nvSpPr>
          <p:cNvPr id="29" name="文本框 28"/>
          <p:cNvSpPr txBox="1"/>
          <p:nvPr/>
        </p:nvSpPr>
        <p:spPr>
          <a:xfrm>
            <a:off x="1553845" y="3000375"/>
            <a:ext cx="1969135" cy="2722880"/>
          </a:xfrm>
          <a:prstGeom prst="rect">
            <a:avLst/>
          </a:prstGeom>
          <a:noFill/>
        </p:spPr>
        <p:txBody>
          <a:bodyPr wrap="square" rtlCol="0">
            <a:spAutoFit/>
          </a:bodyPr>
          <a:p>
            <a:pPr lvl="0" algn="l" defTabSz="1216660">
              <a:lnSpc>
                <a:spcPct val="100000"/>
              </a:lnSpc>
              <a:spcBef>
                <a:spcPct val="20000"/>
              </a:spcBef>
              <a:defRPr/>
            </a:pPr>
            <a:r>
              <a:rPr lang="zh-CN" altLang="en-US" dirty="0">
                <a:solidFill>
                  <a:srgbClr val="002060"/>
                </a:solidFill>
                <a:latin typeface="思源黑体 CN Normal" panose="020B0400000000000000" pitchFamily="34" charset="-122"/>
                <a:ea typeface="思源黑体 CN Normal" panose="020B0400000000000000" pitchFamily="34" charset="-122"/>
                <a:cs typeface="+mn-ea"/>
                <a:sym typeface="Calibri" panose="020F0502020204030204" pitchFamily="34" charset="0"/>
              </a:rPr>
              <a:t>可以看到</a:t>
            </a:r>
            <a:r>
              <a:rPr lang="en-US" altLang="zh-CN" dirty="0">
                <a:solidFill>
                  <a:srgbClr val="002060"/>
                </a:solidFill>
                <a:latin typeface="思源黑体 CN Normal" panose="020B0400000000000000" pitchFamily="34" charset="-122"/>
                <a:ea typeface="思源黑体 CN Normal" panose="020B0400000000000000" pitchFamily="34" charset="-122"/>
                <a:cs typeface="+mn-ea"/>
                <a:sym typeface="Calibri" panose="020F0502020204030204" pitchFamily="34" charset="0"/>
              </a:rPr>
              <a:t>2020-2024</a:t>
            </a:r>
            <a:r>
              <a:rPr lang="zh-CN" altLang="en-US" dirty="0">
                <a:solidFill>
                  <a:srgbClr val="002060"/>
                </a:solidFill>
                <a:latin typeface="思源黑体 CN Normal" panose="020B0400000000000000" pitchFamily="34" charset="-122"/>
                <a:ea typeface="思源黑体 CN Normal" panose="020B0400000000000000" pitchFamily="34" charset="-122"/>
                <a:cs typeface="+mn-ea"/>
                <a:sym typeface="Calibri" panose="020F0502020204030204" pitchFamily="34" charset="0"/>
              </a:rPr>
              <a:t>年度安井食品的营业收入处在逐年大幅度增长的阶段</a:t>
            </a:r>
            <a:r>
              <a:rPr lang="en-US" altLang="zh-CN" dirty="0">
                <a:solidFill>
                  <a:srgbClr val="002060"/>
                </a:solidFill>
                <a:latin typeface="思源黑体 CN Normal" panose="020B0400000000000000" pitchFamily="34" charset="-122"/>
                <a:ea typeface="思源黑体 CN Normal" panose="020B0400000000000000" pitchFamily="34" charset="-122"/>
                <a:cs typeface="+mn-ea"/>
                <a:sym typeface="Calibri" panose="020F0502020204030204" pitchFamily="34" charset="0"/>
              </a:rPr>
              <a:t>，</a:t>
            </a:r>
            <a:r>
              <a:rPr lang="zh-CN" altLang="en-US" dirty="0">
                <a:solidFill>
                  <a:srgbClr val="002060"/>
                </a:solidFill>
                <a:latin typeface="思源黑体 CN Normal" panose="020B0400000000000000" pitchFamily="34" charset="-122"/>
                <a:ea typeface="思源黑体 CN Normal" panose="020B0400000000000000" pitchFamily="34" charset="-122"/>
                <a:cs typeface="+mn-ea"/>
                <a:sym typeface="Calibri" panose="020F0502020204030204" pitchFamily="34" charset="0"/>
              </a:rPr>
              <a:t>净利润也处在逐年递增的发展方向之中</a:t>
            </a:r>
            <a:r>
              <a:rPr lang="en-US" altLang="zh-CN" dirty="0">
                <a:solidFill>
                  <a:srgbClr val="002060"/>
                </a:solidFill>
                <a:latin typeface="思源黑体 CN Normal" panose="020B0400000000000000" pitchFamily="34" charset="-122"/>
                <a:ea typeface="思源黑体 CN Normal" panose="020B0400000000000000" pitchFamily="34" charset="-122"/>
                <a:cs typeface="+mn-ea"/>
                <a:sym typeface="Calibri" panose="020F0502020204030204" pitchFamily="34" charset="0"/>
              </a:rPr>
              <a:t>。</a:t>
            </a:r>
            <a:endParaRPr lang="en-US" b="1" dirty="0">
              <a:solidFill>
                <a:srgbClr val="002060"/>
              </a:solidFill>
              <a:latin typeface="思源黑体 CN Normal" panose="020B0400000000000000" pitchFamily="34" charset="-122"/>
              <a:ea typeface="思源黑体 CN Normal" panose="020B0400000000000000" pitchFamily="34" charset="-122"/>
            </a:endParaRPr>
          </a:p>
          <a:p>
            <a:pPr algn="ctr"/>
            <a:endParaRPr lang="en-US" b="1" dirty="0">
              <a:solidFill>
                <a:srgbClr val="203864"/>
              </a:solidFill>
              <a:latin typeface="思源黑体 CN Normal" panose="020B0400000000000000" pitchFamily="34" charset="-122"/>
              <a:ea typeface="思源黑体 CN Normal" panose="020B0400000000000000" pitchFamily="34" charset="-122"/>
            </a:endParaRPr>
          </a:p>
          <a:p>
            <a:pPr>
              <a:lnSpc>
                <a:spcPct val="50000"/>
              </a:lnSpc>
            </a:pPr>
            <a:endParaRPr lang="zh-CN" altLang="en-US"/>
          </a:p>
        </p:txBody>
      </p:sp>
      <p:pic>
        <p:nvPicPr>
          <p:cNvPr id="30" name="图片 29" descr="WechatIMG6766"/>
          <p:cNvPicPr>
            <a:picLocks noChangeAspect="1"/>
          </p:cNvPicPr>
          <p:nvPr/>
        </p:nvPicPr>
        <p:blipFill>
          <a:blip r:embed="rId2"/>
          <a:stretch>
            <a:fillRect/>
          </a:stretch>
        </p:blipFill>
        <p:spPr>
          <a:xfrm>
            <a:off x="4137025" y="2838450"/>
            <a:ext cx="7418070" cy="3478530"/>
          </a:xfrm>
          <a:prstGeom prst="rect">
            <a:avLst/>
          </a:prstGeom>
        </p:spPr>
      </p:pic>
    </p:spTree>
  </p:cSld>
  <p:clrMapOvr>
    <a:masterClrMapping/>
  </p:clrMapOvr>
  <p:transition spd="med" advTm="3000">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47831" y="242047"/>
            <a:ext cx="1464428" cy="600634"/>
            <a:chOff x="1115735" y="587229"/>
            <a:chExt cx="10176791" cy="6547926"/>
          </a:xfrm>
        </p:grpSpPr>
        <p:sp>
          <p:nvSpPr>
            <p:cNvPr id="3" name="矩形 2"/>
            <p:cNvSpPr/>
            <p:nvPr/>
          </p:nvSpPr>
          <p:spPr>
            <a:xfrm>
              <a:off x="1115735" y="587229"/>
              <a:ext cx="9571839" cy="5410900"/>
            </a:xfrm>
            <a:prstGeom prst="rect">
              <a:avLst/>
            </a:prstGeom>
            <a:pattFill prst="wdDnDiag">
              <a:fgClr>
                <a:srgbClr val="203864"/>
              </a:fgClr>
              <a:bgClr>
                <a:schemeClr val="bg1"/>
              </a:bgClr>
            </a:patt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1720688" y="1724252"/>
              <a:ext cx="9571838" cy="5410903"/>
            </a:xfrm>
            <a:prstGeom prst="rect">
              <a:avLst/>
            </a:prstGeom>
            <a:solidFill>
              <a:schemeClr val="bg1"/>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5" name="文本框 4"/>
          <p:cNvSpPr txBox="1"/>
          <p:nvPr/>
        </p:nvSpPr>
        <p:spPr>
          <a:xfrm>
            <a:off x="376518" y="409847"/>
            <a:ext cx="1335741" cy="368300"/>
          </a:xfrm>
          <a:prstGeom prst="rect">
            <a:avLst/>
          </a:prstGeom>
          <a:noFill/>
        </p:spPr>
        <p:txBody>
          <a:bodyPr wrap="square" rtlCol="0">
            <a:spAutoFit/>
          </a:bodyPr>
          <a:lstStyle/>
          <a:p>
            <a:pPr algn="ctr"/>
            <a:r>
              <a:rPr lang="zh-CN" altLang="en-US" dirty="0">
                <a:latin typeface="思源黑体 CN Bold" panose="020B0800000000000000" pitchFamily="34" charset="-122"/>
                <a:ea typeface="思源黑体 CN Bold" panose="020B0800000000000000" pitchFamily="34" charset="-122"/>
              </a:rPr>
              <a:t>盈利能力</a:t>
            </a:r>
            <a:endParaRPr lang="zh-CN" altLang="en-US" dirty="0">
              <a:latin typeface="思源黑体 CN Bold" panose="020B0800000000000000" pitchFamily="34" charset="-122"/>
              <a:ea typeface="思源黑体 CN Bold" panose="020B0800000000000000" pitchFamily="34" charset="-122"/>
            </a:endParaRPr>
          </a:p>
        </p:txBody>
      </p:sp>
      <p:grpSp>
        <p:nvGrpSpPr>
          <p:cNvPr id="6" name="组合 5"/>
          <p:cNvGrpSpPr/>
          <p:nvPr/>
        </p:nvGrpSpPr>
        <p:grpSpPr>
          <a:xfrm>
            <a:off x="1382967" y="2774220"/>
            <a:ext cx="2185794" cy="3487325"/>
            <a:chOff x="735211" y="1549631"/>
            <a:chExt cx="2419810" cy="3860685"/>
          </a:xfrm>
          <a:solidFill>
            <a:srgbClr val="203864"/>
          </a:solidFill>
        </p:grpSpPr>
        <p:sp>
          <p:nvSpPr>
            <p:cNvPr id="7" name="任意多边形 8"/>
            <p:cNvSpPr/>
            <p:nvPr/>
          </p:nvSpPr>
          <p:spPr bwMode="auto">
            <a:xfrm>
              <a:off x="735211" y="1560176"/>
              <a:ext cx="2415941" cy="3850140"/>
            </a:xfrm>
            <a:custGeom>
              <a:avLst/>
              <a:gdLst>
                <a:gd name="T0" fmla="*/ 2271713 w 21600"/>
                <a:gd name="T1" fmla="*/ 3620294 h 21600"/>
                <a:gd name="T2" fmla="*/ 2271713 w 21600"/>
                <a:gd name="T3" fmla="*/ 3620294 h 21600"/>
                <a:gd name="T4" fmla="*/ 2271713 w 21600"/>
                <a:gd name="T5" fmla="*/ 3620294 h 21600"/>
                <a:gd name="T6" fmla="*/ 2271713 w 21600"/>
                <a:gd name="T7" fmla="*/ 3620294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0"/>
                  </a:moveTo>
                  <a:lnTo>
                    <a:pt x="21599" y="0"/>
                  </a:lnTo>
                  <a:lnTo>
                    <a:pt x="21599" y="21599"/>
                  </a:lnTo>
                  <a:lnTo>
                    <a:pt x="0" y="21599"/>
                  </a:lnTo>
                  <a:lnTo>
                    <a:pt x="0" y="0"/>
                  </a:lnTo>
                  <a:close/>
                </a:path>
              </a:pathLst>
            </a:custGeom>
            <a:solidFill>
              <a:srgbClr val="FFFFFF"/>
            </a:solidFill>
            <a:ln w="12700" cap="flat" cmpd="sng">
              <a:solidFill>
                <a:srgbClr val="203864"/>
              </a:solidFill>
              <a:prstDash val="solid"/>
              <a:miter lim="0"/>
            </a:ln>
            <a:effectLst/>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anchor="ctr"/>
            <a:lstStyle/>
            <a:p>
              <a:pPr algn="ctr"/>
              <a:endParaRPr b="1" dirty="0">
                <a:solidFill>
                  <a:schemeClr val="bg1"/>
                </a:solidFill>
                <a:latin typeface="思源黑体 CN Normal" panose="020B0400000000000000" pitchFamily="34" charset="-122"/>
                <a:ea typeface="思源黑体 CN Normal" panose="020B0400000000000000" pitchFamily="34" charset="-122"/>
              </a:endParaRPr>
            </a:p>
          </p:txBody>
        </p:sp>
        <p:sp>
          <p:nvSpPr>
            <p:cNvPr id="8" name="任意多边形 9"/>
            <p:cNvSpPr/>
            <p:nvPr/>
          </p:nvSpPr>
          <p:spPr bwMode="auto">
            <a:xfrm>
              <a:off x="735349" y="4291825"/>
              <a:ext cx="1688289" cy="1114270"/>
            </a:xfrm>
            <a:custGeom>
              <a:avLst/>
              <a:gdLst>
                <a:gd name="T0" fmla="*/ 1587500 w 21600"/>
                <a:gd name="T1" fmla="*/ 1047750 h 21600"/>
                <a:gd name="T2" fmla="*/ 1587500 w 21600"/>
                <a:gd name="T3" fmla="*/ 1047750 h 21600"/>
                <a:gd name="T4" fmla="*/ 1587500 w 21600"/>
                <a:gd name="T5" fmla="*/ 1047750 h 21600"/>
                <a:gd name="T6" fmla="*/ 1587500 w 21600"/>
                <a:gd name="T7" fmla="*/ 104775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0"/>
                  </a:moveTo>
                  <a:lnTo>
                    <a:pt x="21599" y="12216"/>
                  </a:lnTo>
                  <a:lnTo>
                    <a:pt x="21599" y="21600"/>
                  </a:lnTo>
                  <a:lnTo>
                    <a:pt x="0" y="21600"/>
                  </a:lnTo>
                  <a:lnTo>
                    <a:pt x="0" y="0"/>
                  </a:lnTo>
                  <a:close/>
                </a:path>
              </a:pathLst>
            </a:custGeom>
            <a:solidFill>
              <a:srgbClr val="203864">
                <a:alpha val="65000"/>
              </a:srgbClr>
            </a:solidFill>
            <a:ln>
              <a:noFill/>
            </a:ln>
            <a:effectLst/>
          </p:spPr>
          <p:txBody>
            <a:bodyPr anchor="ctr"/>
            <a:lstStyle/>
            <a:p>
              <a:pPr algn="ctr"/>
              <a:endParaRPr b="1">
                <a:solidFill>
                  <a:schemeClr val="bg1"/>
                </a:solidFill>
                <a:latin typeface="思源黑体 CN Normal" panose="020B0400000000000000" pitchFamily="34" charset="-122"/>
                <a:ea typeface="思源黑体 CN Normal" panose="020B0400000000000000" pitchFamily="34" charset="-122"/>
              </a:endParaRPr>
            </a:p>
          </p:txBody>
        </p:sp>
        <p:sp>
          <p:nvSpPr>
            <p:cNvPr id="9" name="任意多边形 10"/>
            <p:cNvSpPr/>
            <p:nvPr/>
          </p:nvSpPr>
          <p:spPr bwMode="auto">
            <a:xfrm flipH="1">
              <a:off x="738726" y="3815728"/>
              <a:ext cx="2415941" cy="1594587"/>
            </a:xfrm>
            <a:custGeom>
              <a:avLst/>
              <a:gdLst>
                <a:gd name="T0" fmla="*/ 2271713 w 21600"/>
                <a:gd name="T1" fmla="*/ 1499394 h 21600"/>
                <a:gd name="T2" fmla="*/ 2271713 w 21600"/>
                <a:gd name="T3" fmla="*/ 1499394 h 21600"/>
                <a:gd name="T4" fmla="*/ 2271713 w 21600"/>
                <a:gd name="T5" fmla="*/ 1499394 h 21600"/>
                <a:gd name="T6" fmla="*/ 2271713 w 21600"/>
                <a:gd name="T7" fmla="*/ 1499394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0"/>
                  </a:moveTo>
                  <a:lnTo>
                    <a:pt x="21600" y="12216"/>
                  </a:lnTo>
                  <a:lnTo>
                    <a:pt x="21600" y="21600"/>
                  </a:lnTo>
                  <a:lnTo>
                    <a:pt x="0" y="21600"/>
                  </a:lnTo>
                  <a:lnTo>
                    <a:pt x="0" y="0"/>
                  </a:lnTo>
                  <a:close/>
                </a:path>
              </a:pathLst>
            </a:custGeom>
            <a:grpFill/>
            <a:ln>
              <a:noFill/>
            </a:ln>
            <a:effectLst/>
          </p:spPr>
          <p:txBody>
            <a:bodyPr anchor="ctr"/>
            <a:lstStyle/>
            <a:p>
              <a:pPr algn="ctr"/>
              <a:endParaRPr b="1">
                <a:solidFill>
                  <a:schemeClr val="bg1"/>
                </a:solidFill>
                <a:latin typeface="思源黑体 CN Normal" panose="020B0400000000000000" pitchFamily="34" charset="-122"/>
                <a:ea typeface="思源黑体 CN Normal" panose="020B0400000000000000" pitchFamily="34" charset="-122"/>
              </a:endParaRPr>
            </a:p>
          </p:txBody>
        </p:sp>
        <p:sp>
          <p:nvSpPr>
            <p:cNvPr id="10" name="任意多边形 19"/>
            <p:cNvSpPr/>
            <p:nvPr/>
          </p:nvSpPr>
          <p:spPr bwMode="auto">
            <a:xfrm>
              <a:off x="785964" y="4469828"/>
              <a:ext cx="2369057" cy="75992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grpFill/>
            <a:ln>
              <a:noFill/>
            </a:ln>
            <a:effectLst/>
          </p:spPr>
          <p:txBody>
            <a:bodyPr wrap="none" lIns="0" tIns="0" rIns="0" bIns="0" anchor="ctr">
              <a:normAutofit/>
            </a:bodyPr>
            <a:lstStyle/>
            <a:p>
              <a:pPr algn="ctr" defTabSz="584200">
                <a:defRPr/>
              </a:pPr>
              <a:r>
                <a:rPr lang="zh-CN" altLang="en-US" b="1" dirty="0">
                  <a:solidFill>
                    <a:schemeClr val="bg1"/>
                  </a:solidFill>
                  <a:latin typeface="思源黑体 CN Normal" panose="020B0400000000000000" pitchFamily="34" charset="-122"/>
                  <a:ea typeface="思源黑体 CN Normal" panose="020B0400000000000000" pitchFamily="34" charset="-122"/>
                </a:rPr>
                <a:t>销售净利率</a:t>
              </a:r>
              <a:r>
                <a:rPr lang="en-US" altLang="zh-CN" b="1" dirty="0">
                  <a:solidFill>
                    <a:schemeClr val="bg1"/>
                  </a:solidFill>
                  <a:latin typeface="思源黑体 CN Normal" panose="020B0400000000000000" pitchFamily="34" charset="-122"/>
                  <a:ea typeface="思源黑体 CN Normal" panose="020B0400000000000000" pitchFamily="34" charset="-122"/>
                </a:rPr>
                <a:t>、</a:t>
              </a:r>
              <a:endParaRPr lang="en-US" altLang="zh-CN" b="1" dirty="0">
                <a:solidFill>
                  <a:schemeClr val="bg1"/>
                </a:solidFill>
                <a:latin typeface="思源黑体 CN Normal" panose="020B0400000000000000" pitchFamily="34" charset="-122"/>
                <a:ea typeface="思源黑体 CN Normal" panose="020B0400000000000000" pitchFamily="34" charset="-122"/>
              </a:endParaRPr>
            </a:p>
            <a:p>
              <a:pPr algn="ctr" defTabSz="584200">
                <a:defRPr/>
              </a:pPr>
              <a:r>
                <a:rPr lang="zh-CN" altLang="en-US" b="1" dirty="0">
                  <a:solidFill>
                    <a:schemeClr val="bg1"/>
                  </a:solidFill>
                  <a:latin typeface="思源黑体 CN Normal" panose="020B0400000000000000" pitchFamily="34" charset="-122"/>
                  <a:ea typeface="思源黑体 CN Normal" panose="020B0400000000000000" pitchFamily="34" charset="-122"/>
                </a:rPr>
                <a:t>净资产收益率</a:t>
              </a:r>
              <a:r>
                <a:rPr lang="en-US" altLang="zh-CN" b="1" dirty="0">
                  <a:solidFill>
                    <a:schemeClr val="bg1"/>
                  </a:solidFill>
                  <a:latin typeface="思源黑体 CN Normal" panose="020B0400000000000000" pitchFamily="34" charset="-122"/>
                  <a:ea typeface="思源黑体 CN Normal" panose="020B0400000000000000" pitchFamily="34" charset="-122"/>
                </a:rPr>
                <a:t>（ROE)</a:t>
              </a:r>
              <a:endParaRPr lang="en-US" altLang="zh-CN" b="1" dirty="0">
                <a:solidFill>
                  <a:schemeClr val="bg1"/>
                </a:solidFill>
                <a:latin typeface="思源黑体 CN Normal" panose="020B0400000000000000" pitchFamily="34" charset="-122"/>
                <a:ea typeface="思源黑体 CN Normal" panose="020B0400000000000000" pitchFamily="34" charset="-122"/>
              </a:endParaRPr>
            </a:p>
          </p:txBody>
        </p:sp>
        <p:sp>
          <p:nvSpPr>
            <p:cNvPr id="11" name="任意多边形 522"/>
            <p:cNvSpPr/>
            <p:nvPr/>
          </p:nvSpPr>
          <p:spPr bwMode="auto">
            <a:xfrm>
              <a:off x="787935" y="1549631"/>
              <a:ext cx="2366948" cy="254972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p:spPr>
          <p:txBody>
            <a:bodyPr wrap="none" lIns="0" tIns="0" rIns="0" bIns="0" anchor="ctr"/>
            <a:lstStyle/>
            <a:p>
              <a:pPr algn="l" defTabSz="584200">
                <a:lnSpc>
                  <a:spcPct val="130000"/>
                </a:lnSpc>
                <a:defRPr/>
              </a:pPr>
              <a:r>
                <a:rPr lang="zh-CN" altLang="en-US" sz="1200" b="1" dirty="0">
                  <a:solidFill>
                    <a:srgbClr val="203864"/>
                  </a:solidFill>
                  <a:latin typeface="思源黑体 CN Normal" panose="020B0400000000000000" pitchFamily="34" charset="-122"/>
                  <a:ea typeface="思源黑体 CN Normal" panose="020B0400000000000000" pitchFamily="34" charset="-122"/>
                </a:rPr>
                <a:t>企业的销售净利率在下降后又</a:t>
              </a:r>
              <a:endParaRPr lang="zh-CN" altLang="en-US" sz="1200" b="1" dirty="0">
                <a:solidFill>
                  <a:srgbClr val="203864"/>
                </a:solidFill>
                <a:latin typeface="思源黑体 CN Normal" panose="020B0400000000000000" pitchFamily="34" charset="-122"/>
                <a:ea typeface="思源黑体 CN Normal" panose="020B0400000000000000" pitchFamily="34" charset="-122"/>
              </a:endParaRPr>
            </a:p>
            <a:p>
              <a:pPr algn="l" defTabSz="584200">
                <a:lnSpc>
                  <a:spcPct val="130000"/>
                </a:lnSpc>
                <a:defRPr/>
              </a:pPr>
              <a:r>
                <a:rPr lang="zh-CN" altLang="en-US" sz="1200" b="1" dirty="0">
                  <a:solidFill>
                    <a:srgbClr val="203864"/>
                  </a:solidFill>
                  <a:latin typeface="思源黑体 CN Normal" panose="020B0400000000000000" pitchFamily="34" charset="-122"/>
                  <a:ea typeface="思源黑体 CN Normal" panose="020B0400000000000000" pitchFamily="34" charset="-122"/>
                </a:rPr>
                <a:t>有提升</a:t>
              </a:r>
              <a:r>
                <a:rPr lang="en-US" altLang="zh-CN" sz="1200" b="1" dirty="0">
                  <a:solidFill>
                    <a:srgbClr val="203864"/>
                  </a:solidFill>
                  <a:latin typeface="思源黑体 CN Normal" panose="020B0400000000000000" pitchFamily="34" charset="-122"/>
                  <a:ea typeface="思源黑体 CN Normal" panose="020B0400000000000000" pitchFamily="34" charset="-122"/>
                </a:rPr>
                <a:t>，</a:t>
              </a:r>
              <a:r>
                <a:rPr lang="zh-CN" altLang="en-US" sz="1200" b="1" dirty="0">
                  <a:solidFill>
                    <a:srgbClr val="203864"/>
                  </a:solidFill>
                  <a:latin typeface="思源黑体 CN Normal" panose="020B0400000000000000" pitchFamily="34" charset="-122"/>
                  <a:ea typeface="思源黑体 CN Normal" panose="020B0400000000000000" pitchFamily="34" charset="-122"/>
                </a:rPr>
                <a:t>但总体较为平缓</a:t>
              </a:r>
              <a:r>
                <a:rPr lang="en-US" altLang="zh-CN" sz="1200" b="1" dirty="0">
                  <a:solidFill>
                    <a:srgbClr val="203864"/>
                  </a:solidFill>
                  <a:latin typeface="思源黑体 CN Normal" panose="020B0400000000000000" pitchFamily="34" charset="-122"/>
                  <a:ea typeface="思源黑体 CN Normal" panose="020B0400000000000000" pitchFamily="34" charset="-122"/>
                </a:rPr>
                <a:t>。</a:t>
              </a:r>
              <a:r>
                <a:rPr lang="zh-CN" altLang="en-US" sz="1200" b="1" dirty="0">
                  <a:solidFill>
                    <a:srgbClr val="203864"/>
                  </a:solidFill>
                  <a:latin typeface="思源黑体 CN Normal" panose="020B0400000000000000" pitchFamily="34" charset="-122"/>
                  <a:ea typeface="思源黑体 CN Normal" panose="020B0400000000000000" pitchFamily="34" charset="-122"/>
                </a:rPr>
                <a:t>然</a:t>
              </a:r>
              <a:endParaRPr lang="zh-CN" altLang="en-US" sz="1200" b="1" dirty="0">
                <a:solidFill>
                  <a:srgbClr val="203864"/>
                </a:solidFill>
                <a:latin typeface="思源黑体 CN Normal" panose="020B0400000000000000" pitchFamily="34" charset="-122"/>
                <a:ea typeface="思源黑体 CN Normal" panose="020B0400000000000000" pitchFamily="34" charset="-122"/>
              </a:endParaRPr>
            </a:p>
            <a:p>
              <a:pPr algn="l" defTabSz="584200">
                <a:lnSpc>
                  <a:spcPct val="130000"/>
                </a:lnSpc>
                <a:defRPr/>
              </a:pPr>
              <a:r>
                <a:rPr lang="zh-CN" altLang="en-US" sz="1200" b="1" dirty="0">
                  <a:solidFill>
                    <a:srgbClr val="203864"/>
                  </a:solidFill>
                  <a:latin typeface="思源黑体 CN Normal" panose="020B0400000000000000" pitchFamily="34" charset="-122"/>
                  <a:ea typeface="思源黑体 CN Normal" panose="020B0400000000000000" pitchFamily="34" charset="-122"/>
                </a:rPr>
                <a:t>而企业的净资产收益率在逐年</a:t>
              </a:r>
              <a:endParaRPr lang="zh-CN" altLang="en-US" sz="1200" b="1" dirty="0">
                <a:solidFill>
                  <a:srgbClr val="203864"/>
                </a:solidFill>
                <a:latin typeface="思源黑体 CN Normal" panose="020B0400000000000000" pitchFamily="34" charset="-122"/>
                <a:ea typeface="思源黑体 CN Normal" panose="020B0400000000000000" pitchFamily="34" charset="-122"/>
              </a:endParaRPr>
            </a:p>
            <a:p>
              <a:pPr algn="l" defTabSz="584200">
                <a:lnSpc>
                  <a:spcPct val="130000"/>
                </a:lnSpc>
                <a:defRPr/>
              </a:pPr>
              <a:r>
                <a:rPr lang="zh-CN" altLang="en-US" sz="1200" b="1" dirty="0">
                  <a:solidFill>
                    <a:srgbClr val="203864"/>
                  </a:solidFill>
                  <a:latin typeface="思源黑体 CN Normal" panose="020B0400000000000000" pitchFamily="34" charset="-122"/>
                  <a:ea typeface="思源黑体 CN Normal" panose="020B0400000000000000" pitchFamily="34" charset="-122"/>
                </a:rPr>
                <a:t>下降</a:t>
              </a:r>
              <a:r>
                <a:rPr lang="en-US" altLang="zh-CN" sz="1200" b="1" dirty="0">
                  <a:solidFill>
                    <a:srgbClr val="203864"/>
                  </a:solidFill>
                  <a:latin typeface="思源黑体 CN Normal" panose="020B0400000000000000" pitchFamily="34" charset="-122"/>
                  <a:ea typeface="思源黑体 CN Normal" panose="020B0400000000000000" pitchFamily="34" charset="-122"/>
                </a:rPr>
                <a:t>，</a:t>
              </a:r>
              <a:r>
                <a:rPr lang="zh-CN" altLang="en-US" sz="1200" b="1" dirty="0">
                  <a:solidFill>
                    <a:srgbClr val="203864"/>
                  </a:solidFill>
                  <a:latin typeface="思源黑体 CN Normal" panose="020B0400000000000000" pitchFamily="34" charset="-122"/>
                  <a:ea typeface="思源黑体 CN Normal" panose="020B0400000000000000" pitchFamily="34" charset="-122"/>
                </a:rPr>
                <a:t>这意味着安井食品的</a:t>
              </a:r>
              <a:r>
                <a:rPr lang="zh-CN" altLang="en-US" sz="1200" b="1" dirty="0">
                  <a:solidFill>
                    <a:srgbClr val="203864"/>
                  </a:solidFill>
                  <a:latin typeface="思源黑体 CN Normal" panose="020B0400000000000000" pitchFamily="34" charset="-122"/>
                  <a:ea typeface="思源黑体 CN Normal" panose="020B0400000000000000" pitchFamily="34" charset="-122"/>
                </a:rPr>
                <a:t>增</a:t>
              </a:r>
              <a:endParaRPr lang="zh-CN" altLang="en-US" sz="1200" b="1" dirty="0">
                <a:solidFill>
                  <a:srgbClr val="203864"/>
                </a:solidFill>
                <a:latin typeface="思源黑体 CN Normal" panose="020B0400000000000000" pitchFamily="34" charset="-122"/>
                <a:ea typeface="思源黑体 CN Normal" panose="020B0400000000000000" pitchFamily="34" charset="-122"/>
              </a:endParaRPr>
            </a:p>
            <a:p>
              <a:pPr algn="l" defTabSz="584200">
                <a:lnSpc>
                  <a:spcPct val="130000"/>
                </a:lnSpc>
                <a:defRPr/>
              </a:pPr>
              <a:r>
                <a:rPr lang="zh-CN" altLang="en-US" sz="1200" b="1" dirty="0">
                  <a:solidFill>
                    <a:srgbClr val="203864"/>
                  </a:solidFill>
                  <a:latin typeface="思源黑体 CN Normal" panose="020B0400000000000000" pitchFamily="34" charset="-122"/>
                  <a:ea typeface="思源黑体 CN Normal" panose="020B0400000000000000" pitchFamily="34" charset="-122"/>
                </a:rPr>
                <a:t>长潜力和企业价值在未来</a:t>
              </a:r>
              <a:r>
                <a:rPr lang="zh-CN" altLang="en-US" sz="1200" b="1" dirty="0">
                  <a:solidFill>
                    <a:srgbClr val="203864"/>
                  </a:solidFill>
                  <a:latin typeface="思源黑体 CN Normal" panose="020B0400000000000000" pitchFamily="34" charset="-122"/>
                  <a:ea typeface="思源黑体 CN Normal" panose="020B0400000000000000" pitchFamily="34" charset="-122"/>
                </a:rPr>
                <a:t>可能</a:t>
              </a:r>
              <a:endParaRPr lang="zh-CN" altLang="en-US" sz="1200" b="1" dirty="0">
                <a:solidFill>
                  <a:srgbClr val="203864"/>
                </a:solidFill>
                <a:latin typeface="思源黑体 CN Normal" panose="020B0400000000000000" pitchFamily="34" charset="-122"/>
                <a:ea typeface="思源黑体 CN Normal" panose="020B0400000000000000" pitchFamily="34" charset="-122"/>
              </a:endParaRPr>
            </a:p>
            <a:p>
              <a:pPr algn="l" defTabSz="584200">
                <a:lnSpc>
                  <a:spcPct val="130000"/>
                </a:lnSpc>
                <a:defRPr/>
              </a:pPr>
              <a:r>
                <a:rPr lang="zh-CN" altLang="en-US" sz="1200" b="1" dirty="0">
                  <a:solidFill>
                    <a:srgbClr val="203864"/>
                  </a:solidFill>
                  <a:latin typeface="思源黑体 CN Normal" panose="020B0400000000000000" pitchFamily="34" charset="-122"/>
                  <a:ea typeface="思源黑体 CN Normal" panose="020B0400000000000000" pitchFamily="34" charset="-122"/>
                </a:rPr>
                <a:t>存在低估风险（</a:t>
              </a:r>
              <a:r>
                <a:rPr lang="en-US" altLang="zh-CN" sz="1200" b="1" dirty="0">
                  <a:solidFill>
                    <a:srgbClr val="203864"/>
                  </a:solidFill>
                  <a:latin typeface="思源黑体 CN Normal" panose="020B0400000000000000" pitchFamily="34" charset="-122"/>
                  <a:ea typeface="思源黑体 CN Normal" panose="020B0400000000000000" pitchFamily="34" charset="-122"/>
                </a:rPr>
                <a:t>15%</a:t>
              </a:r>
              <a:r>
                <a:rPr lang="zh-CN" altLang="en-US" sz="1200" b="1" dirty="0">
                  <a:solidFill>
                    <a:srgbClr val="203864"/>
                  </a:solidFill>
                  <a:latin typeface="思源黑体 CN Normal" panose="020B0400000000000000" pitchFamily="34" charset="-122"/>
                  <a:ea typeface="思源黑体 CN Normal" panose="020B0400000000000000" pitchFamily="34" charset="-122"/>
                </a:rPr>
                <a:t>作为</a:t>
              </a:r>
              <a:r>
                <a:rPr lang="zh-CN" altLang="en-US" sz="1200" b="1" dirty="0">
                  <a:solidFill>
                    <a:srgbClr val="203864"/>
                  </a:solidFill>
                  <a:latin typeface="思源黑体 CN Normal" panose="020B0400000000000000" pitchFamily="34" charset="-122"/>
                  <a:ea typeface="思源黑体 CN Normal" panose="020B0400000000000000" pitchFamily="34" charset="-122"/>
                </a:rPr>
                <a:t>衡量</a:t>
              </a:r>
              <a:endParaRPr lang="zh-CN" altLang="en-US" sz="1200" b="1" dirty="0">
                <a:solidFill>
                  <a:srgbClr val="203864"/>
                </a:solidFill>
                <a:latin typeface="思源黑体 CN Normal" panose="020B0400000000000000" pitchFamily="34" charset="-122"/>
                <a:ea typeface="思源黑体 CN Normal" panose="020B0400000000000000" pitchFamily="34" charset="-122"/>
              </a:endParaRPr>
            </a:p>
            <a:p>
              <a:pPr algn="l" defTabSz="584200">
                <a:lnSpc>
                  <a:spcPct val="130000"/>
                </a:lnSpc>
                <a:defRPr/>
              </a:pPr>
              <a:r>
                <a:rPr lang="zh-CN" altLang="en-US" sz="1200" b="1" dirty="0">
                  <a:solidFill>
                    <a:srgbClr val="203864"/>
                  </a:solidFill>
                  <a:latin typeface="思源黑体 CN Normal" panose="020B0400000000000000" pitchFamily="34" charset="-122"/>
                  <a:ea typeface="思源黑体 CN Normal" panose="020B0400000000000000" pitchFamily="34" charset="-122"/>
                </a:rPr>
                <a:t>企业</a:t>
              </a:r>
              <a:r>
                <a:rPr lang="en-US" altLang="zh-CN" sz="1200" b="1" dirty="0">
                  <a:solidFill>
                    <a:srgbClr val="203864"/>
                  </a:solidFill>
                  <a:latin typeface="思源黑体 CN Normal" panose="020B0400000000000000" pitchFamily="34" charset="-122"/>
                  <a:ea typeface="思源黑体 CN Normal" panose="020B0400000000000000" pitchFamily="34" charset="-122"/>
                </a:rPr>
                <a:t>roe</a:t>
              </a:r>
              <a:r>
                <a:rPr lang="zh-CN" altLang="en-US" sz="1200" b="1" dirty="0">
                  <a:solidFill>
                    <a:srgbClr val="203864"/>
                  </a:solidFill>
                  <a:latin typeface="思源黑体 CN Normal" panose="020B0400000000000000" pitchFamily="34" charset="-122"/>
                  <a:ea typeface="思源黑体 CN Normal" panose="020B0400000000000000" pitchFamily="34" charset="-122"/>
                </a:rPr>
                <a:t>的重要标准），</a:t>
              </a:r>
              <a:r>
                <a:rPr lang="zh-CN" altLang="en-US" sz="1200" b="1" dirty="0">
                  <a:solidFill>
                    <a:srgbClr val="203864"/>
                  </a:solidFill>
                  <a:latin typeface="思源黑体 CN Normal" panose="020B0400000000000000" pitchFamily="34" charset="-122"/>
                  <a:ea typeface="思源黑体 CN Normal" panose="020B0400000000000000" pitchFamily="34" charset="-122"/>
                </a:rPr>
                <a:t>那么</a:t>
              </a:r>
              <a:endParaRPr lang="zh-CN" altLang="en-US" sz="1200" b="1" dirty="0">
                <a:solidFill>
                  <a:srgbClr val="203864"/>
                </a:solidFill>
                <a:latin typeface="思源黑体 CN Normal" panose="020B0400000000000000" pitchFamily="34" charset="-122"/>
                <a:ea typeface="思源黑体 CN Normal" panose="020B0400000000000000" pitchFamily="34" charset="-122"/>
              </a:endParaRPr>
            </a:p>
            <a:p>
              <a:pPr algn="l" defTabSz="584200">
                <a:lnSpc>
                  <a:spcPct val="130000"/>
                </a:lnSpc>
                <a:defRPr/>
              </a:pPr>
              <a:r>
                <a:rPr lang="zh-CN" altLang="en-US" sz="1200" b="1" dirty="0">
                  <a:solidFill>
                    <a:srgbClr val="203864"/>
                  </a:solidFill>
                  <a:latin typeface="思源黑体 CN Normal" panose="020B0400000000000000" pitchFamily="34" charset="-122"/>
                  <a:ea typeface="思源黑体 CN Normal" panose="020B0400000000000000" pitchFamily="34" charset="-122"/>
                </a:rPr>
                <a:t>意味着安井食品可能存在</a:t>
              </a:r>
              <a:r>
                <a:rPr lang="zh-CN" altLang="en-US" sz="1200" b="1" dirty="0">
                  <a:solidFill>
                    <a:srgbClr val="203864"/>
                  </a:solidFill>
                  <a:latin typeface="思源黑体 CN Normal" panose="020B0400000000000000" pitchFamily="34" charset="-122"/>
                  <a:ea typeface="思源黑体 CN Normal" panose="020B0400000000000000" pitchFamily="34" charset="-122"/>
                </a:rPr>
                <a:t>利润</a:t>
              </a:r>
              <a:endParaRPr lang="zh-CN" altLang="en-US" sz="1200" b="1" dirty="0">
                <a:solidFill>
                  <a:srgbClr val="203864"/>
                </a:solidFill>
                <a:latin typeface="思源黑体 CN Normal" panose="020B0400000000000000" pitchFamily="34" charset="-122"/>
                <a:ea typeface="思源黑体 CN Normal" panose="020B0400000000000000" pitchFamily="34" charset="-122"/>
              </a:endParaRPr>
            </a:p>
            <a:p>
              <a:pPr algn="l" defTabSz="584200">
                <a:lnSpc>
                  <a:spcPct val="130000"/>
                </a:lnSpc>
                <a:defRPr/>
              </a:pPr>
              <a:r>
                <a:rPr lang="zh-CN" altLang="en-US" sz="1200" b="1" dirty="0">
                  <a:solidFill>
                    <a:srgbClr val="203864"/>
                  </a:solidFill>
                  <a:latin typeface="思源黑体 CN Normal" panose="020B0400000000000000" pitchFamily="34" charset="-122"/>
                  <a:ea typeface="思源黑体 CN Normal" panose="020B0400000000000000" pitchFamily="34" charset="-122"/>
                </a:rPr>
                <a:t>下滑、资金紧张</a:t>
              </a:r>
              <a:r>
                <a:rPr lang="zh-CN" altLang="en-US" sz="1200" b="1" dirty="0">
                  <a:solidFill>
                    <a:srgbClr val="203864"/>
                  </a:solidFill>
                  <a:latin typeface="思源黑体 CN Normal" panose="020B0400000000000000" pitchFamily="34" charset="-122"/>
                  <a:ea typeface="思源黑体 CN Normal" panose="020B0400000000000000" pitchFamily="34" charset="-122"/>
                </a:rPr>
                <a:t>问题。</a:t>
              </a:r>
              <a:endParaRPr lang="zh-CN" altLang="en-US" sz="1200" b="1" dirty="0">
                <a:solidFill>
                  <a:srgbClr val="203864"/>
                </a:solidFill>
                <a:latin typeface="思源黑体 CN Normal" panose="020B0400000000000000" pitchFamily="34" charset="-122"/>
                <a:ea typeface="思源黑体 CN Normal" panose="020B0400000000000000" pitchFamily="34" charset="-122"/>
              </a:endParaRPr>
            </a:p>
          </p:txBody>
        </p:sp>
      </p:grpSp>
      <p:graphicFrame>
        <p:nvGraphicFramePr>
          <p:cNvPr id="28" name="表格 27"/>
          <p:cNvGraphicFramePr/>
          <p:nvPr>
            <p:custDataLst>
              <p:tags r:id="rId1"/>
            </p:custDataLst>
          </p:nvPr>
        </p:nvGraphicFramePr>
        <p:xfrm>
          <a:off x="2157730" y="835025"/>
          <a:ext cx="7788275" cy="1620520"/>
        </p:xfrm>
        <a:graphic>
          <a:graphicData uri="http://schemas.openxmlformats.org/drawingml/2006/table">
            <a:tbl>
              <a:tblPr/>
              <a:tblGrid>
                <a:gridCol w="679450"/>
                <a:gridCol w="1287145"/>
                <a:gridCol w="415925"/>
                <a:gridCol w="1134745"/>
                <a:gridCol w="945515"/>
                <a:gridCol w="1010920"/>
                <a:gridCol w="1073785"/>
                <a:gridCol w="1240790"/>
              </a:tblGrid>
              <a:tr h="335280">
                <a:tc>
                  <a:txBody>
                    <a:bodyPr/>
                    <a:p>
                      <a:pPr marL="0" indent="0" algn="l" fontAlgn="ctr">
                        <a:spcBef>
                          <a:spcPct val="0"/>
                        </a:spcBef>
                        <a:spcAft>
                          <a:spcPct val="0"/>
                        </a:spcAft>
                      </a:pPr>
                      <a:r>
                        <a:rPr lang="zh-CN" altLang="en-US" sz="1100" b="1" i="0">
                          <a:solidFill>
                            <a:srgbClr val="FFFFFF"/>
                          </a:solidFill>
                          <a:latin typeface="宋体" panose="02010600030101010101" pitchFamily="2" charset="-122"/>
                          <a:ea typeface="宋体" panose="02010600030101010101" pitchFamily="2" charset="-122"/>
                        </a:rPr>
                        <a:t>年份</a:t>
                      </a:r>
                      <a:endParaRPr lang="zh-CN" altLang="en-US" sz="1100" b="1" i="0">
                        <a:solidFill>
                          <a:srgbClr val="FFFFFF"/>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4874CB"/>
                    </a:solidFill>
                  </a:tcPr>
                </a:tc>
                <a:tc>
                  <a:txBody>
                    <a:bodyPr/>
                    <a:p>
                      <a:pPr marL="0" indent="0" algn="l" fontAlgn="ctr">
                        <a:spcBef>
                          <a:spcPct val="0"/>
                        </a:spcBef>
                        <a:spcAft>
                          <a:spcPct val="0"/>
                        </a:spcAft>
                      </a:pPr>
                      <a:r>
                        <a:rPr lang="zh-CN" altLang="en-US" sz="1100" b="1" i="0">
                          <a:solidFill>
                            <a:srgbClr val="FFFFFF"/>
                          </a:solidFill>
                          <a:latin typeface="宋体" panose="02010600030101010101" pitchFamily="2" charset="-122"/>
                          <a:ea typeface="宋体" panose="02010600030101010101" pitchFamily="2" charset="-122"/>
                        </a:rPr>
                        <a:t>财务指标</a:t>
                      </a:r>
                      <a:endParaRPr lang="zh-CN" altLang="en-US" sz="1100" b="1" i="0">
                        <a:solidFill>
                          <a:srgbClr val="FFFFFF"/>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4874CB"/>
                    </a:solidFill>
                  </a:tcPr>
                </a:tc>
                <a:tc>
                  <a:txBody>
                    <a:bodyPr/>
                    <a:p>
                      <a:pPr marL="0" indent="0" algn="l" fontAlgn="ctr">
                        <a:spcBef>
                          <a:spcPct val="0"/>
                        </a:spcBef>
                        <a:spcAft>
                          <a:spcPct val="0"/>
                        </a:spcAft>
                      </a:pPr>
                      <a:r>
                        <a:rPr lang="zh-CN" altLang="en-US" sz="1100" b="1" i="0">
                          <a:solidFill>
                            <a:srgbClr val="FFFFFF"/>
                          </a:solidFill>
                          <a:latin typeface="宋体" panose="02010600030101010101" pitchFamily="2" charset="-122"/>
                          <a:ea typeface="宋体" panose="02010600030101010101" pitchFamily="2" charset="-122"/>
                        </a:rPr>
                        <a:t>单位</a:t>
                      </a:r>
                      <a:endParaRPr lang="zh-CN" altLang="en-US" sz="1100" b="1" i="0">
                        <a:solidFill>
                          <a:srgbClr val="FFFFFF"/>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4874CB"/>
                    </a:solidFill>
                  </a:tcPr>
                </a:tc>
                <a:tc>
                  <a:txBody>
                    <a:bodyPr/>
                    <a:p>
                      <a:pPr marL="0" indent="0" algn="r" fontAlgn="ctr">
                        <a:spcBef>
                          <a:spcPct val="0"/>
                        </a:spcBef>
                        <a:spcAft>
                          <a:spcPct val="0"/>
                        </a:spcAft>
                      </a:pPr>
                      <a:r>
                        <a:rPr lang="en-US" altLang="zh-CN" sz="1100" b="1" i="0">
                          <a:solidFill>
                            <a:srgbClr val="FFFFFF"/>
                          </a:solidFill>
                          <a:latin typeface="宋体" panose="02010600030101010101" pitchFamily="2" charset="-122"/>
                          <a:ea typeface="宋体" panose="02010600030101010101" pitchFamily="2" charset="-122"/>
                        </a:rPr>
                        <a:t>2020</a:t>
                      </a:r>
                      <a:endParaRPr lang="en-US" altLang="zh-CN" sz="1100" b="1" i="0">
                        <a:solidFill>
                          <a:srgbClr val="FFFFFF"/>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4874CB"/>
                    </a:solidFill>
                  </a:tcPr>
                </a:tc>
                <a:tc>
                  <a:txBody>
                    <a:bodyPr/>
                    <a:p>
                      <a:pPr marL="0" indent="0" algn="ctr" fontAlgn="ctr">
                        <a:spcBef>
                          <a:spcPct val="0"/>
                        </a:spcBef>
                        <a:spcAft>
                          <a:spcPct val="0"/>
                        </a:spcAft>
                      </a:pPr>
                      <a:r>
                        <a:rPr lang="en-US" altLang="zh-CN" sz="1100" b="1" i="0">
                          <a:solidFill>
                            <a:srgbClr val="FFFFFF"/>
                          </a:solidFill>
                          <a:latin typeface="宋体" panose="02010600030101010101" pitchFamily="2" charset="-122"/>
                          <a:ea typeface="宋体" panose="02010600030101010101" pitchFamily="2" charset="-122"/>
                        </a:rPr>
                        <a:t>2021</a:t>
                      </a:r>
                      <a:endParaRPr lang="en-US" altLang="zh-CN" sz="1100" b="1" i="0">
                        <a:solidFill>
                          <a:srgbClr val="FFFFFF"/>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4874CB"/>
                    </a:solidFill>
                  </a:tcPr>
                </a:tc>
                <a:tc>
                  <a:txBody>
                    <a:bodyPr/>
                    <a:p>
                      <a:pPr marL="0" indent="0" algn="r" fontAlgn="ctr">
                        <a:spcBef>
                          <a:spcPct val="0"/>
                        </a:spcBef>
                        <a:spcAft>
                          <a:spcPct val="0"/>
                        </a:spcAft>
                      </a:pPr>
                      <a:r>
                        <a:rPr lang="en-US" altLang="zh-CN" sz="1100" b="1" i="0">
                          <a:solidFill>
                            <a:srgbClr val="FFFFFF"/>
                          </a:solidFill>
                          <a:latin typeface="宋体" panose="02010600030101010101" pitchFamily="2" charset="-122"/>
                          <a:ea typeface="宋体" panose="02010600030101010101" pitchFamily="2" charset="-122"/>
                        </a:rPr>
                        <a:t>2022</a:t>
                      </a:r>
                      <a:endParaRPr lang="en-US" altLang="zh-CN" sz="1100" b="1" i="0">
                        <a:solidFill>
                          <a:srgbClr val="FFFFFF"/>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4874CB"/>
                    </a:solidFill>
                  </a:tcPr>
                </a:tc>
                <a:tc>
                  <a:txBody>
                    <a:bodyPr/>
                    <a:p>
                      <a:pPr marL="0" indent="0" algn="r" fontAlgn="ctr">
                        <a:spcBef>
                          <a:spcPct val="0"/>
                        </a:spcBef>
                        <a:spcAft>
                          <a:spcPct val="0"/>
                        </a:spcAft>
                      </a:pPr>
                      <a:r>
                        <a:rPr lang="en-US" altLang="zh-CN" sz="1100" b="1" i="0">
                          <a:solidFill>
                            <a:srgbClr val="FFFFFF"/>
                          </a:solidFill>
                          <a:latin typeface="宋体" panose="02010600030101010101" pitchFamily="2" charset="-122"/>
                          <a:ea typeface="宋体" panose="02010600030101010101" pitchFamily="2" charset="-122"/>
                        </a:rPr>
                        <a:t>2023</a:t>
                      </a:r>
                      <a:endParaRPr lang="en-US" altLang="zh-CN" sz="1100" b="1" i="0">
                        <a:solidFill>
                          <a:srgbClr val="FFFFFF"/>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4874CB"/>
                    </a:solidFill>
                  </a:tcPr>
                </a:tc>
                <a:tc>
                  <a:txBody>
                    <a:bodyPr/>
                    <a:p>
                      <a:pPr marL="0" indent="0" algn="r" fontAlgn="ctr">
                        <a:spcBef>
                          <a:spcPct val="0"/>
                        </a:spcBef>
                        <a:spcAft>
                          <a:spcPct val="0"/>
                        </a:spcAft>
                      </a:pPr>
                      <a:r>
                        <a:rPr lang="en-US" altLang="zh-CN" sz="1100" b="1" i="0">
                          <a:solidFill>
                            <a:srgbClr val="FFFFFF"/>
                          </a:solidFill>
                          <a:latin typeface="宋体" panose="02010600030101010101" pitchFamily="2" charset="-122"/>
                          <a:ea typeface="宋体" panose="02010600030101010101" pitchFamily="2" charset="-122"/>
                        </a:rPr>
                        <a:t>2024</a:t>
                      </a:r>
                      <a:endParaRPr lang="en-US" altLang="zh-CN" sz="1100" b="1" i="0">
                        <a:solidFill>
                          <a:srgbClr val="FFFFFF"/>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4874CB"/>
                    </a:solidFill>
                  </a:tcPr>
                </a:tc>
              </a:tr>
              <a:tr h="335280">
                <a:tc>
                  <a:txBody>
                    <a:bodyPr/>
                    <a:p>
                      <a:pPr marL="0" indent="0" algn="l" fontAlgn="ctr">
                        <a:spcBef>
                          <a:spcPct val="0"/>
                        </a:spcBef>
                        <a:spcAft>
                          <a:spcPct val="0"/>
                        </a:spcAft>
                      </a:pPr>
                      <a:r>
                        <a:rPr lang="zh-CN" altLang="en-US" sz="1100" i="0">
                          <a:solidFill>
                            <a:srgbClr val="000000"/>
                          </a:solidFill>
                          <a:latin typeface="宋体" panose="02010600030101010101" pitchFamily="2" charset="-122"/>
                          <a:ea typeface="宋体" panose="02010600030101010101" pitchFamily="2" charset="-122"/>
                        </a:rPr>
                        <a:t>盈利能力</a:t>
                      </a:r>
                      <a:endParaRPr lang="zh-CN" altLang="en-US"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l" fontAlgn="ctr">
                        <a:spcBef>
                          <a:spcPct val="0"/>
                        </a:spcBef>
                        <a:spcAft>
                          <a:spcPct val="0"/>
                        </a:spcAft>
                      </a:pPr>
                      <a:r>
                        <a:rPr lang="zh-CN" altLang="en-US" sz="1100" i="0">
                          <a:solidFill>
                            <a:srgbClr val="000000"/>
                          </a:solidFill>
                          <a:latin typeface="宋体" panose="02010600030101010101" pitchFamily="2" charset="-122"/>
                          <a:ea typeface="宋体" panose="02010600030101010101" pitchFamily="2" charset="-122"/>
                        </a:rPr>
                        <a:t>营业收入</a:t>
                      </a:r>
                      <a:endParaRPr lang="zh-CN" altLang="en-US"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l" fontAlgn="ctr">
                        <a:spcBef>
                          <a:spcPct val="0"/>
                        </a:spcBef>
                        <a:spcAft>
                          <a:spcPct val="0"/>
                        </a:spcAft>
                      </a:pPr>
                      <a:r>
                        <a:rPr lang="zh-CN" altLang="en-US" sz="1100" i="0">
                          <a:solidFill>
                            <a:srgbClr val="000000"/>
                          </a:solidFill>
                          <a:latin typeface="宋体" panose="02010600030101010101" pitchFamily="2" charset="-122"/>
                          <a:ea typeface="宋体" panose="02010600030101010101" pitchFamily="2" charset="-122"/>
                        </a:rPr>
                        <a:t>万元</a:t>
                      </a:r>
                      <a:endParaRPr lang="zh-CN" altLang="en-US"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6965114987</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9272201670</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12182663119</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14045234826</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15126651674</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r>
              <a:tr h="460375">
                <a:tc>
                  <a:txBody>
                    <a:bodyPr/>
                    <a:p>
                      <a:pPr marL="0" indent="0" algn="just">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 </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l" fontAlgn="ctr">
                        <a:spcBef>
                          <a:spcPct val="0"/>
                        </a:spcBef>
                        <a:spcAft>
                          <a:spcPct val="0"/>
                        </a:spcAft>
                      </a:pPr>
                      <a:r>
                        <a:rPr lang="zh-CN" altLang="en-US" sz="1100" i="0">
                          <a:solidFill>
                            <a:srgbClr val="000000"/>
                          </a:solidFill>
                          <a:latin typeface="宋体" panose="02010600030101010101" pitchFamily="2" charset="-122"/>
                          <a:ea typeface="宋体" panose="02010600030101010101" pitchFamily="2" charset="-122"/>
                        </a:rPr>
                        <a:t>归属于母公司所有者的净利润</a:t>
                      </a:r>
                      <a:endParaRPr lang="zh-CN" altLang="en-US"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l" fontAlgn="ctr">
                        <a:spcBef>
                          <a:spcPct val="0"/>
                        </a:spcBef>
                        <a:spcAft>
                          <a:spcPct val="0"/>
                        </a:spcAft>
                      </a:pPr>
                      <a:r>
                        <a:rPr lang="zh-CN" altLang="en-US" sz="1100" i="0">
                          <a:solidFill>
                            <a:srgbClr val="000000"/>
                          </a:solidFill>
                          <a:latin typeface="宋体" panose="02010600030101010101" pitchFamily="2" charset="-122"/>
                          <a:ea typeface="宋体" panose="02010600030101010101" pitchFamily="2" charset="-122"/>
                        </a:rPr>
                        <a:t>万元</a:t>
                      </a:r>
                      <a:endParaRPr lang="zh-CN" altLang="en-US"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603800300</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682296100</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1101030000</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1478066300</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1484831200</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r>
              <a:tr h="243205">
                <a:tc>
                  <a:txBody>
                    <a:bodyPr/>
                    <a:p>
                      <a:pPr marL="0" indent="0" algn="just">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 </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l" fontAlgn="ctr">
                        <a:spcBef>
                          <a:spcPct val="0"/>
                        </a:spcBef>
                        <a:spcAft>
                          <a:spcPct val="0"/>
                        </a:spcAft>
                      </a:pPr>
                      <a:r>
                        <a:rPr lang="zh-CN" altLang="en-US" sz="1100" i="0">
                          <a:solidFill>
                            <a:srgbClr val="000000"/>
                          </a:solidFill>
                          <a:latin typeface="宋体" panose="02010600030101010101" pitchFamily="2" charset="-122"/>
                          <a:ea typeface="宋体" panose="02010600030101010101" pitchFamily="2" charset="-122"/>
                        </a:rPr>
                        <a:t>销售净利率</a:t>
                      </a:r>
                      <a:endParaRPr lang="zh-CN" altLang="en-US"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l"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8.67</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7.41</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9.17</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10.69</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10.01</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r>
              <a:tr h="246380">
                <a:tc>
                  <a:txBody>
                    <a:bodyPr/>
                    <a:p>
                      <a:pPr marL="0" indent="0" algn="just">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 </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l" fontAlgn="ctr">
                        <a:spcBef>
                          <a:spcPct val="0"/>
                        </a:spcBef>
                        <a:spcAft>
                          <a:spcPct val="0"/>
                        </a:spcAft>
                      </a:pPr>
                      <a:r>
                        <a:rPr lang="zh-CN" altLang="en-US" sz="1100" i="0">
                          <a:solidFill>
                            <a:srgbClr val="000000"/>
                          </a:solidFill>
                          <a:latin typeface="宋体" panose="02010600030101010101" pitchFamily="2" charset="-122"/>
                          <a:ea typeface="宋体" panose="02010600030101010101" pitchFamily="2" charset="-122"/>
                        </a:rPr>
                        <a:t>净资产收益率</a:t>
                      </a:r>
                      <a:endParaRPr lang="zh-CN" altLang="en-US"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l"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19.52</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15.56</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13.11</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12.11</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11.57</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r>
            </a:tbl>
          </a:graphicData>
        </a:graphic>
      </p:graphicFrame>
      <p:pic>
        <p:nvPicPr>
          <p:cNvPr id="29" name="图片 28" descr="WechatIMG6767"/>
          <p:cNvPicPr>
            <a:picLocks noChangeAspect="1"/>
          </p:cNvPicPr>
          <p:nvPr/>
        </p:nvPicPr>
        <p:blipFill>
          <a:blip r:embed="rId2"/>
          <a:stretch>
            <a:fillRect/>
          </a:stretch>
        </p:blipFill>
        <p:spPr>
          <a:xfrm>
            <a:off x="3891915" y="2783205"/>
            <a:ext cx="8045450" cy="3315970"/>
          </a:xfrm>
          <a:prstGeom prst="rect">
            <a:avLst/>
          </a:prstGeom>
        </p:spPr>
      </p:pic>
    </p:spTree>
  </p:cSld>
  <p:clrMapOvr>
    <a:masterClrMapping/>
  </p:clrMapOvr>
  <p:transition spd="med" advTm="3000">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47831" y="242047"/>
            <a:ext cx="1464428" cy="600634"/>
            <a:chOff x="1115735" y="587229"/>
            <a:chExt cx="10176791" cy="6547926"/>
          </a:xfrm>
        </p:grpSpPr>
        <p:sp>
          <p:nvSpPr>
            <p:cNvPr id="3" name="矩形 2"/>
            <p:cNvSpPr/>
            <p:nvPr/>
          </p:nvSpPr>
          <p:spPr>
            <a:xfrm>
              <a:off x="1115735" y="587229"/>
              <a:ext cx="9571839" cy="5410900"/>
            </a:xfrm>
            <a:prstGeom prst="rect">
              <a:avLst/>
            </a:prstGeom>
            <a:pattFill prst="wdDnDiag">
              <a:fgClr>
                <a:srgbClr val="203864"/>
              </a:fgClr>
              <a:bgClr>
                <a:schemeClr val="bg1"/>
              </a:bgClr>
            </a:patt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1720688" y="1724252"/>
              <a:ext cx="9571838" cy="5410903"/>
            </a:xfrm>
            <a:prstGeom prst="rect">
              <a:avLst/>
            </a:prstGeom>
            <a:solidFill>
              <a:schemeClr val="bg1"/>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5" name="文本框 4"/>
          <p:cNvSpPr txBox="1"/>
          <p:nvPr/>
        </p:nvSpPr>
        <p:spPr>
          <a:xfrm>
            <a:off x="376518" y="409847"/>
            <a:ext cx="1335741" cy="368300"/>
          </a:xfrm>
          <a:prstGeom prst="rect">
            <a:avLst/>
          </a:prstGeom>
          <a:noFill/>
        </p:spPr>
        <p:txBody>
          <a:bodyPr wrap="square" rtlCol="0">
            <a:spAutoFit/>
          </a:bodyPr>
          <a:lstStyle/>
          <a:p>
            <a:pPr algn="ctr"/>
            <a:r>
              <a:rPr lang="zh-CN" altLang="en-US" dirty="0">
                <a:latin typeface="思源黑体 CN Bold" panose="020B0800000000000000" pitchFamily="34" charset="-122"/>
                <a:ea typeface="思源黑体 CN Bold" panose="020B0800000000000000" pitchFamily="34" charset="-122"/>
              </a:rPr>
              <a:t>营运能力</a:t>
            </a:r>
            <a:endParaRPr lang="zh-CN" altLang="en-US" dirty="0">
              <a:latin typeface="思源黑体 CN Bold" panose="020B0800000000000000" pitchFamily="34" charset="-122"/>
              <a:ea typeface="思源黑体 CN Bold" panose="020B0800000000000000" pitchFamily="34" charset="-122"/>
            </a:endParaRPr>
          </a:p>
        </p:txBody>
      </p:sp>
      <p:sp>
        <p:nvSpPr>
          <p:cNvPr id="6" name="矩形 5"/>
          <p:cNvSpPr/>
          <p:nvPr/>
        </p:nvSpPr>
        <p:spPr>
          <a:xfrm>
            <a:off x="738505" y="2428875"/>
            <a:ext cx="4016375" cy="1307465"/>
          </a:xfrm>
          <a:prstGeom prst="rect">
            <a:avLst/>
          </a:prstGeom>
        </p:spPr>
        <p:txBody>
          <a:bodyPr wrap="square">
            <a:spAutoFit/>
          </a:bodyPr>
          <a:lstStyle/>
          <a:p>
            <a:pPr lvl="0" algn="r" defTabSz="1216660">
              <a:lnSpc>
                <a:spcPct val="120000"/>
              </a:lnSpc>
              <a:spcBef>
                <a:spcPct val="20000"/>
              </a:spcBef>
              <a:defRPr/>
            </a:pPr>
            <a:r>
              <a:rPr lang="zh-CN" altLang="en-US" sz="1600" dirty="0">
                <a:latin typeface="思源黑体 CN Heavy" panose="020B0A00000000000000" pitchFamily="34" charset="-122"/>
                <a:ea typeface="思源黑体 CN Heavy" panose="020B0A00000000000000" pitchFamily="34" charset="-122"/>
                <a:cs typeface="+mn-ea"/>
                <a:sym typeface="Calibri" panose="020F0502020204030204" pitchFamily="34" charset="0"/>
              </a:rPr>
              <a:t>应收</a:t>
            </a:r>
            <a:r>
              <a:rPr lang="zh-CN" altLang="en-US" sz="1600" dirty="0">
                <a:latin typeface="思源黑体 CN Heavy" panose="020B0A00000000000000" pitchFamily="34" charset="-122"/>
                <a:ea typeface="思源黑体 CN Heavy" panose="020B0A00000000000000" pitchFamily="34" charset="-122"/>
                <a:cs typeface="+mn-ea"/>
                <a:sym typeface="Calibri" panose="020F0502020204030204" pitchFamily="34" charset="0"/>
              </a:rPr>
              <a:t>账款周转率分析</a:t>
            </a:r>
            <a:endParaRPr lang="zh-CN" altLang="en-US" sz="1600" dirty="0">
              <a:latin typeface="思源黑体 CN Heavy" panose="020B0A00000000000000" pitchFamily="34" charset="-122"/>
              <a:ea typeface="思源黑体 CN Heavy" panose="020B0A00000000000000" pitchFamily="34" charset="-122"/>
              <a:cs typeface="+mn-ea"/>
              <a:sym typeface="Calibri" panose="020F0502020204030204" pitchFamily="34" charset="0"/>
            </a:endParaRPr>
          </a:p>
          <a:p>
            <a:pPr lvl="0" algn="r" defTabSz="1216660">
              <a:lnSpc>
                <a:spcPct val="120000"/>
              </a:lnSpc>
              <a:spcBef>
                <a:spcPct val="20000"/>
              </a:spcBef>
              <a:defRPr/>
            </a:pPr>
            <a:r>
              <a:rPr lang="zh-CN" altLang="en-US"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反映企业一段时间将应收账款转化为现金的平均次数</a:t>
            </a:r>
            <a:r>
              <a:rPr lang="en-US" altLang="zh-CN"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a:t>
            </a:r>
            <a:r>
              <a:rPr lang="zh-CN" altLang="en-US"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安井食品的应收账款周转率趋势呈现一个“</a:t>
            </a:r>
            <a:r>
              <a:rPr lang="en-US" altLang="zh-CN"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U</a:t>
            </a:r>
            <a:r>
              <a:rPr lang="zh-CN" altLang="en-US"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”型，这从一定程度上说明并购后企业的应收账款方面管理的较为良好且存在</a:t>
            </a:r>
            <a:r>
              <a:rPr lang="zh-CN" altLang="en-US"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发展空间。</a:t>
            </a:r>
            <a:endParaRPr lang="zh-CN" altLang="en-US"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endParaRPr>
          </a:p>
        </p:txBody>
      </p:sp>
      <p:sp>
        <p:nvSpPr>
          <p:cNvPr id="7" name="矩形 6"/>
          <p:cNvSpPr/>
          <p:nvPr/>
        </p:nvSpPr>
        <p:spPr>
          <a:xfrm>
            <a:off x="738505" y="4261485"/>
            <a:ext cx="4017010" cy="1307465"/>
          </a:xfrm>
          <a:prstGeom prst="rect">
            <a:avLst/>
          </a:prstGeom>
        </p:spPr>
        <p:txBody>
          <a:bodyPr wrap="square">
            <a:spAutoFit/>
          </a:bodyPr>
          <a:lstStyle/>
          <a:p>
            <a:pPr lvl="0" algn="r" defTabSz="1216660">
              <a:lnSpc>
                <a:spcPct val="120000"/>
              </a:lnSpc>
              <a:spcBef>
                <a:spcPct val="20000"/>
              </a:spcBef>
              <a:defRPr/>
            </a:pPr>
            <a:r>
              <a:rPr lang="zh-CN" altLang="en-US" sz="1600" dirty="0">
                <a:latin typeface="思源黑体 CN Heavy" panose="020B0A00000000000000" pitchFamily="34" charset="-122"/>
                <a:ea typeface="思源黑体 CN Heavy" panose="020B0A00000000000000" pitchFamily="34" charset="-122"/>
                <a:cs typeface="+mn-ea"/>
                <a:sym typeface="Calibri" panose="020F0502020204030204" pitchFamily="34" charset="0"/>
              </a:rPr>
              <a:t>存货周转率分析</a:t>
            </a:r>
            <a:endParaRPr lang="en-US" altLang="zh-CN" sz="1600" dirty="0">
              <a:latin typeface="思源黑体 CN Heavy" panose="020B0A00000000000000" pitchFamily="34" charset="-122"/>
              <a:ea typeface="思源黑体 CN Heavy" panose="020B0A00000000000000" pitchFamily="34" charset="-122"/>
              <a:cs typeface="+mn-ea"/>
              <a:sym typeface="Calibri" panose="020F0502020204030204" pitchFamily="34" charset="0"/>
            </a:endParaRPr>
          </a:p>
          <a:p>
            <a:pPr lvl="0" algn="r" defTabSz="1216660">
              <a:lnSpc>
                <a:spcPct val="120000"/>
              </a:lnSpc>
              <a:spcBef>
                <a:spcPct val="20000"/>
              </a:spcBef>
              <a:defRPr/>
            </a:pPr>
            <a:r>
              <a:rPr lang="zh-CN" altLang="en-US"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存货周转率反映企业销售能力和存货管理效率的核心指标</a:t>
            </a:r>
            <a:r>
              <a:rPr lang="en-US" altLang="zh-CN"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a:t>
            </a:r>
            <a:r>
              <a:rPr lang="zh-CN" altLang="en-US"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安井食品在并购前后的存货周转率都处于较低水平</a:t>
            </a:r>
            <a:r>
              <a:rPr lang="en-US" altLang="zh-CN"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a:t>
            </a:r>
            <a:r>
              <a:rPr lang="zh-CN" altLang="en-US"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则可能暗示着其存货存在积压情况</a:t>
            </a:r>
            <a:r>
              <a:rPr lang="en-US" altLang="zh-CN"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a:t>
            </a:r>
            <a:r>
              <a:rPr lang="zh-CN" altLang="en-US"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可能影响财务健康及盈利能力</a:t>
            </a:r>
            <a:r>
              <a:rPr lang="en-US" altLang="zh-CN"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a:t>
            </a:r>
            <a:endParaRPr lang="en-US" altLang="zh-CN"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endParaRPr>
          </a:p>
        </p:txBody>
      </p:sp>
      <p:grpSp>
        <p:nvGrpSpPr>
          <p:cNvPr id="10" name="组合 9"/>
          <p:cNvGrpSpPr/>
          <p:nvPr/>
        </p:nvGrpSpPr>
        <p:grpSpPr>
          <a:xfrm>
            <a:off x="5408020" y="2247362"/>
            <a:ext cx="5908873" cy="3118692"/>
            <a:chOff x="1115735" y="587229"/>
            <a:chExt cx="9925879" cy="6091095"/>
          </a:xfrm>
        </p:grpSpPr>
        <p:sp>
          <p:nvSpPr>
            <p:cNvPr id="11" name="矩形 10"/>
            <p:cNvSpPr/>
            <p:nvPr/>
          </p:nvSpPr>
          <p:spPr>
            <a:xfrm>
              <a:off x="1115735" y="587229"/>
              <a:ext cx="9571839" cy="5410900"/>
            </a:xfrm>
            <a:prstGeom prst="rect">
              <a:avLst/>
            </a:prstGeom>
            <a:pattFill prst="wdDnDiag">
              <a:fgClr>
                <a:srgbClr val="203864"/>
              </a:fgClr>
              <a:bgClr>
                <a:schemeClr val="bg1"/>
              </a:bgClr>
            </a:patt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1469775" y="1267424"/>
              <a:ext cx="9571839" cy="5410900"/>
            </a:xfrm>
            <a:prstGeom prst="rect">
              <a:avLst/>
            </a:prstGeom>
            <a:blipFill rotWithShape="1">
              <a:blip r:embed="rId1"/>
              <a:stretch>
                <a:fillRect/>
              </a:stretch>
            </a:blip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aphicFrame>
        <p:nvGraphicFramePr>
          <p:cNvPr id="9" name="表格 8"/>
          <p:cNvGraphicFramePr/>
          <p:nvPr>
            <p:custDataLst>
              <p:tags r:id="rId2"/>
            </p:custDataLst>
          </p:nvPr>
        </p:nvGraphicFramePr>
        <p:xfrm>
          <a:off x="1711960" y="958850"/>
          <a:ext cx="8781415" cy="1165860"/>
        </p:xfrm>
        <a:graphic>
          <a:graphicData uri="http://schemas.openxmlformats.org/drawingml/2006/table">
            <a:tbl>
              <a:tblPr/>
              <a:tblGrid>
                <a:gridCol w="838835"/>
                <a:gridCol w="2224405"/>
                <a:gridCol w="530860"/>
                <a:gridCol w="991235"/>
                <a:gridCol w="991235"/>
                <a:gridCol w="1068070"/>
                <a:gridCol w="1068705"/>
                <a:gridCol w="1068070"/>
              </a:tblGrid>
              <a:tr h="194310">
                <a:tc>
                  <a:txBody>
                    <a:bodyPr/>
                    <a:p>
                      <a:pPr marL="0" indent="0" algn="r" fontAlgn="ctr">
                        <a:spcBef>
                          <a:spcPct val="0"/>
                        </a:spcBef>
                        <a:spcAft>
                          <a:spcPct val="0"/>
                        </a:spcAft>
                      </a:pPr>
                      <a:r>
                        <a:rPr lang="zh-CN" sz="1100" b="1" i="0">
                          <a:solidFill>
                            <a:srgbClr val="000000"/>
                          </a:solidFill>
                          <a:latin typeface="宋体" panose="02010600030101010101" pitchFamily="2" charset="-122"/>
                          <a:ea typeface="宋体" panose="02010600030101010101" pitchFamily="2" charset="-122"/>
                        </a:rPr>
                        <a:t>年份</a:t>
                      </a:r>
                      <a:endParaRPr lang="zh-CN" sz="1100" b="1" i="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4874CB"/>
                    </a:solidFill>
                  </a:tcPr>
                </a:tc>
                <a:tc>
                  <a:txBody>
                    <a:bodyPr/>
                    <a:p>
                      <a:pPr marL="0" indent="0" algn="r" fontAlgn="ctr">
                        <a:spcBef>
                          <a:spcPct val="0"/>
                        </a:spcBef>
                        <a:spcAft>
                          <a:spcPct val="0"/>
                        </a:spcAft>
                      </a:pPr>
                      <a:r>
                        <a:rPr lang="zh-CN" sz="1100" b="1" i="0">
                          <a:solidFill>
                            <a:srgbClr val="000000"/>
                          </a:solidFill>
                          <a:latin typeface="宋体" panose="02010600030101010101" pitchFamily="2" charset="-122"/>
                          <a:ea typeface="宋体" panose="02010600030101010101" pitchFamily="2" charset="-122"/>
                        </a:rPr>
                        <a:t>财务指标</a:t>
                      </a:r>
                      <a:endParaRPr lang="zh-CN" sz="1100" b="1" i="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4874CB"/>
                    </a:solidFill>
                  </a:tcPr>
                </a:tc>
                <a:tc>
                  <a:txBody>
                    <a:bodyPr/>
                    <a:p>
                      <a:pPr marL="0" indent="0" algn="r" fontAlgn="ctr">
                        <a:spcBef>
                          <a:spcPct val="0"/>
                        </a:spcBef>
                        <a:spcAft>
                          <a:spcPct val="0"/>
                        </a:spcAft>
                      </a:pPr>
                      <a:r>
                        <a:rPr lang="zh-CN" sz="1100" b="1" i="0">
                          <a:solidFill>
                            <a:srgbClr val="000000"/>
                          </a:solidFill>
                          <a:latin typeface="宋体" panose="02010600030101010101" pitchFamily="2" charset="-122"/>
                          <a:ea typeface="宋体" panose="02010600030101010101" pitchFamily="2" charset="-122"/>
                        </a:rPr>
                        <a:t>单位</a:t>
                      </a:r>
                      <a:endParaRPr lang="zh-CN" sz="1100" b="1" i="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4874CB"/>
                    </a:solidFill>
                  </a:tcPr>
                </a:tc>
                <a:tc>
                  <a:txBody>
                    <a:bodyPr/>
                    <a:p>
                      <a:pPr marL="0" indent="0" algn="r" fontAlgn="ctr">
                        <a:spcBef>
                          <a:spcPct val="0"/>
                        </a:spcBef>
                        <a:spcAft>
                          <a:spcPct val="0"/>
                        </a:spcAft>
                      </a:pPr>
                      <a:r>
                        <a:rPr lang="en-US" altLang="zh-CN" sz="1100" b="1" i="0">
                          <a:solidFill>
                            <a:srgbClr val="000000"/>
                          </a:solidFill>
                          <a:latin typeface="宋体" panose="02010600030101010101" pitchFamily="2" charset="-122"/>
                          <a:ea typeface="宋体" panose="02010600030101010101" pitchFamily="2" charset="-122"/>
                        </a:rPr>
                        <a:t>2020</a:t>
                      </a:r>
                      <a:endParaRPr lang="en-US" altLang="zh-CN" sz="1100" b="1" i="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4874CB"/>
                    </a:solidFill>
                  </a:tcPr>
                </a:tc>
                <a:tc>
                  <a:txBody>
                    <a:bodyPr/>
                    <a:p>
                      <a:pPr marL="0" indent="0" algn="r" fontAlgn="ctr">
                        <a:spcBef>
                          <a:spcPct val="0"/>
                        </a:spcBef>
                        <a:spcAft>
                          <a:spcPct val="0"/>
                        </a:spcAft>
                      </a:pPr>
                      <a:r>
                        <a:rPr lang="en-US" altLang="zh-CN" sz="1100" b="1" i="0">
                          <a:solidFill>
                            <a:srgbClr val="000000"/>
                          </a:solidFill>
                          <a:latin typeface="宋体" panose="02010600030101010101" pitchFamily="2" charset="-122"/>
                          <a:ea typeface="宋体" panose="02010600030101010101" pitchFamily="2" charset="-122"/>
                        </a:rPr>
                        <a:t>2021</a:t>
                      </a:r>
                      <a:endParaRPr lang="en-US" altLang="zh-CN" sz="1100" b="1" i="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4874CB"/>
                    </a:solidFill>
                  </a:tcPr>
                </a:tc>
                <a:tc>
                  <a:txBody>
                    <a:bodyPr/>
                    <a:p>
                      <a:pPr marL="0" indent="0" algn="r" fontAlgn="ctr">
                        <a:spcBef>
                          <a:spcPct val="0"/>
                        </a:spcBef>
                        <a:spcAft>
                          <a:spcPct val="0"/>
                        </a:spcAft>
                      </a:pPr>
                      <a:r>
                        <a:rPr lang="en-US" altLang="zh-CN" sz="1100" b="1" i="0">
                          <a:solidFill>
                            <a:srgbClr val="000000"/>
                          </a:solidFill>
                          <a:latin typeface="宋体" panose="02010600030101010101" pitchFamily="2" charset="-122"/>
                          <a:ea typeface="宋体" panose="02010600030101010101" pitchFamily="2" charset="-122"/>
                        </a:rPr>
                        <a:t>2022</a:t>
                      </a:r>
                      <a:endParaRPr lang="en-US" altLang="zh-CN" sz="1100" b="1" i="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4874CB"/>
                    </a:solidFill>
                  </a:tcPr>
                </a:tc>
                <a:tc>
                  <a:txBody>
                    <a:bodyPr/>
                    <a:p>
                      <a:pPr marL="0" indent="0" algn="r" fontAlgn="ctr">
                        <a:spcBef>
                          <a:spcPct val="0"/>
                        </a:spcBef>
                        <a:spcAft>
                          <a:spcPct val="0"/>
                        </a:spcAft>
                      </a:pPr>
                      <a:r>
                        <a:rPr lang="en-US" altLang="zh-CN" sz="1100" b="1" i="0">
                          <a:solidFill>
                            <a:srgbClr val="000000"/>
                          </a:solidFill>
                          <a:latin typeface="宋体" panose="02010600030101010101" pitchFamily="2" charset="-122"/>
                          <a:ea typeface="宋体" panose="02010600030101010101" pitchFamily="2" charset="-122"/>
                        </a:rPr>
                        <a:t>2023</a:t>
                      </a:r>
                      <a:endParaRPr lang="en-US" altLang="zh-CN" sz="1100" b="1" i="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4874CB"/>
                    </a:solidFill>
                  </a:tcPr>
                </a:tc>
                <a:tc>
                  <a:txBody>
                    <a:bodyPr/>
                    <a:p>
                      <a:pPr marL="0" indent="0" algn="r" fontAlgn="ctr">
                        <a:spcBef>
                          <a:spcPct val="0"/>
                        </a:spcBef>
                        <a:spcAft>
                          <a:spcPct val="0"/>
                        </a:spcAft>
                      </a:pPr>
                      <a:r>
                        <a:rPr lang="en-US" altLang="zh-CN" sz="1100" b="1" i="0">
                          <a:solidFill>
                            <a:srgbClr val="000000"/>
                          </a:solidFill>
                          <a:latin typeface="宋体" panose="02010600030101010101" pitchFamily="2" charset="-122"/>
                          <a:ea typeface="宋体" panose="02010600030101010101" pitchFamily="2" charset="-122"/>
                        </a:rPr>
                        <a:t>2024</a:t>
                      </a:r>
                      <a:endParaRPr lang="en-US" altLang="zh-CN" sz="1100" b="1" i="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4874CB"/>
                    </a:solidFill>
                  </a:tcPr>
                </a:tc>
              </a:tr>
              <a:tr h="194310">
                <a:tc>
                  <a:txBody>
                    <a:bodyPr/>
                    <a:p>
                      <a:pPr marL="0" indent="0" algn="r" fontAlgn="ctr">
                        <a:spcBef>
                          <a:spcPct val="0"/>
                        </a:spcBef>
                        <a:spcAft>
                          <a:spcPct val="0"/>
                        </a:spcAft>
                      </a:pPr>
                      <a:r>
                        <a:rPr lang="zh-CN" sz="1100" i="0">
                          <a:solidFill>
                            <a:srgbClr val="000000"/>
                          </a:solidFill>
                          <a:latin typeface="宋体" panose="02010600030101010101" pitchFamily="2" charset="-122"/>
                          <a:ea typeface="宋体" panose="02010600030101010101" pitchFamily="2" charset="-122"/>
                        </a:rPr>
                        <a:t>营运能力</a:t>
                      </a:r>
                      <a:endParaRPr lang="zh-CN" sz="1100" i="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r" fontAlgn="ctr">
                        <a:spcBef>
                          <a:spcPct val="0"/>
                        </a:spcBef>
                        <a:spcAft>
                          <a:spcPct val="0"/>
                        </a:spcAft>
                      </a:pPr>
                      <a:r>
                        <a:rPr lang="zh-CN" sz="1100" i="0">
                          <a:solidFill>
                            <a:srgbClr val="000000"/>
                          </a:solidFill>
                          <a:latin typeface="宋体" panose="02010600030101010101" pitchFamily="2" charset="-122"/>
                          <a:ea typeface="宋体" panose="02010600030101010101" pitchFamily="2" charset="-122"/>
                        </a:rPr>
                        <a:t>应收账款周转率</a:t>
                      </a:r>
                      <a:endParaRPr lang="zh-CN" sz="1100" i="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r" fontAlgn="ctr">
                        <a:spcBef>
                          <a:spcPct val="0"/>
                        </a:spcBef>
                        <a:spcAft>
                          <a:spcPct val="0"/>
                        </a:spcAft>
                      </a:pPr>
                      <a:r>
                        <a:rPr lang="zh-CN" sz="1100" i="0">
                          <a:solidFill>
                            <a:srgbClr val="000000"/>
                          </a:solidFill>
                          <a:latin typeface="宋体" panose="02010600030101010101" pitchFamily="2" charset="-122"/>
                          <a:ea typeface="宋体" panose="02010600030101010101" pitchFamily="2" charset="-122"/>
                        </a:rPr>
                        <a:t>次</a:t>
                      </a:r>
                      <a:endParaRPr lang="zh-CN" sz="1100" i="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26.84</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20.82</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19.07</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21.51</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25.31</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r>
              <a:tr h="194310">
                <a:tc>
                  <a:txBody>
                    <a:bodyPr/>
                    <a:p>
                      <a:pPr marL="0" indent="0" algn="r" fontAlgn="ctr">
                        <a:spcBef>
                          <a:spcPct val="0"/>
                        </a:spcBef>
                        <a:spcAft>
                          <a:spcPct val="0"/>
                        </a:spcAft>
                      </a:pPr>
                      <a:r>
                        <a:rPr lang="en-US" altLang="zh-CN" sz="1100">
                          <a:solidFill>
                            <a:srgbClr val="000000"/>
                          </a:solidFill>
                          <a:latin typeface="Calibri" panose="020F0502020204030204"/>
                          <a:ea typeface="宋体" panose="02010600030101010101" pitchFamily="2" charset="-122"/>
                        </a:rPr>
                        <a:t> </a:t>
                      </a:r>
                      <a:endParaRPr lang="en-US" altLang="zh-CN" sz="1100">
                        <a:solidFill>
                          <a:srgbClr val="000000"/>
                        </a:solidFill>
                        <a:latin typeface="Calibri" panose="020F0502020204030204"/>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r" fontAlgn="ctr">
                        <a:spcBef>
                          <a:spcPct val="0"/>
                        </a:spcBef>
                        <a:spcAft>
                          <a:spcPct val="0"/>
                        </a:spcAft>
                      </a:pPr>
                      <a:r>
                        <a:rPr lang="zh-CN" sz="1100" i="0">
                          <a:solidFill>
                            <a:srgbClr val="000000"/>
                          </a:solidFill>
                          <a:latin typeface="宋体" panose="02010600030101010101" pitchFamily="2" charset="-122"/>
                          <a:ea typeface="宋体" panose="02010600030101010101" pitchFamily="2" charset="-122"/>
                        </a:rPr>
                        <a:t>存货周转率</a:t>
                      </a:r>
                      <a:endParaRPr lang="zh-CN" sz="1100" i="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r" fontAlgn="ctr">
                        <a:spcBef>
                          <a:spcPct val="0"/>
                        </a:spcBef>
                        <a:spcAft>
                          <a:spcPct val="0"/>
                        </a:spcAft>
                      </a:pPr>
                      <a:r>
                        <a:rPr lang="zh-CN" sz="1100" i="0">
                          <a:solidFill>
                            <a:srgbClr val="000000"/>
                          </a:solidFill>
                          <a:latin typeface="宋体" panose="02010600030101010101" pitchFamily="2" charset="-122"/>
                          <a:ea typeface="宋体" panose="02010600030101010101" pitchFamily="2" charset="-122"/>
                        </a:rPr>
                        <a:t>次</a:t>
                      </a:r>
                      <a:endParaRPr lang="zh-CN" sz="1100" i="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3.02</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3.52</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3.43</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3.22</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3.39</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r>
              <a:tr h="194310">
                <a:tc>
                  <a:txBody>
                    <a:bodyPr/>
                    <a:p>
                      <a:pPr marL="0" indent="0" algn="r" fontAlgn="ctr">
                        <a:spcBef>
                          <a:spcPct val="0"/>
                        </a:spcBef>
                        <a:spcAft>
                          <a:spcPct val="0"/>
                        </a:spcAft>
                      </a:pPr>
                      <a:r>
                        <a:rPr lang="en-US" altLang="zh-CN" sz="1100">
                          <a:solidFill>
                            <a:srgbClr val="000000"/>
                          </a:solidFill>
                          <a:latin typeface="Calibri" panose="020F0502020204030204"/>
                          <a:ea typeface="宋体" panose="02010600030101010101" pitchFamily="2" charset="-122"/>
                        </a:rPr>
                        <a:t> </a:t>
                      </a:r>
                      <a:endParaRPr lang="en-US" altLang="zh-CN" sz="1100">
                        <a:solidFill>
                          <a:srgbClr val="000000"/>
                        </a:solidFill>
                        <a:latin typeface="Calibri" panose="020F0502020204030204"/>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r" fontAlgn="ctr">
                        <a:spcBef>
                          <a:spcPct val="0"/>
                        </a:spcBef>
                        <a:spcAft>
                          <a:spcPct val="0"/>
                        </a:spcAft>
                      </a:pPr>
                      <a:r>
                        <a:rPr lang="zh-CN" sz="1100" i="0">
                          <a:solidFill>
                            <a:srgbClr val="000000"/>
                          </a:solidFill>
                          <a:latin typeface="宋体" panose="02010600030101010101" pitchFamily="2" charset="-122"/>
                          <a:ea typeface="宋体" panose="02010600030101010101" pitchFamily="2" charset="-122"/>
                        </a:rPr>
                        <a:t>流动资产周转率</a:t>
                      </a:r>
                      <a:endParaRPr lang="zh-CN" sz="1100" i="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r" fontAlgn="ctr">
                        <a:spcBef>
                          <a:spcPct val="0"/>
                        </a:spcBef>
                        <a:spcAft>
                          <a:spcPct val="0"/>
                        </a:spcAft>
                      </a:pPr>
                      <a:r>
                        <a:rPr lang="zh-CN" sz="1100" i="0">
                          <a:solidFill>
                            <a:srgbClr val="000000"/>
                          </a:solidFill>
                          <a:latin typeface="宋体" panose="02010600030101010101" pitchFamily="2" charset="-122"/>
                          <a:ea typeface="宋体" panose="02010600030101010101" pitchFamily="2" charset="-122"/>
                        </a:rPr>
                        <a:t>次</a:t>
                      </a:r>
                      <a:endParaRPr lang="zh-CN" sz="1100" i="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1.86</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2.18</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1.66</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1.36</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1.46</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r>
              <a:tr h="194310">
                <a:tc>
                  <a:txBody>
                    <a:bodyPr/>
                    <a:p>
                      <a:pPr marL="0" indent="0" algn="r" fontAlgn="ctr">
                        <a:spcBef>
                          <a:spcPct val="0"/>
                        </a:spcBef>
                        <a:spcAft>
                          <a:spcPct val="0"/>
                        </a:spcAft>
                      </a:pPr>
                      <a:r>
                        <a:rPr lang="en-US" altLang="zh-CN" sz="1100">
                          <a:solidFill>
                            <a:srgbClr val="000000"/>
                          </a:solidFill>
                          <a:latin typeface="Calibri" panose="020F0502020204030204"/>
                          <a:ea typeface="宋体" panose="02010600030101010101" pitchFamily="2" charset="-122"/>
                        </a:rPr>
                        <a:t> </a:t>
                      </a:r>
                      <a:endParaRPr lang="en-US" altLang="zh-CN" sz="1100">
                        <a:solidFill>
                          <a:srgbClr val="000000"/>
                        </a:solidFill>
                        <a:latin typeface="Calibri" panose="020F0502020204030204"/>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r" fontAlgn="ctr">
                        <a:spcBef>
                          <a:spcPct val="0"/>
                        </a:spcBef>
                        <a:spcAft>
                          <a:spcPct val="0"/>
                        </a:spcAft>
                      </a:pPr>
                      <a:r>
                        <a:rPr lang="zh-CN" sz="1100" i="0">
                          <a:solidFill>
                            <a:srgbClr val="000000"/>
                          </a:solidFill>
                          <a:latin typeface="宋体" panose="02010600030101010101" pitchFamily="2" charset="-122"/>
                          <a:ea typeface="宋体" panose="02010600030101010101" pitchFamily="2" charset="-122"/>
                        </a:rPr>
                        <a:t>固定资产周转率</a:t>
                      </a:r>
                      <a:endParaRPr lang="zh-CN" sz="1100" i="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r" fontAlgn="ctr">
                        <a:spcBef>
                          <a:spcPct val="0"/>
                        </a:spcBef>
                        <a:spcAft>
                          <a:spcPct val="0"/>
                        </a:spcAft>
                      </a:pPr>
                      <a:r>
                        <a:rPr lang="zh-CN" sz="1100" i="0">
                          <a:solidFill>
                            <a:srgbClr val="000000"/>
                          </a:solidFill>
                          <a:latin typeface="宋体" panose="02010600030101010101" pitchFamily="2" charset="-122"/>
                          <a:ea typeface="宋体" panose="02010600030101010101" pitchFamily="2" charset="-122"/>
                        </a:rPr>
                        <a:t>次</a:t>
                      </a:r>
                      <a:endParaRPr lang="zh-CN" sz="1100" i="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3.92</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3.76</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3.9</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3.79</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3.3</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r>
              <a:tr h="194310">
                <a:tc>
                  <a:txBody>
                    <a:bodyPr/>
                    <a:p>
                      <a:pPr marL="0" indent="0" algn="r" fontAlgn="ctr">
                        <a:spcBef>
                          <a:spcPct val="0"/>
                        </a:spcBef>
                        <a:spcAft>
                          <a:spcPct val="0"/>
                        </a:spcAft>
                      </a:pPr>
                      <a:r>
                        <a:rPr lang="en-US" altLang="zh-CN" sz="1100">
                          <a:solidFill>
                            <a:srgbClr val="000000"/>
                          </a:solidFill>
                          <a:latin typeface="Calibri" panose="020F0502020204030204"/>
                          <a:ea typeface="宋体" panose="02010600030101010101" pitchFamily="2" charset="-122"/>
                        </a:rPr>
                        <a:t> </a:t>
                      </a:r>
                      <a:endParaRPr lang="en-US" altLang="zh-CN" sz="1100">
                        <a:solidFill>
                          <a:srgbClr val="000000"/>
                        </a:solidFill>
                        <a:latin typeface="Calibri" panose="020F0502020204030204"/>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r" fontAlgn="ctr">
                        <a:spcBef>
                          <a:spcPct val="0"/>
                        </a:spcBef>
                        <a:spcAft>
                          <a:spcPct val="0"/>
                        </a:spcAft>
                      </a:pPr>
                      <a:r>
                        <a:rPr lang="zh-CN" sz="1100" i="0">
                          <a:solidFill>
                            <a:srgbClr val="000000"/>
                          </a:solidFill>
                          <a:latin typeface="宋体" panose="02010600030101010101" pitchFamily="2" charset="-122"/>
                          <a:ea typeface="宋体" panose="02010600030101010101" pitchFamily="2" charset="-122"/>
                        </a:rPr>
                        <a:t>总资产周转率</a:t>
                      </a:r>
                      <a:endParaRPr lang="zh-CN" sz="1100" i="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r" fontAlgn="ctr">
                        <a:spcBef>
                          <a:spcPct val="0"/>
                        </a:spcBef>
                        <a:spcAft>
                          <a:spcPct val="0"/>
                        </a:spcAft>
                      </a:pPr>
                      <a:r>
                        <a:rPr lang="zh-CN" sz="1100" i="0">
                          <a:solidFill>
                            <a:srgbClr val="000000"/>
                          </a:solidFill>
                          <a:latin typeface="宋体" panose="02010600030101010101" pitchFamily="2" charset="-122"/>
                          <a:ea typeface="宋体" panose="02010600030101010101" pitchFamily="2" charset="-122"/>
                        </a:rPr>
                        <a:t>次</a:t>
                      </a:r>
                      <a:endParaRPr lang="zh-CN" sz="1100" i="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1.09</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1.17</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0.98</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0.84</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0.87</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r>
            </a:tbl>
          </a:graphicData>
        </a:graphic>
      </p:graphicFrame>
    </p:spTree>
  </p:cSld>
  <p:clrMapOvr>
    <a:masterClrMapping/>
  </p:clrMapOvr>
  <p:transition spd="med" advTm="300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ppt_x"/>
                                          </p:val>
                                        </p:tav>
                                        <p:tav tm="100000">
                                          <p:val>
                                            <p:strVal val="#ppt_x"/>
                                          </p:val>
                                        </p:tav>
                                      </p:tavLst>
                                    </p:anim>
                                    <p:anim calcmode="lin" valueType="num">
                                      <p:cBhvr additive="base">
                                        <p:cTn id="1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47831" y="242047"/>
            <a:ext cx="1464428" cy="600634"/>
            <a:chOff x="1115735" y="587229"/>
            <a:chExt cx="10176791" cy="6547926"/>
          </a:xfrm>
        </p:grpSpPr>
        <p:sp>
          <p:nvSpPr>
            <p:cNvPr id="3" name="矩形 2"/>
            <p:cNvSpPr/>
            <p:nvPr/>
          </p:nvSpPr>
          <p:spPr>
            <a:xfrm>
              <a:off x="1115735" y="587229"/>
              <a:ext cx="9571839" cy="5410900"/>
            </a:xfrm>
            <a:prstGeom prst="rect">
              <a:avLst/>
            </a:prstGeom>
            <a:pattFill prst="wdDnDiag">
              <a:fgClr>
                <a:srgbClr val="203864"/>
              </a:fgClr>
              <a:bgClr>
                <a:schemeClr val="bg1"/>
              </a:bgClr>
            </a:patt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1720688" y="1724252"/>
              <a:ext cx="9571838" cy="5410903"/>
            </a:xfrm>
            <a:prstGeom prst="rect">
              <a:avLst/>
            </a:prstGeom>
            <a:solidFill>
              <a:schemeClr val="bg1"/>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5" name="文本框 4"/>
          <p:cNvSpPr txBox="1"/>
          <p:nvPr/>
        </p:nvSpPr>
        <p:spPr>
          <a:xfrm>
            <a:off x="376518" y="409847"/>
            <a:ext cx="1335741" cy="368300"/>
          </a:xfrm>
          <a:prstGeom prst="rect">
            <a:avLst/>
          </a:prstGeom>
          <a:noFill/>
        </p:spPr>
        <p:txBody>
          <a:bodyPr wrap="square" rtlCol="0">
            <a:spAutoFit/>
          </a:bodyPr>
          <a:lstStyle/>
          <a:p>
            <a:pPr algn="ctr"/>
            <a:r>
              <a:rPr lang="zh-CN" altLang="en-US" dirty="0">
                <a:latin typeface="思源黑体 CN Bold" panose="020B0800000000000000" pitchFamily="34" charset="-122"/>
                <a:ea typeface="思源黑体 CN Bold" panose="020B0800000000000000" pitchFamily="34" charset="-122"/>
              </a:rPr>
              <a:t>营运能力</a:t>
            </a:r>
            <a:endParaRPr lang="zh-CN" altLang="en-US" dirty="0">
              <a:latin typeface="思源黑体 CN Bold" panose="020B0800000000000000" pitchFamily="34" charset="-122"/>
              <a:ea typeface="思源黑体 CN Bold" panose="020B0800000000000000" pitchFamily="34" charset="-122"/>
            </a:endParaRPr>
          </a:p>
        </p:txBody>
      </p:sp>
      <p:sp>
        <p:nvSpPr>
          <p:cNvPr id="6" name="矩形 5"/>
          <p:cNvSpPr/>
          <p:nvPr/>
        </p:nvSpPr>
        <p:spPr>
          <a:xfrm>
            <a:off x="738505" y="2548890"/>
            <a:ext cx="4207510" cy="1307465"/>
          </a:xfrm>
          <a:prstGeom prst="rect">
            <a:avLst/>
          </a:prstGeom>
        </p:spPr>
        <p:txBody>
          <a:bodyPr wrap="square">
            <a:spAutoFit/>
          </a:bodyPr>
          <a:lstStyle/>
          <a:p>
            <a:pPr lvl="0" algn="r" defTabSz="1216660">
              <a:lnSpc>
                <a:spcPct val="120000"/>
              </a:lnSpc>
              <a:spcBef>
                <a:spcPct val="20000"/>
              </a:spcBef>
              <a:defRPr/>
            </a:pPr>
            <a:r>
              <a:rPr lang="zh-CN" altLang="en-US" sz="1600" dirty="0">
                <a:latin typeface="思源黑体 CN Heavy" panose="020B0A00000000000000" pitchFamily="34" charset="-122"/>
                <a:ea typeface="思源黑体 CN Heavy" panose="020B0A00000000000000" pitchFamily="34" charset="-122"/>
                <a:cs typeface="+mn-ea"/>
                <a:sym typeface="Calibri" panose="020F0502020204030204" pitchFamily="34" charset="0"/>
              </a:rPr>
              <a:t>资产周转率</a:t>
            </a:r>
            <a:endParaRPr lang="en-US" altLang="zh-CN" sz="1600" dirty="0">
              <a:latin typeface="思源黑体 CN Heavy" panose="020B0A00000000000000" pitchFamily="34" charset="-122"/>
              <a:ea typeface="思源黑体 CN Heavy" panose="020B0A00000000000000" pitchFamily="34" charset="-122"/>
              <a:cs typeface="+mn-ea"/>
              <a:sym typeface="Calibri" panose="020F0502020204030204" pitchFamily="34" charset="0"/>
            </a:endParaRPr>
          </a:p>
          <a:p>
            <a:pPr lvl="0" algn="r" defTabSz="1216660">
              <a:lnSpc>
                <a:spcPct val="120000"/>
              </a:lnSpc>
              <a:spcBef>
                <a:spcPct val="20000"/>
              </a:spcBef>
              <a:defRPr/>
            </a:pPr>
            <a:r>
              <a:rPr lang="zh-CN" altLang="en-US"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流动资产</a:t>
            </a:r>
            <a:r>
              <a:rPr lang="en-US" altLang="zh-CN"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a:t>
            </a:r>
            <a:r>
              <a:rPr lang="zh-CN" altLang="en-US"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固定资产</a:t>
            </a:r>
            <a:r>
              <a:rPr lang="en-US" altLang="zh-CN"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a:t>
            </a:r>
            <a:r>
              <a:rPr lang="zh-CN" altLang="en-US"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总资产周转率是衡量企业资产运营效率的核心指标</a:t>
            </a:r>
            <a:r>
              <a:rPr lang="en-US" altLang="zh-CN"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a:t>
            </a:r>
            <a:r>
              <a:rPr lang="zh-CN" altLang="en-US"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可以看出来企业管理层是否有效地利用资产来进行创收</a:t>
            </a:r>
            <a:r>
              <a:rPr lang="en-US" altLang="zh-CN"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a:t>
            </a:r>
            <a:r>
              <a:rPr lang="zh-CN" altLang="en-US"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周转率越高</a:t>
            </a:r>
            <a:r>
              <a:rPr lang="en-US" altLang="zh-CN"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a:t>
            </a:r>
            <a:r>
              <a:rPr lang="zh-CN" altLang="en-US"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则说明资产利用的越充分</a:t>
            </a:r>
            <a:r>
              <a:rPr lang="en-US" altLang="zh-CN"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a:t>
            </a:r>
            <a:r>
              <a:rPr lang="zh-CN" altLang="en-US"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公司则更会“赚钱”</a:t>
            </a:r>
            <a:r>
              <a:rPr lang="en-US" altLang="zh-CN"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a:t>
            </a:r>
            <a:endParaRPr lang="en-US" altLang="zh-CN"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endParaRPr>
          </a:p>
        </p:txBody>
      </p:sp>
      <p:sp>
        <p:nvSpPr>
          <p:cNvPr id="7" name="矩形 6"/>
          <p:cNvSpPr/>
          <p:nvPr/>
        </p:nvSpPr>
        <p:spPr>
          <a:xfrm>
            <a:off x="738505" y="4261485"/>
            <a:ext cx="4207510" cy="1086485"/>
          </a:xfrm>
          <a:prstGeom prst="rect">
            <a:avLst/>
          </a:prstGeom>
        </p:spPr>
        <p:txBody>
          <a:bodyPr wrap="square">
            <a:spAutoFit/>
          </a:bodyPr>
          <a:lstStyle/>
          <a:p>
            <a:pPr lvl="0" algn="r" defTabSz="1216660">
              <a:lnSpc>
                <a:spcPct val="120000"/>
              </a:lnSpc>
              <a:spcBef>
                <a:spcPct val="20000"/>
              </a:spcBef>
              <a:defRPr/>
            </a:pPr>
            <a:r>
              <a:rPr lang="zh-CN" altLang="en-US" sz="1600" dirty="0">
                <a:latin typeface="思源黑体 CN Heavy" panose="020B0A00000000000000" pitchFamily="34" charset="-122"/>
                <a:ea typeface="思源黑体 CN Heavy" panose="020B0A00000000000000" pitchFamily="34" charset="-122"/>
                <a:cs typeface="+mn-ea"/>
                <a:sym typeface="Calibri" panose="020F0502020204030204" pitchFamily="34" charset="0"/>
              </a:rPr>
              <a:t>安井食品资产周转率现状</a:t>
            </a:r>
            <a:endParaRPr lang="en-US" altLang="zh-CN" sz="1600" dirty="0">
              <a:latin typeface="思源黑体 CN Heavy" panose="020B0A00000000000000" pitchFamily="34" charset="-122"/>
              <a:ea typeface="思源黑体 CN Heavy" panose="020B0A00000000000000" pitchFamily="34" charset="-122"/>
              <a:cs typeface="+mn-ea"/>
              <a:sym typeface="Calibri" panose="020F0502020204030204" pitchFamily="34" charset="0"/>
            </a:endParaRPr>
          </a:p>
          <a:p>
            <a:pPr lvl="0" algn="r" defTabSz="1216660">
              <a:lnSpc>
                <a:spcPct val="120000"/>
              </a:lnSpc>
              <a:spcBef>
                <a:spcPct val="20000"/>
              </a:spcBef>
              <a:defRPr/>
            </a:pPr>
            <a:r>
              <a:rPr lang="zh-CN" altLang="en-US"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我们可以看到较并购前周转率状况</a:t>
            </a:r>
            <a:r>
              <a:rPr lang="en-US" altLang="zh-CN"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a:t>
            </a:r>
            <a:r>
              <a:rPr lang="zh-CN" altLang="en-US"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安井食品的周转率是呈现下降态势的</a:t>
            </a:r>
            <a:r>
              <a:rPr lang="en-US" altLang="zh-CN"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a:t>
            </a:r>
            <a:r>
              <a:rPr lang="zh-CN" altLang="en-US"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资产周转率持续下降则说明企业资产营业效率在降低</a:t>
            </a:r>
            <a:r>
              <a:rPr lang="en-US" altLang="zh-CN"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a:t>
            </a:r>
            <a:r>
              <a:rPr lang="zh-CN" altLang="en-US"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可能存在盲目扩张</a:t>
            </a:r>
            <a:r>
              <a:rPr lang="en-US" altLang="zh-CN"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a:t>
            </a:r>
            <a:endParaRPr lang="en-US" altLang="zh-CN"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endParaRPr>
          </a:p>
        </p:txBody>
      </p:sp>
      <p:grpSp>
        <p:nvGrpSpPr>
          <p:cNvPr id="10" name="组合 9"/>
          <p:cNvGrpSpPr/>
          <p:nvPr/>
        </p:nvGrpSpPr>
        <p:grpSpPr>
          <a:xfrm>
            <a:off x="5408020" y="2247362"/>
            <a:ext cx="5908873" cy="3118692"/>
            <a:chOff x="1115735" y="587229"/>
            <a:chExt cx="9925879" cy="6091095"/>
          </a:xfrm>
        </p:grpSpPr>
        <p:sp>
          <p:nvSpPr>
            <p:cNvPr id="11" name="矩形 10"/>
            <p:cNvSpPr/>
            <p:nvPr/>
          </p:nvSpPr>
          <p:spPr>
            <a:xfrm>
              <a:off x="1115735" y="587229"/>
              <a:ext cx="9571839" cy="5410900"/>
            </a:xfrm>
            <a:prstGeom prst="rect">
              <a:avLst/>
            </a:prstGeom>
            <a:pattFill prst="wdDnDiag">
              <a:fgClr>
                <a:srgbClr val="203864"/>
              </a:fgClr>
              <a:bgClr>
                <a:schemeClr val="bg1"/>
              </a:bgClr>
            </a:patt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1469775" y="1267424"/>
              <a:ext cx="9571839" cy="5410900"/>
            </a:xfrm>
            <a:prstGeom prst="rect">
              <a:avLst/>
            </a:prstGeom>
            <a:blipFill rotWithShape="1">
              <a:blip r:embed="rId1"/>
              <a:stretch>
                <a:fillRect/>
              </a:stretch>
            </a:blip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aphicFrame>
        <p:nvGraphicFramePr>
          <p:cNvPr id="9" name="表格 8"/>
          <p:cNvGraphicFramePr/>
          <p:nvPr>
            <p:custDataLst>
              <p:tags r:id="rId2"/>
            </p:custDataLst>
          </p:nvPr>
        </p:nvGraphicFramePr>
        <p:xfrm>
          <a:off x="1461135" y="967105"/>
          <a:ext cx="9153525" cy="1261745"/>
        </p:xfrm>
        <a:graphic>
          <a:graphicData uri="http://schemas.openxmlformats.org/drawingml/2006/table">
            <a:tbl>
              <a:tblPr/>
              <a:tblGrid>
                <a:gridCol w="873760"/>
                <a:gridCol w="2319655"/>
                <a:gridCol w="552450"/>
                <a:gridCol w="1033780"/>
                <a:gridCol w="1033145"/>
                <a:gridCol w="1113155"/>
                <a:gridCol w="1113790"/>
                <a:gridCol w="1113790"/>
              </a:tblGrid>
              <a:tr h="242570">
                <a:tc>
                  <a:txBody>
                    <a:bodyPr/>
                    <a:p>
                      <a:pPr marL="0" indent="0" algn="r" fontAlgn="ctr">
                        <a:spcBef>
                          <a:spcPct val="0"/>
                        </a:spcBef>
                        <a:spcAft>
                          <a:spcPct val="0"/>
                        </a:spcAft>
                      </a:pPr>
                      <a:r>
                        <a:rPr lang="zh-CN" sz="1100" b="1" i="0">
                          <a:solidFill>
                            <a:srgbClr val="000000"/>
                          </a:solidFill>
                          <a:latin typeface="宋体" panose="02010600030101010101" pitchFamily="2" charset="-122"/>
                          <a:ea typeface="宋体" panose="02010600030101010101" pitchFamily="2" charset="-122"/>
                        </a:rPr>
                        <a:t>年份</a:t>
                      </a:r>
                      <a:endParaRPr lang="zh-CN" sz="1100" b="1" i="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4874CB"/>
                    </a:solidFill>
                  </a:tcPr>
                </a:tc>
                <a:tc>
                  <a:txBody>
                    <a:bodyPr/>
                    <a:p>
                      <a:pPr marL="0" indent="0" algn="r" fontAlgn="ctr">
                        <a:spcBef>
                          <a:spcPct val="0"/>
                        </a:spcBef>
                        <a:spcAft>
                          <a:spcPct val="0"/>
                        </a:spcAft>
                      </a:pPr>
                      <a:r>
                        <a:rPr lang="zh-CN" sz="1100" b="1" i="0">
                          <a:solidFill>
                            <a:srgbClr val="000000"/>
                          </a:solidFill>
                          <a:latin typeface="宋体" panose="02010600030101010101" pitchFamily="2" charset="-122"/>
                          <a:ea typeface="宋体" panose="02010600030101010101" pitchFamily="2" charset="-122"/>
                        </a:rPr>
                        <a:t>财务指标</a:t>
                      </a:r>
                      <a:endParaRPr lang="zh-CN" sz="1100" b="1" i="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4874CB"/>
                    </a:solidFill>
                  </a:tcPr>
                </a:tc>
                <a:tc>
                  <a:txBody>
                    <a:bodyPr/>
                    <a:p>
                      <a:pPr marL="0" indent="0" algn="r" fontAlgn="ctr">
                        <a:spcBef>
                          <a:spcPct val="0"/>
                        </a:spcBef>
                        <a:spcAft>
                          <a:spcPct val="0"/>
                        </a:spcAft>
                      </a:pPr>
                      <a:r>
                        <a:rPr lang="zh-CN" sz="1100" b="1" i="0">
                          <a:solidFill>
                            <a:srgbClr val="000000"/>
                          </a:solidFill>
                          <a:latin typeface="宋体" panose="02010600030101010101" pitchFamily="2" charset="-122"/>
                          <a:ea typeface="宋体" panose="02010600030101010101" pitchFamily="2" charset="-122"/>
                        </a:rPr>
                        <a:t>单位</a:t>
                      </a:r>
                      <a:endParaRPr lang="zh-CN" sz="1100" b="1" i="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4874CB"/>
                    </a:solidFill>
                  </a:tcPr>
                </a:tc>
                <a:tc>
                  <a:txBody>
                    <a:bodyPr/>
                    <a:p>
                      <a:pPr marL="0" indent="0" algn="r" fontAlgn="ctr">
                        <a:spcBef>
                          <a:spcPct val="0"/>
                        </a:spcBef>
                        <a:spcAft>
                          <a:spcPct val="0"/>
                        </a:spcAft>
                      </a:pPr>
                      <a:r>
                        <a:rPr lang="en-US" altLang="zh-CN" sz="1100" b="1" i="0">
                          <a:solidFill>
                            <a:srgbClr val="000000"/>
                          </a:solidFill>
                          <a:latin typeface="宋体" panose="02010600030101010101" pitchFamily="2" charset="-122"/>
                          <a:ea typeface="宋体" panose="02010600030101010101" pitchFamily="2" charset="-122"/>
                        </a:rPr>
                        <a:t>2020</a:t>
                      </a:r>
                      <a:endParaRPr lang="en-US" altLang="zh-CN" sz="1100" b="1" i="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4874CB"/>
                    </a:solidFill>
                  </a:tcPr>
                </a:tc>
                <a:tc>
                  <a:txBody>
                    <a:bodyPr/>
                    <a:p>
                      <a:pPr marL="0" indent="0" algn="r" fontAlgn="ctr">
                        <a:spcBef>
                          <a:spcPct val="0"/>
                        </a:spcBef>
                        <a:spcAft>
                          <a:spcPct val="0"/>
                        </a:spcAft>
                      </a:pPr>
                      <a:r>
                        <a:rPr lang="en-US" altLang="zh-CN" sz="1100" b="1" i="0">
                          <a:solidFill>
                            <a:srgbClr val="000000"/>
                          </a:solidFill>
                          <a:latin typeface="宋体" panose="02010600030101010101" pitchFamily="2" charset="-122"/>
                          <a:ea typeface="宋体" panose="02010600030101010101" pitchFamily="2" charset="-122"/>
                        </a:rPr>
                        <a:t>2021</a:t>
                      </a:r>
                      <a:endParaRPr lang="en-US" altLang="zh-CN" sz="1100" b="1" i="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4874CB"/>
                    </a:solidFill>
                  </a:tcPr>
                </a:tc>
                <a:tc>
                  <a:txBody>
                    <a:bodyPr/>
                    <a:p>
                      <a:pPr marL="0" indent="0" algn="r" fontAlgn="ctr">
                        <a:spcBef>
                          <a:spcPct val="0"/>
                        </a:spcBef>
                        <a:spcAft>
                          <a:spcPct val="0"/>
                        </a:spcAft>
                      </a:pPr>
                      <a:r>
                        <a:rPr lang="en-US" altLang="zh-CN" sz="1100" b="1" i="0">
                          <a:solidFill>
                            <a:srgbClr val="000000"/>
                          </a:solidFill>
                          <a:latin typeface="宋体" panose="02010600030101010101" pitchFamily="2" charset="-122"/>
                          <a:ea typeface="宋体" panose="02010600030101010101" pitchFamily="2" charset="-122"/>
                        </a:rPr>
                        <a:t>2022</a:t>
                      </a:r>
                      <a:endParaRPr lang="en-US" altLang="zh-CN" sz="1100" b="1" i="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4874CB"/>
                    </a:solidFill>
                  </a:tcPr>
                </a:tc>
                <a:tc>
                  <a:txBody>
                    <a:bodyPr/>
                    <a:p>
                      <a:pPr marL="0" indent="0" algn="r" fontAlgn="ctr">
                        <a:spcBef>
                          <a:spcPct val="0"/>
                        </a:spcBef>
                        <a:spcAft>
                          <a:spcPct val="0"/>
                        </a:spcAft>
                      </a:pPr>
                      <a:r>
                        <a:rPr lang="en-US" altLang="zh-CN" sz="1100" b="1" i="0">
                          <a:solidFill>
                            <a:srgbClr val="000000"/>
                          </a:solidFill>
                          <a:latin typeface="宋体" panose="02010600030101010101" pitchFamily="2" charset="-122"/>
                          <a:ea typeface="宋体" panose="02010600030101010101" pitchFamily="2" charset="-122"/>
                        </a:rPr>
                        <a:t>2023</a:t>
                      </a:r>
                      <a:endParaRPr lang="en-US" altLang="zh-CN" sz="1100" b="1" i="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4874CB"/>
                    </a:solidFill>
                  </a:tcPr>
                </a:tc>
                <a:tc>
                  <a:txBody>
                    <a:bodyPr/>
                    <a:p>
                      <a:pPr marL="0" indent="0" algn="r" fontAlgn="ctr">
                        <a:spcBef>
                          <a:spcPct val="0"/>
                        </a:spcBef>
                        <a:spcAft>
                          <a:spcPct val="0"/>
                        </a:spcAft>
                      </a:pPr>
                      <a:r>
                        <a:rPr lang="en-US" altLang="zh-CN" sz="1100" b="1" i="0">
                          <a:solidFill>
                            <a:srgbClr val="000000"/>
                          </a:solidFill>
                          <a:latin typeface="宋体" panose="02010600030101010101" pitchFamily="2" charset="-122"/>
                          <a:ea typeface="宋体" panose="02010600030101010101" pitchFamily="2" charset="-122"/>
                        </a:rPr>
                        <a:t>2024</a:t>
                      </a:r>
                      <a:endParaRPr lang="en-US" altLang="zh-CN" sz="1100" b="1" i="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4874CB"/>
                    </a:solidFill>
                  </a:tcPr>
                </a:tc>
              </a:tr>
              <a:tr h="203835">
                <a:tc>
                  <a:txBody>
                    <a:bodyPr/>
                    <a:p>
                      <a:pPr marL="0" indent="0" algn="r" fontAlgn="ctr">
                        <a:spcBef>
                          <a:spcPct val="0"/>
                        </a:spcBef>
                        <a:spcAft>
                          <a:spcPct val="0"/>
                        </a:spcAft>
                      </a:pPr>
                      <a:r>
                        <a:rPr lang="zh-CN" sz="1100" i="0">
                          <a:solidFill>
                            <a:srgbClr val="000000"/>
                          </a:solidFill>
                          <a:latin typeface="宋体" panose="02010600030101010101" pitchFamily="2" charset="-122"/>
                          <a:ea typeface="宋体" panose="02010600030101010101" pitchFamily="2" charset="-122"/>
                        </a:rPr>
                        <a:t>营运能力</a:t>
                      </a:r>
                      <a:endParaRPr lang="zh-CN" sz="1100" i="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r" fontAlgn="ctr">
                        <a:spcBef>
                          <a:spcPct val="0"/>
                        </a:spcBef>
                        <a:spcAft>
                          <a:spcPct val="0"/>
                        </a:spcAft>
                      </a:pPr>
                      <a:r>
                        <a:rPr lang="zh-CN" sz="1100" i="0">
                          <a:solidFill>
                            <a:srgbClr val="000000"/>
                          </a:solidFill>
                          <a:latin typeface="宋体" panose="02010600030101010101" pitchFamily="2" charset="-122"/>
                          <a:ea typeface="宋体" panose="02010600030101010101" pitchFamily="2" charset="-122"/>
                        </a:rPr>
                        <a:t>应收账款周转率</a:t>
                      </a:r>
                      <a:endParaRPr lang="zh-CN" sz="1100" i="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r" fontAlgn="ctr">
                        <a:spcBef>
                          <a:spcPct val="0"/>
                        </a:spcBef>
                        <a:spcAft>
                          <a:spcPct val="0"/>
                        </a:spcAft>
                      </a:pPr>
                      <a:r>
                        <a:rPr lang="zh-CN" sz="1100" i="0">
                          <a:solidFill>
                            <a:srgbClr val="000000"/>
                          </a:solidFill>
                          <a:latin typeface="宋体" panose="02010600030101010101" pitchFamily="2" charset="-122"/>
                          <a:ea typeface="宋体" panose="02010600030101010101" pitchFamily="2" charset="-122"/>
                        </a:rPr>
                        <a:t>次</a:t>
                      </a:r>
                      <a:endParaRPr lang="zh-CN" sz="1100" i="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26.84</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20.82</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19.07</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21.51</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25.31</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r>
              <a:tr h="203835">
                <a:tc>
                  <a:txBody>
                    <a:bodyPr/>
                    <a:p>
                      <a:pPr marL="0" indent="0" algn="r" fontAlgn="ctr">
                        <a:spcBef>
                          <a:spcPct val="0"/>
                        </a:spcBef>
                        <a:spcAft>
                          <a:spcPct val="0"/>
                        </a:spcAft>
                      </a:pPr>
                      <a:r>
                        <a:rPr lang="en-US" altLang="zh-CN" sz="1100">
                          <a:solidFill>
                            <a:srgbClr val="000000"/>
                          </a:solidFill>
                          <a:latin typeface="Calibri" panose="020F0502020204030204"/>
                          <a:ea typeface="宋体" panose="02010600030101010101" pitchFamily="2" charset="-122"/>
                        </a:rPr>
                        <a:t> </a:t>
                      </a:r>
                      <a:endParaRPr lang="en-US" altLang="zh-CN" sz="1100">
                        <a:solidFill>
                          <a:srgbClr val="000000"/>
                        </a:solidFill>
                        <a:latin typeface="Calibri" panose="020F0502020204030204"/>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r" fontAlgn="ctr">
                        <a:spcBef>
                          <a:spcPct val="0"/>
                        </a:spcBef>
                        <a:spcAft>
                          <a:spcPct val="0"/>
                        </a:spcAft>
                      </a:pPr>
                      <a:r>
                        <a:rPr lang="zh-CN" sz="1100" i="0">
                          <a:solidFill>
                            <a:srgbClr val="000000"/>
                          </a:solidFill>
                          <a:latin typeface="宋体" panose="02010600030101010101" pitchFamily="2" charset="-122"/>
                          <a:ea typeface="宋体" panose="02010600030101010101" pitchFamily="2" charset="-122"/>
                        </a:rPr>
                        <a:t>存货周转率</a:t>
                      </a:r>
                      <a:endParaRPr lang="zh-CN" sz="1100" i="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r" fontAlgn="ctr">
                        <a:spcBef>
                          <a:spcPct val="0"/>
                        </a:spcBef>
                        <a:spcAft>
                          <a:spcPct val="0"/>
                        </a:spcAft>
                      </a:pPr>
                      <a:r>
                        <a:rPr lang="zh-CN" sz="1100" i="0">
                          <a:solidFill>
                            <a:srgbClr val="000000"/>
                          </a:solidFill>
                          <a:latin typeface="宋体" panose="02010600030101010101" pitchFamily="2" charset="-122"/>
                          <a:ea typeface="宋体" panose="02010600030101010101" pitchFamily="2" charset="-122"/>
                        </a:rPr>
                        <a:t>次</a:t>
                      </a:r>
                      <a:endParaRPr lang="zh-CN" sz="1100" i="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3.02</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3.52</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3.43</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3.22</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3.39</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r>
              <a:tr h="204470">
                <a:tc>
                  <a:txBody>
                    <a:bodyPr/>
                    <a:p>
                      <a:pPr marL="0" indent="0" algn="r" fontAlgn="ctr">
                        <a:spcBef>
                          <a:spcPct val="0"/>
                        </a:spcBef>
                        <a:spcAft>
                          <a:spcPct val="0"/>
                        </a:spcAft>
                      </a:pPr>
                      <a:r>
                        <a:rPr lang="en-US" altLang="zh-CN" sz="1100">
                          <a:solidFill>
                            <a:srgbClr val="000000"/>
                          </a:solidFill>
                          <a:latin typeface="Calibri" panose="020F0502020204030204"/>
                          <a:ea typeface="宋体" panose="02010600030101010101" pitchFamily="2" charset="-122"/>
                        </a:rPr>
                        <a:t> </a:t>
                      </a:r>
                      <a:endParaRPr lang="en-US" altLang="zh-CN" sz="1100">
                        <a:solidFill>
                          <a:srgbClr val="000000"/>
                        </a:solidFill>
                        <a:latin typeface="Calibri" panose="020F0502020204030204"/>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r" fontAlgn="ctr">
                        <a:spcBef>
                          <a:spcPct val="0"/>
                        </a:spcBef>
                        <a:spcAft>
                          <a:spcPct val="0"/>
                        </a:spcAft>
                      </a:pPr>
                      <a:r>
                        <a:rPr lang="zh-CN" sz="1100" i="0">
                          <a:solidFill>
                            <a:srgbClr val="000000"/>
                          </a:solidFill>
                          <a:latin typeface="宋体" panose="02010600030101010101" pitchFamily="2" charset="-122"/>
                          <a:ea typeface="宋体" panose="02010600030101010101" pitchFamily="2" charset="-122"/>
                        </a:rPr>
                        <a:t>流动资产周转率</a:t>
                      </a:r>
                      <a:endParaRPr lang="zh-CN" sz="1100" i="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r" fontAlgn="ctr">
                        <a:spcBef>
                          <a:spcPct val="0"/>
                        </a:spcBef>
                        <a:spcAft>
                          <a:spcPct val="0"/>
                        </a:spcAft>
                      </a:pPr>
                      <a:r>
                        <a:rPr lang="zh-CN" sz="1100" i="0">
                          <a:solidFill>
                            <a:srgbClr val="000000"/>
                          </a:solidFill>
                          <a:latin typeface="宋体" panose="02010600030101010101" pitchFamily="2" charset="-122"/>
                          <a:ea typeface="宋体" panose="02010600030101010101" pitchFamily="2" charset="-122"/>
                        </a:rPr>
                        <a:t>次</a:t>
                      </a:r>
                      <a:endParaRPr lang="zh-CN" sz="1100" i="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1.86</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2.18</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1.66</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1.36</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1.46</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r>
              <a:tr h="203200">
                <a:tc>
                  <a:txBody>
                    <a:bodyPr/>
                    <a:p>
                      <a:pPr marL="0" indent="0" algn="r" fontAlgn="ctr">
                        <a:spcBef>
                          <a:spcPct val="0"/>
                        </a:spcBef>
                        <a:spcAft>
                          <a:spcPct val="0"/>
                        </a:spcAft>
                      </a:pPr>
                      <a:r>
                        <a:rPr lang="en-US" altLang="zh-CN" sz="1100">
                          <a:solidFill>
                            <a:srgbClr val="000000"/>
                          </a:solidFill>
                          <a:latin typeface="Calibri" panose="020F0502020204030204"/>
                          <a:ea typeface="宋体" panose="02010600030101010101" pitchFamily="2" charset="-122"/>
                        </a:rPr>
                        <a:t> </a:t>
                      </a:r>
                      <a:endParaRPr lang="en-US" altLang="zh-CN" sz="1100">
                        <a:solidFill>
                          <a:srgbClr val="000000"/>
                        </a:solidFill>
                        <a:latin typeface="Calibri" panose="020F0502020204030204"/>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r" fontAlgn="ctr">
                        <a:spcBef>
                          <a:spcPct val="0"/>
                        </a:spcBef>
                        <a:spcAft>
                          <a:spcPct val="0"/>
                        </a:spcAft>
                      </a:pPr>
                      <a:r>
                        <a:rPr lang="zh-CN" sz="1100" i="0">
                          <a:solidFill>
                            <a:srgbClr val="000000"/>
                          </a:solidFill>
                          <a:latin typeface="宋体" panose="02010600030101010101" pitchFamily="2" charset="-122"/>
                          <a:ea typeface="宋体" panose="02010600030101010101" pitchFamily="2" charset="-122"/>
                        </a:rPr>
                        <a:t>固定资产周转率</a:t>
                      </a:r>
                      <a:endParaRPr lang="zh-CN" sz="1100" i="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r" fontAlgn="ctr">
                        <a:spcBef>
                          <a:spcPct val="0"/>
                        </a:spcBef>
                        <a:spcAft>
                          <a:spcPct val="0"/>
                        </a:spcAft>
                      </a:pPr>
                      <a:r>
                        <a:rPr lang="zh-CN" sz="1100" i="0">
                          <a:solidFill>
                            <a:srgbClr val="000000"/>
                          </a:solidFill>
                          <a:latin typeface="宋体" panose="02010600030101010101" pitchFamily="2" charset="-122"/>
                          <a:ea typeface="宋体" panose="02010600030101010101" pitchFamily="2" charset="-122"/>
                        </a:rPr>
                        <a:t>次</a:t>
                      </a:r>
                      <a:endParaRPr lang="zh-CN" sz="1100" i="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3.92</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3.76</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3.9</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3.79</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3.3</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r>
              <a:tr h="203835">
                <a:tc>
                  <a:txBody>
                    <a:bodyPr/>
                    <a:p>
                      <a:pPr marL="0" indent="0" algn="r" fontAlgn="ctr">
                        <a:spcBef>
                          <a:spcPct val="0"/>
                        </a:spcBef>
                        <a:spcAft>
                          <a:spcPct val="0"/>
                        </a:spcAft>
                      </a:pPr>
                      <a:r>
                        <a:rPr lang="en-US" altLang="zh-CN" sz="1100">
                          <a:solidFill>
                            <a:srgbClr val="000000"/>
                          </a:solidFill>
                          <a:latin typeface="Calibri" panose="020F0502020204030204"/>
                          <a:ea typeface="宋体" panose="02010600030101010101" pitchFamily="2" charset="-122"/>
                        </a:rPr>
                        <a:t> </a:t>
                      </a:r>
                      <a:endParaRPr lang="en-US" altLang="zh-CN" sz="1100">
                        <a:solidFill>
                          <a:srgbClr val="000000"/>
                        </a:solidFill>
                        <a:latin typeface="Calibri" panose="020F0502020204030204"/>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r" fontAlgn="ctr">
                        <a:spcBef>
                          <a:spcPct val="0"/>
                        </a:spcBef>
                        <a:spcAft>
                          <a:spcPct val="0"/>
                        </a:spcAft>
                      </a:pPr>
                      <a:r>
                        <a:rPr lang="zh-CN" sz="1100" i="0">
                          <a:solidFill>
                            <a:srgbClr val="000000"/>
                          </a:solidFill>
                          <a:latin typeface="宋体" panose="02010600030101010101" pitchFamily="2" charset="-122"/>
                          <a:ea typeface="宋体" panose="02010600030101010101" pitchFamily="2" charset="-122"/>
                        </a:rPr>
                        <a:t>总资产周转率</a:t>
                      </a:r>
                      <a:endParaRPr lang="zh-CN" sz="1100" i="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r" fontAlgn="ctr">
                        <a:spcBef>
                          <a:spcPct val="0"/>
                        </a:spcBef>
                        <a:spcAft>
                          <a:spcPct val="0"/>
                        </a:spcAft>
                      </a:pPr>
                      <a:r>
                        <a:rPr lang="zh-CN" sz="1100" i="0">
                          <a:solidFill>
                            <a:srgbClr val="000000"/>
                          </a:solidFill>
                          <a:latin typeface="宋体" panose="02010600030101010101" pitchFamily="2" charset="-122"/>
                          <a:ea typeface="宋体" panose="02010600030101010101" pitchFamily="2" charset="-122"/>
                        </a:rPr>
                        <a:t>次</a:t>
                      </a:r>
                      <a:endParaRPr lang="zh-CN" sz="1100" i="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1.09</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1.17</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0.98</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0.84</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0.87</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r>
            </a:tbl>
          </a:graphicData>
        </a:graphic>
      </p:graphicFrame>
    </p:spTree>
  </p:cSld>
  <p:clrMapOvr>
    <a:masterClrMapping/>
  </p:clrMapOvr>
  <p:transition spd="med" advTm="300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ppt_x"/>
                                          </p:val>
                                        </p:tav>
                                        <p:tav tm="100000">
                                          <p:val>
                                            <p:strVal val="#ppt_x"/>
                                          </p:val>
                                        </p:tav>
                                      </p:tavLst>
                                    </p:anim>
                                    <p:anim calcmode="lin" valueType="num">
                                      <p:cBhvr additive="base">
                                        <p:cTn id="1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47831" y="242047"/>
            <a:ext cx="1464428" cy="600634"/>
            <a:chOff x="1115735" y="587229"/>
            <a:chExt cx="10176791" cy="6547926"/>
          </a:xfrm>
        </p:grpSpPr>
        <p:sp>
          <p:nvSpPr>
            <p:cNvPr id="3" name="矩形 2"/>
            <p:cNvSpPr/>
            <p:nvPr/>
          </p:nvSpPr>
          <p:spPr>
            <a:xfrm>
              <a:off x="1115735" y="587229"/>
              <a:ext cx="9571839" cy="5410900"/>
            </a:xfrm>
            <a:prstGeom prst="rect">
              <a:avLst/>
            </a:prstGeom>
            <a:pattFill prst="wdDnDiag">
              <a:fgClr>
                <a:srgbClr val="203864"/>
              </a:fgClr>
              <a:bgClr>
                <a:schemeClr val="bg1"/>
              </a:bgClr>
            </a:patt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1720688" y="1724252"/>
              <a:ext cx="9571838" cy="5410903"/>
            </a:xfrm>
            <a:prstGeom prst="rect">
              <a:avLst/>
            </a:prstGeom>
            <a:solidFill>
              <a:schemeClr val="bg1"/>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5" name="文本框 4"/>
          <p:cNvSpPr txBox="1"/>
          <p:nvPr/>
        </p:nvSpPr>
        <p:spPr>
          <a:xfrm>
            <a:off x="376518" y="409847"/>
            <a:ext cx="1335741" cy="368300"/>
          </a:xfrm>
          <a:prstGeom prst="rect">
            <a:avLst/>
          </a:prstGeom>
          <a:noFill/>
        </p:spPr>
        <p:txBody>
          <a:bodyPr wrap="square" rtlCol="0">
            <a:spAutoFit/>
          </a:bodyPr>
          <a:lstStyle/>
          <a:p>
            <a:pPr algn="ctr"/>
            <a:r>
              <a:rPr lang="zh-CN" altLang="en-US" dirty="0">
                <a:latin typeface="思源黑体 CN Bold" panose="020B0800000000000000" pitchFamily="34" charset="-122"/>
                <a:ea typeface="思源黑体 CN Bold" panose="020B0800000000000000" pitchFamily="34" charset="-122"/>
              </a:rPr>
              <a:t>发展能力</a:t>
            </a:r>
            <a:endParaRPr lang="zh-CN" altLang="en-US" dirty="0">
              <a:latin typeface="思源黑体 CN Bold" panose="020B0800000000000000" pitchFamily="34" charset="-122"/>
              <a:ea typeface="思源黑体 CN Bold" panose="020B0800000000000000" pitchFamily="34" charset="-122"/>
            </a:endParaRPr>
          </a:p>
        </p:txBody>
      </p:sp>
      <p:grpSp>
        <p:nvGrpSpPr>
          <p:cNvPr id="8" name="组合 7"/>
          <p:cNvGrpSpPr/>
          <p:nvPr/>
        </p:nvGrpSpPr>
        <p:grpSpPr>
          <a:xfrm>
            <a:off x="6890734" y="1810569"/>
            <a:ext cx="4027559" cy="924811"/>
            <a:chOff x="1107347" y="1456019"/>
            <a:chExt cx="4027559" cy="924811"/>
          </a:xfrm>
        </p:grpSpPr>
        <p:sp>
          <p:nvSpPr>
            <p:cNvPr id="9" name="矩形 8"/>
            <p:cNvSpPr/>
            <p:nvPr/>
          </p:nvSpPr>
          <p:spPr>
            <a:xfrm flipH="1">
              <a:off x="1107347" y="1551963"/>
              <a:ext cx="117446" cy="771787"/>
            </a:xfrm>
            <a:prstGeom prst="rect">
              <a:avLst/>
            </a:prstGeom>
            <a:solidFill>
              <a:srgbClr val="1432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0" name="išľïdè"/>
            <p:cNvSpPr/>
            <p:nvPr/>
          </p:nvSpPr>
          <p:spPr bwMode="auto">
            <a:xfrm>
              <a:off x="1224793" y="1456019"/>
              <a:ext cx="3910113" cy="9248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algn="l" defTabSz="1216660" rtl="0" eaLnBrk="1" fontAlgn="auto" latinLnBrk="0" hangingPunct="1">
                <a:lnSpc>
                  <a:spcPct val="120000"/>
                </a:lnSpc>
                <a:spcBef>
                  <a:spcPct val="2000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mn-ea"/>
                  <a:sym typeface="思源黑体 CN Medium" panose="020B0600000000000000" pitchFamily="34" charset="-122"/>
                </a:rPr>
                <a:t>营业</a:t>
              </a:r>
              <a:r>
                <a:rPr kumimoji="0" lang="zh-CN" altLang="en-US" sz="1800" b="1"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mn-ea"/>
                  <a:sym typeface="思源黑体 CN Medium" panose="020B0600000000000000" pitchFamily="34" charset="-122"/>
                </a:rPr>
                <a:t>利润率</a:t>
              </a:r>
              <a:endParaRPr kumimoji="0" lang="zh-CN" altLang="en-US" sz="1800" b="1"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mn-ea"/>
                <a:sym typeface="思源黑体 CN Medium" panose="020B0600000000000000" pitchFamily="34" charset="-122"/>
              </a:endParaRPr>
            </a:p>
          </p:txBody>
        </p:sp>
      </p:grpSp>
      <p:grpSp>
        <p:nvGrpSpPr>
          <p:cNvPr id="11" name="组合 10"/>
          <p:cNvGrpSpPr/>
          <p:nvPr/>
        </p:nvGrpSpPr>
        <p:grpSpPr>
          <a:xfrm>
            <a:off x="6890734" y="3018365"/>
            <a:ext cx="4028440" cy="1208405"/>
            <a:chOff x="1107347" y="1361404"/>
            <a:chExt cx="4028440" cy="1208405"/>
          </a:xfrm>
        </p:grpSpPr>
        <p:sp>
          <p:nvSpPr>
            <p:cNvPr id="12" name="矩形 11"/>
            <p:cNvSpPr/>
            <p:nvPr/>
          </p:nvSpPr>
          <p:spPr>
            <a:xfrm flipH="1">
              <a:off x="1107347" y="1551963"/>
              <a:ext cx="117446" cy="771787"/>
            </a:xfrm>
            <a:prstGeom prst="rect">
              <a:avLst/>
            </a:prstGeom>
            <a:solidFill>
              <a:srgbClr val="1432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3" name="išľïdè"/>
            <p:cNvSpPr/>
            <p:nvPr/>
          </p:nvSpPr>
          <p:spPr bwMode="auto">
            <a:xfrm>
              <a:off x="1225457" y="1361404"/>
              <a:ext cx="3910330" cy="1208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1216660" rtl="0" eaLnBrk="1" fontAlgn="auto" latinLnBrk="0" hangingPunct="1">
                <a:lnSpc>
                  <a:spcPct val="120000"/>
                </a:lnSpc>
                <a:spcBef>
                  <a:spcPct val="2000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mn-ea"/>
                  <a:sym typeface="思源黑体 CN Medium" panose="020B0600000000000000" pitchFamily="34" charset="-122"/>
                </a:rPr>
                <a:t>净利润率</a:t>
              </a:r>
              <a:endParaRPr kumimoji="0" lang="zh-CN" altLang="en-US" sz="1800" b="1"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mn-ea"/>
                <a:sym typeface="思源黑体 CN Medium" panose="020B0600000000000000" pitchFamily="34" charset="-122"/>
              </a:endParaRPr>
            </a:p>
            <a:p>
              <a:pPr marL="0" marR="0" lvl="0" indent="0" algn="l" defTabSz="1216660" rtl="0" eaLnBrk="1" fontAlgn="auto" latinLnBrk="0" hangingPunct="1">
                <a:lnSpc>
                  <a:spcPct val="120000"/>
                </a:lnSpc>
                <a:spcBef>
                  <a:spcPct val="2000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latin typeface="思源黑体 CN Light" panose="020B0300000000000000" pitchFamily="34" charset="-122"/>
                  <a:ea typeface="思源黑体 CN Light" panose="020B0300000000000000" pitchFamily="34" charset="-122"/>
                  <a:cs typeface="+mn-ea"/>
                  <a:sym typeface="思源黑体 CN Medium" panose="020B0600000000000000" pitchFamily="34" charset="-122"/>
                </a:rPr>
                <a:t>净利润率衡量最终盈利水平</a:t>
              </a:r>
              <a:r>
                <a:rPr kumimoji="0" lang="en-US" altLang="zh-CN" sz="1200" b="0" i="0" u="none" strike="noStrike" kern="1200" cap="none" spc="0" normalizeH="0" baseline="0" noProof="0" dirty="0">
                  <a:ln>
                    <a:noFill/>
                  </a:ln>
                  <a:solidFill>
                    <a:prstClr val="black"/>
                  </a:solidFill>
                  <a:effectLst/>
                  <a:uLnTx/>
                  <a:uFillTx/>
                  <a:latin typeface="思源黑体 CN Light" panose="020B0300000000000000" pitchFamily="34" charset="-122"/>
                  <a:ea typeface="思源黑体 CN Light" panose="020B0300000000000000" pitchFamily="34" charset="-122"/>
                  <a:cs typeface="+mn-ea"/>
                  <a:sym typeface="思源黑体 CN Medium" panose="020B0600000000000000" pitchFamily="34" charset="-122"/>
                </a:rPr>
                <a:t>，</a:t>
              </a:r>
              <a:r>
                <a:rPr kumimoji="0" lang="zh-CN" altLang="en-US" sz="1200" b="0" i="0" u="none" strike="noStrike" kern="1200" cap="none" spc="0" normalizeH="0" baseline="0" noProof="0" dirty="0">
                  <a:ln>
                    <a:noFill/>
                  </a:ln>
                  <a:solidFill>
                    <a:prstClr val="black"/>
                  </a:solidFill>
                  <a:effectLst/>
                  <a:uLnTx/>
                  <a:uFillTx/>
                  <a:latin typeface="思源黑体 CN Light" panose="020B0300000000000000" pitchFamily="34" charset="-122"/>
                  <a:ea typeface="思源黑体 CN Light" panose="020B0300000000000000" pitchFamily="34" charset="-122"/>
                  <a:cs typeface="+mn-ea"/>
                  <a:sym typeface="思源黑体 CN Medium" panose="020B0600000000000000" pitchFamily="34" charset="-122"/>
                </a:rPr>
                <a:t>反映管理层综合成本控制和经营效率</a:t>
              </a:r>
              <a:r>
                <a:rPr kumimoji="0" lang="en-US" altLang="zh-CN" sz="1200" b="0" i="0" u="none" strike="noStrike" kern="1200" cap="none" spc="0" normalizeH="0" baseline="0" noProof="0" dirty="0">
                  <a:ln>
                    <a:noFill/>
                  </a:ln>
                  <a:solidFill>
                    <a:prstClr val="black"/>
                  </a:solidFill>
                  <a:effectLst/>
                  <a:uLnTx/>
                  <a:uFillTx/>
                  <a:latin typeface="思源黑体 CN Light" panose="020B0300000000000000" pitchFamily="34" charset="-122"/>
                  <a:ea typeface="思源黑体 CN Light" panose="020B0300000000000000" pitchFamily="34" charset="-122"/>
                  <a:cs typeface="+mn-ea"/>
                  <a:sym typeface="思源黑体 CN Medium" panose="020B0600000000000000" pitchFamily="34" charset="-122"/>
                </a:rPr>
                <a:t>。</a:t>
              </a:r>
              <a:endParaRPr kumimoji="0" lang="en-US" altLang="zh-CN" sz="1200" b="0" i="0" u="none" strike="noStrike" kern="1200" cap="none" spc="0" normalizeH="0" baseline="0" noProof="0" dirty="0">
                <a:ln>
                  <a:noFill/>
                </a:ln>
                <a:solidFill>
                  <a:prstClr val="black"/>
                </a:solidFill>
                <a:effectLst/>
                <a:uLnTx/>
                <a:uFillTx/>
                <a:latin typeface="思源黑体 CN Light" panose="020B0300000000000000" pitchFamily="34" charset="-122"/>
                <a:ea typeface="思源黑体 CN Light" panose="020B0300000000000000" pitchFamily="34" charset="-122"/>
                <a:cs typeface="+mn-ea"/>
                <a:sym typeface="思源黑体 CN Medium" panose="020B0600000000000000" pitchFamily="34" charset="-122"/>
              </a:endParaRPr>
            </a:p>
          </p:txBody>
        </p:sp>
      </p:grpSp>
      <p:grpSp>
        <p:nvGrpSpPr>
          <p:cNvPr id="14" name="组合 13"/>
          <p:cNvGrpSpPr/>
          <p:nvPr/>
        </p:nvGrpSpPr>
        <p:grpSpPr>
          <a:xfrm>
            <a:off x="6891369" y="4227431"/>
            <a:ext cx="4027805" cy="1555115"/>
            <a:chOff x="1107347" y="1125184"/>
            <a:chExt cx="4027805" cy="1555115"/>
          </a:xfrm>
        </p:grpSpPr>
        <p:sp>
          <p:nvSpPr>
            <p:cNvPr id="15" name="矩形 14"/>
            <p:cNvSpPr/>
            <p:nvPr/>
          </p:nvSpPr>
          <p:spPr>
            <a:xfrm flipH="1">
              <a:off x="1107347" y="1551963"/>
              <a:ext cx="117446" cy="771787"/>
            </a:xfrm>
            <a:prstGeom prst="rect">
              <a:avLst/>
            </a:prstGeom>
            <a:solidFill>
              <a:srgbClr val="1432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6" name="išľïdè"/>
            <p:cNvSpPr/>
            <p:nvPr/>
          </p:nvSpPr>
          <p:spPr bwMode="auto">
            <a:xfrm>
              <a:off x="1224822" y="1125184"/>
              <a:ext cx="3910330" cy="1555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fontScale="8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1216660" rtl="0" eaLnBrk="1" fontAlgn="auto" latinLnBrk="0" hangingPunct="1">
                <a:lnSpc>
                  <a:spcPct val="120000"/>
                </a:lnSpc>
                <a:spcBef>
                  <a:spcPct val="20000"/>
                </a:spcBef>
                <a:spcAft>
                  <a:spcPts val="0"/>
                </a:spcAft>
                <a:buClrTx/>
                <a:buSzTx/>
                <a:buFontTx/>
                <a:buNone/>
                <a:defRPr/>
              </a:pPr>
              <a:r>
                <a:rPr kumimoji="0" lang="zh-CN" altLang="en-US" sz="2000" b="1"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mn-ea"/>
                  <a:sym typeface="思源黑体 CN Medium" panose="020B0600000000000000" pitchFamily="34" charset="-122"/>
                </a:rPr>
                <a:t>安井食品数值分析</a:t>
              </a:r>
              <a:endParaRPr kumimoji="0" lang="zh-CN" altLang="en-US" sz="2000" b="1"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mn-ea"/>
                <a:sym typeface="思源黑体 CN Medium" panose="020B0600000000000000" pitchFamily="34" charset="-122"/>
              </a:endParaRPr>
            </a:p>
            <a:p>
              <a:pPr marL="0" marR="0" lvl="0" indent="0" algn="l" defTabSz="1216660" rtl="0" eaLnBrk="1" fontAlgn="auto" latinLnBrk="0" hangingPunct="1">
                <a:lnSpc>
                  <a:spcPct val="120000"/>
                </a:lnSpc>
                <a:spcBef>
                  <a:spcPct val="20000"/>
                </a:spcBef>
                <a:spcAft>
                  <a:spcPts val="0"/>
                </a:spcAft>
                <a:buClrTx/>
                <a:buSzTx/>
                <a:buFontTx/>
                <a:buNone/>
                <a:defRPr/>
              </a:pPr>
              <a:r>
                <a:rPr kumimoji="0" lang="zh-CN" altLang="en-US" sz="1500" b="0" i="0" u="none" strike="noStrike" kern="1200" cap="none" spc="0" normalizeH="0" baseline="0" noProof="0" dirty="0">
                  <a:ln>
                    <a:noFill/>
                  </a:ln>
                  <a:solidFill>
                    <a:prstClr val="black"/>
                  </a:solidFill>
                  <a:effectLst/>
                  <a:uLnTx/>
                  <a:uFillTx/>
                  <a:latin typeface="思源黑体 CN Light" panose="020B0300000000000000" pitchFamily="34" charset="-122"/>
                  <a:ea typeface="思源黑体 CN Light" panose="020B0300000000000000" pitchFamily="34" charset="-122"/>
                  <a:cs typeface="+mn-ea"/>
                  <a:sym typeface="思源黑体 CN Medium" panose="020B0600000000000000" pitchFamily="34" charset="-122"/>
                </a:rPr>
                <a:t>2020-2024年间，企业的营业利润率与净利润率的发展趋势趋同，安井食品的营业利润率高于净利润率且二者均增长，意味着核心业务盈利能力强劲且持续提升。从发展能力角度看的话</a:t>
              </a:r>
              <a:r>
                <a:rPr kumimoji="0" lang="en-US" altLang="zh-CN" sz="1500" b="0" i="0" u="none" strike="noStrike" kern="1200" cap="none" spc="0" normalizeH="0" baseline="0" noProof="0" dirty="0">
                  <a:ln>
                    <a:noFill/>
                  </a:ln>
                  <a:solidFill>
                    <a:prstClr val="black"/>
                  </a:solidFill>
                  <a:effectLst/>
                  <a:uLnTx/>
                  <a:uFillTx/>
                  <a:latin typeface="思源黑体 CN Light" panose="020B0300000000000000" pitchFamily="34" charset="-122"/>
                  <a:ea typeface="思源黑体 CN Light" panose="020B0300000000000000" pitchFamily="34" charset="-122"/>
                  <a:cs typeface="+mn-ea"/>
                  <a:sym typeface="思源黑体 CN Medium" panose="020B0600000000000000" pitchFamily="34" charset="-122"/>
                </a:rPr>
                <a:t>，</a:t>
              </a:r>
              <a:r>
                <a:rPr kumimoji="0" lang="zh-CN" altLang="en-US" sz="1500" b="0" i="0" u="none" strike="noStrike" kern="1200" cap="none" spc="0" normalizeH="0" baseline="0" noProof="0" dirty="0">
                  <a:ln>
                    <a:noFill/>
                  </a:ln>
                  <a:solidFill>
                    <a:prstClr val="black"/>
                  </a:solidFill>
                  <a:effectLst/>
                  <a:uLnTx/>
                  <a:uFillTx/>
                  <a:latin typeface="思源黑体 CN Light" panose="020B0300000000000000" pitchFamily="34" charset="-122"/>
                  <a:ea typeface="思源黑体 CN Light" panose="020B0300000000000000" pitchFamily="34" charset="-122"/>
                  <a:cs typeface="+mn-ea"/>
                  <a:sym typeface="思源黑体 CN Medium" panose="020B0600000000000000" pitchFamily="34" charset="-122"/>
                </a:rPr>
                <a:t>安井食品具备着“短期抗风险</a:t>
              </a:r>
              <a:r>
                <a:rPr kumimoji="0" lang="en-US" altLang="zh-CN" sz="1500" b="0" i="0" u="none" strike="noStrike" kern="1200" cap="none" spc="0" normalizeH="0" baseline="0" noProof="0" dirty="0">
                  <a:ln>
                    <a:noFill/>
                  </a:ln>
                  <a:solidFill>
                    <a:prstClr val="black"/>
                  </a:solidFill>
                  <a:effectLst/>
                  <a:uLnTx/>
                  <a:uFillTx/>
                  <a:latin typeface="思源黑体 CN Light" panose="020B0300000000000000" pitchFamily="34" charset="-122"/>
                  <a:ea typeface="思源黑体 CN Light" panose="020B0300000000000000" pitchFamily="34" charset="-122"/>
                  <a:cs typeface="+mn-ea"/>
                  <a:sym typeface="思源黑体 CN Medium" panose="020B0600000000000000" pitchFamily="34" charset="-122"/>
                </a:rPr>
                <a:t>，</a:t>
              </a:r>
              <a:r>
                <a:rPr kumimoji="0" lang="zh-CN" altLang="en-US" sz="1500" b="0" i="0" u="none" strike="noStrike" kern="1200" cap="none" spc="0" normalizeH="0" baseline="0" noProof="0" dirty="0">
                  <a:ln>
                    <a:noFill/>
                  </a:ln>
                  <a:solidFill>
                    <a:prstClr val="black"/>
                  </a:solidFill>
                  <a:effectLst/>
                  <a:uLnTx/>
                  <a:uFillTx/>
                  <a:latin typeface="思源黑体 CN Light" panose="020B0300000000000000" pitchFamily="34" charset="-122"/>
                  <a:ea typeface="思源黑体 CN Light" panose="020B0300000000000000" pitchFamily="34" charset="-122"/>
                  <a:cs typeface="+mn-ea"/>
                  <a:sym typeface="思源黑体 CN Medium" panose="020B0600000000000000" pitchFamily="34" charset="-122"/>
                </a:rPr>
                <a:t>长期有能力‘发展历程之中。</a:t>
              </a:r>
              <a:endParaRPr kumimoji="0" lang="zh-CN" altLang="en-US" sz="1500" b="0" i="0" u="none" strike="noStrike" kern="1200" cap="none" spc="0" normalizeH="0" baseline="0" noProof="0" dirty="0">
                <a:ln>
                  <a:noFill/>
                </a:ln>
                <a:solidFill>
                  <a:prstClr val="black"/>
                </a:solidFill>
                <a:effectLst/>
                <a:uLnTx/>
                <a:uFillTx/>
                <a:latin typeface="思源黑体 CN Light" panose="020B0300000000000000" pitchFamily="34" charset="-122"/>
                <a:ea typeface="思源黑体 CN Light" panose="020B0300000000000000" pitchFamily="34" charset="-122"/>
                <a:cs typeface="+mn-ea"/>
                <a:sym typeface="思源黑体 CN Medium" panose="020B0600000000000000" pitchFamily="34" charset="-122"/>
              </a:endParaRPr>
            </a:p>
          </p:txBody>
        </p:sp>
      </p:grpSp>
      <p:sp>
        <p:nvSpPr>
          <p:cNvPr id="20" name="文本框 19"/>
          <p:cNvSpPr txBox="1"/>
          <p:nvPr/>
        </p:nvSpPr>
        <p:spPr>
          <a:xfrm>
            <a:off x="7008495" y="2162810"/>
            <a:ext cx="3909695" cy="855345"/>
          </a:xfrm>
          <a:prstGeom prst="rect">
            <a:avLst/>
          </a:prstGeom>
          <a:noFill/>
        </p:spPr>
        <p:txBody>
          <a:bodyPr wrap="square" rtlCol="0">
            <a:noAutofit/>
          </a:bodyPr>
          <a:p>
            <a:pPr algn="l" defTabSz="1216660">
              <a:lnSpc>
                <a:spcPct val="120000"/>
              </a:lnSpc>
              <a:spcBef>
                <a:spcPct val="20000"/>
              </a:spcBef>
              <a:spcAft>
                <a:spcPts val="0"/>
              </a:spcAft>
              <a:buClrTx/>
              <a:buSzTx/>
              <a:buFontTx/>
              <a:defRPr/>
            </a:pPr>
            <a:r>
              <a:rPr lang="zh-CN" altLang="en-US" sz="1200" noProof="0" dirty="0">
                <a:ln>
                  <a:noFill/>
                </a:ln>
                <a:solidFill>
                  <a:prstClr val="black"/>
                </a:solidFill>
                <a:effectLst/>
                <a:uLnTx/>
                <a:uFillTx/>
                <a:latin typeface="思源黑体 CN Light" panose="020B0300000000000000" pitchFamily="34" charset="-122"/>
                <a:ea typeface="思源黑体 CN Light" panose="020B0300000000000000" pitchFamily="34" charset="-122"/>
                <a:cs typeface="+mn-ea"/>
              </a:rPr>
              <a:t>营业利润率反映营业收入转化为营业利润的效率</a:t>
            </a:r>
            <a:r>
              <a:rPr lang="en-US" altLang="zh-CN" sz="1200" noProof="0" dirty="0">
                <a:ln>
                  <a:noFill/>
                </a:ln>
                <a:solidFill>
                  <a:prstClr val="black"/>
                </a:solidFill>
                <a:effectLst/>
                <a:uLnTx/>
                <a:uFillTx/>
                <a:latin typeface="思源黑体 CN Light" panose="020B0300000000000000" pitchFamily="34" charset="-122"/>
                <a:ea typeface="思源黑体 CN Light" panose="020B0300000000000000" pitchFamily="34" charset="-122"/>
                <a:cs typeface="+mn-ea"/>
              </a:rPr>
              <a:t>，</a:t>
            </a:r>
            <a:r>
              <a:rPr lang="zh-CN" altLang="en-US" sz="1200" noProof="0" dirty="0">
                <a:ln>
                  <a:noFill/>
                </a:ln>
                <a:solidFill>
                  <a:prstClr val="black"/>
                </a:solidFill>
                <a:effectLst/>
                <a:uLnTx/>
                <a:uFillTx/>
                <a:latin typeface="思源黑体 CN Light" panose="020B0300000000000000" pitchFamily="34" charset="-122"/>
                <a:ea typeface="思源黑体 CN Light" panose="020B0300000000000000" pitchFamily="34" charset="-122"/>
                <a:cs typeface="+mn-ea"/>
              </a:rPr>
              <a:t>评估核心业务活力能力</a:t>
            </a:r>
            <a:r>
              <a:rPr lang="en-US" altLang="zh-CN" sz="1200" noProof="0" dirty="0">
                <a:ln>
                  <a:noFill/>
                </a:ln>
                <a:solidFill>
                  <a:prstClr val="black"/>
                </a:solidFill>
                <a:effectLst/>
                <a:uLnTx/>
                <a:uFillTx/>
                <a:latin typeface="思源黑体 CN Light" panose="020B0300000000000000" pitchFamily="34" charset="-122"/>
                <a:ea typeface="思源黑体 CN Light" panose="020B0300000000000000" pitchFamily="34" charset="-122"/>
                <a:cs typeface="+mn-ea"/>
              </a:rPr>
              <a:t>。</a:t>
            </a:r>
            <a:endParaRPr lang="en-US" altLang="zh-CN" sz="1200" noProof="0" dirty="0">
              <a:ln>
                <a:noFill/>
              </a:ln>
              <a:solidFill>
                <a:prstClr val="black"/>
              </a:solidFill>
              <a:effectLst/>
              <a:uLnTx/>
              <a:uFillTx/>
              <a:latin typeface="思源黑体 CN Light" panose="020B0300000000000000" pitchFamily="34" charset="-122"/>
              <a:ea typeface="思源黑体 CN Light" panose="020B0300000000000000" pitchFamily="34" charset="-122"/>
              <a:cs typeface="+mn-ea"/>
            </a:endParaRPr>
          </a:p>
        </p:txBody>
      </p:sp>
      <p:graphicFrame>
        <p:nvGraphicFramePr>
          <p:cNvPr id="17" name="表格 16"/>
          <p:cNvGraphicFramePr/>
          <p:nvPr>
            <p:custDataLst>
              <p:tags r:id="rId1"/>
            </p:custDataLst>
          </p:nvPr>
        </p:nvGraphicFramePr>
        <p:xfrm>
          <a:off x="576580" y="1094105"/>
          <a:ext cx="6101715" cy="1765300"/>
        </p:xfrm>
        <a:graphic>
          <a:graphicData uri="http://schemas.openxmlformats.org/drawingml/2006/table">
            <a:tbl>
              <a:tblPr/>
              <a:tblGrid>
                <a:gridCol w="581025"/>
                <a:gridCol w="1547495"/>
                <a:gridCol w="368935"/>
                <a:gridCol w="688975"/>
                <a:gridCol w="688975"/>
                <a:gridCol w="741045"/>
                <a:gridCol w="741680"/>
                <a:gridCol w="743585"/>
              </a:tblGrid>
              <a:tr h="335280">
                <a:tc>
                  <a:txBody>
                    <a:bodyPr/>
                    <a:p>
                      <a:pPr marL="0" indent="0" algn="l" fontAlgn="b">
                        <a:spcBef>
                          <a:spcPct val="0"/>
                        </a:spcBef>
                        <a:spcAft>
                          <a:spcPct val="0"/>
                        </a:spcAft>
                      </a:pPr>
                      <a:r>
                        <a:rPr lang="zh-CN" altLang="en-US" sz="1100" b="1" i="0">
                          <a:solidFill>
                            <a:srgbClr val="FFFFFF"/>
                          </a:solidFill>
                          <a:latin typeface="宋体" panose="02010600030101010101" pitchFamily="2" charset="-122"/>
                          <a:ea typeface="宋体" panose="02010600030101010101" pitchFamily="2" charset="-122"/>
                        </a:rPr>
                        <a:t>指标类别</a:t>
                      </a:r>
                      <a:endParaRPr lang="zh-CN" altLang="en-US" sz="1100" b="1" i="0">
                        <a:solidFill>
                          <a:srgbClr val="FFFFFF"/>
                        </a:solidFill>
                        <a:latin typeface="宋体" panose="02010600030101010101" pitchFamily="2" charset="-122"/>
                        <a:ea typeface="宋体" panose="02010600030101010101" pitchFamily="2" charset="-122"/>
                      </a:endParaRPr>
                    </a:p>
                  </a:txBody>
                  <a:tcPr marL="68580" marR="68580" marT="0" marB="0" anchor="b"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4874CB"/>
                    </a:solidFill>
                  </a:tcPr>
                </a:tc>
                <a:tc>
                  <a:txBody>
                    <a:bodyPr/>
                    <a:p>
                      <a:pPr marL="0" indent="0" algn="l" fontAlgn="b">
                        <a:spcBef>
                          <a:spcPct val="0"/>
                        </a:spcBef>
                        <a:spcAft>
                          <a:spcPct val="0"/>
                        </a:spcAft>
                      </a:pPr>
                      <a:r>
                        <a:rPr lang="zh-CN" altLang="en-US" sz="1100" b="1" i="0">
                          <a:solidFill>
                            <a:srgbClr val="FFFFFF"/>
                          </a:solidFill>
                          <a:latin typeface="宋体" panose="02010600030101010101" pitchFamily="2" charset="-122"/>
                          <a:ea typeface="宋体" panose="02010600030101010101" pitchFamily="2" charset="-122"/>
                        </a:rPr>
                        <a:t>财务指标</a:t>
                      </a:r>
                      <a:endParaRPr lang="zh-CN" altLang="en-US" sz="1100" b="1" i="0">
                        <a:solidFill>
                          <a:srgbClr val="FFFFFF"/>
                        </a:solidFill>
                        <a:latin typeface="宋体" panose="02010600030101010101" pitchFamily="2" charset="-122"/>
                        <a:ea typeface="宋体" panose="02010600030101010101" pitchFamily="2" charset="-122"/>
                      </a:endParaRPr>
                    </a:p>
                  </a:txBody>
                  <a:tcPr marL="68580" marR="68580" marT="0" marB="0" anchor="b"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4874CB"/>
                    </a:solidFill>
                  </a:tcPr>
                </a:tc>
                <a:tc>
                  <a:txBody>
                    <a:bodyPr/>
                    <a:p>
                      <a:pPr marL="0" indent="0" algn="l" fontAlgn="b">
                        <a:spcBef>
                          <a:spcPct val="0"/>
                        </a:spcBef>
                        <a:spcAft>
                          <a:spcPct val="0"/>
                        </a:spcAft>
                      </a:pPr>
                      <a:r>
                        <a:rPr lang="zh-CN" altLang="en-US" sz="1100" b="1" i="0">
                          <a:solidFill>
                            <a:srgbClr val="FFFFFF"/>
                          </a:solidFill>
                          <a:latin typeface="宋体" panose="02010600030101010101" pitchFamily="2" charset="-122"/>
                          <a:ea typeface="宋体" panose="02010600030101010101" pitchFamily="2" charset="-122"/>
                        </a:rPr>
                        <a:t>单位</a:t>
                      </a:r>
                      <a:endParaRPr lang="zh-CN" altLang="en-US" sz="1100" b="1" i="0">
                        <a:solidFill>
                          <a:srgbClr val="FFFFFF"/>
                        </a:solidFill>
                        <a:latin typeface="宋体" panose="02010600030101010101" pitchFamily="2" charset="-122"/>
                        <a:ea typeface="宋体" panose="02010600030101010101" pitchFamily="2" charset="-122"/>
                      </a:endParaRPr>
                    </a:p>
                  </a:txBody>
                  <a:tcPr marL="68580" marR="68580" marT="0" marB="0" anchor="b"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4874CB"/>
                    </a:solidFill>
                  </a:tcPr>
                </a:tc>
                <a:tc>
                  <a:txBody>
                    <a:bodyPr/>
                    <a:p>
                      <a:pPr marL="0" indent="0" algn="l" fontAlgn="b">
                        <a:spcBef>
                          <a:spcPct val="0"/>
                        </a:spcBef>
                        <a:spcAft>
                          <a:spcPct val="0"/>
                        </a:spcAft>
                      </a:pPr>
                      <a:r>
                        <a:rPr lang="en-US" altLang="zh-CN" sz="1100" b="1" i="0">
                          <a:solidFill>
                            <a:srgbClr val="FFFFFF"/>
                          </a:solidFill>
                          <a:latin typeface="宋体" panose="02010600030101010101" pitchFamily="2" charset="-122"/>
                          <a:ea typeface="宋体" panose="02010600030101010101" pitchFamily="2" charset="-122"/>
                        </a:rPr>
                        <a:t>2020</a:t>
                      </a:r>
                      <a:endParaRPr lang="en-US" altLang="zh-CN" sz="1100" b="1" i="0">
                        <a:solidFill>
                          <a:srgbClr val="FFFFFF"/>
                        </a:solidFill>
                        <a:latin typeface="宋体" panose="02010600030101010101" pitchFamily="2" charset="-122"/>
                        <a:ea typeface="宋体" panose="02010600030101010101" pitchFamily="2" charset="-122"/>
                      </a:endParaRPr>
                    </a:p>
                  </a:txBody>
                  <a:tcPr marL="68580" marR="68580" marT="0" marB="0" anchor="b"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4874CB"/>
                    </a:solidFill>
                  </a:tcPr>
                </a:tc>
                <a:tc>
                  <a:txBody>
                    <a:bodyPr/>
                    <a:p>
                      <a:pPr marL="0" indent="0" algn="l" fontAlgn="b">
                        <a:spcBef>
                          <a:spcPct val="0"/>
                        </a:spcBef>
                        <a:spcAft>
                          <a:spcPct val="0"/>
                        </a:spcAft>
                      </a:pPr>
                      <a:r>
                        <a:rPr lang="en-US" altLang="zh-CN" sz="1100" b="1" i="0">
                          <a:solidFill>
                            <a:srgbClr val="FFFFFF"/>
                          </a:solidFill>
                          <a:latin typeface="宋体" panose="02010600030101010101" pitchFamily="2" charset="-122"/>
                          <a:ea typeface="宋体" panose="02010600030101010101" pitchFamily="2" charset="-122"/>
                        </a:rPr>
                        <a:t>2021</a:t>
                      </a:r>
                      <a:endParaRPr lang="en-US" altLang="zh-CN" sz="1100" b="1" i="0">
                        <a:solidFill>
                          <a:srgbClr val="FFFFFF"/>
                        </a:solidFill>
                        <a:latin typeface="宋体" panose="02010600030101010101" pitchFamily="2" charset="-122"/>
                        <a:ea typeface="宋体" panose="02010600030101010101" pitchFamily="2" charset="-122"/>
                      </a:endParaRPr>
                    </a:p>
                  </a:txBody>
                  <a:tcPr marL="68580" marR="68580" marT="0" marB="0" anchor="b"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4874CB"/>
                    </a:solidFill>
                  </a:tcPr>
                </a:tc>
                <a:tc>
                  <a:txBody>
                    <a:bodyPr/>
                    <a:p>
                      <a:pPr marL="0" indent="0" algn="l" fontAlgn="b">
                        <a:spcBef>
                          <a:spcPct val="0"/>
                        </a:spcBef>
                        <a:spcAft>
                          <a:spcPct val="0"/>
                        </a:spcAft>
                      </a:pPr>
                      <a:r>
                        <a:rPr lang="en-US" altLang="zh-CN" sz="1100" b="1" i="0">
                          <a:solidFill>
                            <a:srgbClr val="FFFFFF"/>
                          </a:solidFill>
                          <a:latin typeface="宋体" panose="02010600030101010101" pitchFamily="2" charset="-122"/>
                          <a:ea typeface="宋体" panose="02010600030101010101" pitchFamily="2" charset="-122"/>
                        </a:rPr>
                        <a:t>2022</a:t>
                      </a:r>
                      <a:endParaRPr lang="en-US" altLang="zh-CN" sz="1100" b="1" i="0">
                        <a:solidFill>
                          <a:srgbClr val="FFFFFF"/>
                        </a:solidFill>
                        <a:latin typeface="宋体" panose="02010600030101010101" pitchFamily="2" charset="-122"/>
                        <a:ea typeface="宋体" panose="02010600030101010101" pitchFamily="2" charset="-122"/>
                      </a:endParaRPr>
                    </a:p>
                  </a:txBody>
                  <a:tcPr marL="68580" marR="68580" marT="0" marB="0" anchor="b"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4874CB"/>
                    </a:solidFill>
                  </a:tcPr>
                </a:tc>
                <a:tc>
                  <a:txBody>
                    <a:bodyPr/>
                    <a:p>
                      <a:pPr marL="0" indent="0" algn="l" fontAlgn="b">
                        <a:spcBef>
                          <a:spcPct val="0"/>
                        </a:spcBef>
                        <a:spcAft>
                          <a:spcPct val="0"/>
                        </a:spcAft>
                      </a:pPr>
                      <a:r>
                        <a:rPr lang="en-US" altLang="zh-CN" sz="1100" b="1" i="0">
                          <a:solidFill>
                            <a:srgbClr val="FFFFFF"/>
                          </a:solidFill>
                          <a:latin typeface="宋体" panose="02010600030101010101" pitchFamily="2" charset="-122"/>
                          <a:ea typeface="宋体" panose="02010600030101010101" pitchFamily="2" charset="-122"/>
                        </a:rPr>
                        <a:t>2023</a:t>
                      </a:r>
                      <a:endParaRPr lang="en-US" altLang="zh-CN" sz="1100" b="1" i="0">
                        <a:solidFill>
                          <a:srgbClr val="FFFFFF"/>
                        </a:solidFill>
                        <a:latin typeface="宋体" panose="02010600030101010101" pitchFamily="2" charset="-122"/>
                        <a:ea typeface="宋体" panose="02010600030101010101" pitchFamily="2" charset="-122"/>
                      </a:endParaRPr>
                    </a:p>
                  </a:txBody>
                  <a:tcPr marL="68580" marR="68580" marT="0" marB="0" anchor="b"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4874CB"/>
                    </a:solidFill>
                  </a:tcPr>
                </a:tc>
                <a:tc>
                  <a:txBody>
                    <a:bodyPr/>
                    <a:p>
                      <a:pPr marL="0" indent="0" algn="l" fontAlgn="b">
                        <a:spcBef>
                          <a:spcPct val="0"/>
                        </a:spcBef>
                        <a:spcAft>
                          <a:spcPct val="0"/>
                        </a:spcAft>
                      </a:pPr>
                      <a:r>
                        <a:rPr lang="en-US" altLang="zh-CN" sz="1100" b="1" i="0">
                          <a:solidFill>
                            <a:srgbClr val="FFFFFF"/>
                          </a:solidFill>
                          <a:latin typeface="宋体" panose="02010600030101010101" pitchFamily="2" charset="-122"/>
                          <a:ea typeface="宋体" panose="02010600030101010101" pitchFamily="2" charset="-122"/>
                        </a:rPr>
                        <a:t>2024</a:t>
                      </a:r>
                      <a:endParaRPr lang="en-US" altLang="zh-CN" sz="1100" b="1" i="0">
                        <a:solidFill>
                          <a:srgbClr val="FFFFFF"/>
                        </a:solidFill>
                        <a:latin typeface="宋体" panose="02010600030101010101" pitchFamily="2" charset="-122"/>
                        <a:ea typeface="宋体" panose="02010600030101010101" pitchFamily="2" charset="-122"/>
                      </a:endParaRPr>
                    </a:p>
                  </a:txBody>
                  <a:tcPr marL="68580" marR="68580" marT="0" marB="0" anchor="b"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4874CB"/>
                    </a:solidFill>
                  </a:tcPr>
                </a:tc>
              </a:tr>
              <a:tr h="335280">
                <a:tc>
                  <a:txBody>
                    <a:bodyPr/>
                    <a:p>
                      <a:pPr marL="0" indent="0" algn="ctr" fontAlgn="ctr">
                        <a:spcBef>
                          <a:spcPct val="0"/>
                        </a:spcBef>
                        <a:spcAft>
                          <a:spcPct val="0"/>
                        </a:spcAft>
                      </a:pPr>
                      <a:r>
                        <a:rPr lang="zh-CN" altLang="en-US" sz="1100" i="0">
                          <a:solidFill>
                            <a:srgbClr val="000000"/>
                          </a:solidFill>
                          <a:latin typeface="宋体" panose="02010600030101010101" pitchFamily="2" charset="-122"/>
                          <a:ea typeface="宋体" panose="02010600030101010101" pitchFamily="2" charset="-122"/>
                        </a:rPr>
                        <a:t>发展能力</a:t>
                      </a:r>
                      <a:endParaRPr lang="zh-CN" altLang="en-US"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ctr" fontAlgn="ctr">
                        <a:spcBef>
                          <a:spcPct val="0"/>
                        </a:spcBef>
                        <a:spcAft>
                          <a:spcPct val="0"/>
                        </a:spcAft>
                      </a:pPr>
                      <a:r>
                        <a:rPr lang="zh-CN" altLang="en-US" sz="1100" i="0">
                          <a:solidFill>
                            <a:srgbClr val="000000"/>
                          </a:solidFill>
                          <a:latin typeface="宋体" panose="02010600030101010101" pitchFamily="2" charset="-122"/>
                          <a:ea typeface="宋体" panose="02010600030101010101" pitchFamily="2" charset="-122"/>
                        </a:rPr>
                        <a:t>营业收入增长额</a:t>
                      </a:r>
                      <a:endParaRPr lang="zh-CN" altLang="en-US"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ctr" fontAlgn="ctr">
                        <a:spcBef>
                          <a:spcPct val="0"/>
                        </a:spcBef>
                        <a:spcAft>
                          <a:spcPct val="0"/>
                        </a:spcAft>
                      </a:pPr>
                      <a:r>
                        <a:rPr lang="zh-CN" altLang="en-US" sz="1100" i="0">
                          <a:solidFill>
                            <a:srgbClr val="000000"/>
                          </a:solidFill>
                          <a:latin typeface="宋体" panose="02010600030101010101" pitchFamily="2" charset="-122"/>
                          <a:ea typeface="宋体" panose="02010600030101010101" pitchFamily="2" charset="-122"/>
                        </a:rPr>
                        <a:t>万元</a:t>
                      </a:r>
                      <a:endParaRPr lang="zh-CN" altLang="en-US"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ct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1698451985</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ct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2307086683</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ct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2910461450</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ct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1862571707</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ct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1081416848</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r>
              <a:tr h="273685">
                <a:tc>
                  <a:txBody>
                    <a:bodyPr/>
                    <a:p>
                      <a:pPr marL="0" indent="0" 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 </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ctr" fontAlgn="ctr">
                        <a:spcBef>
                          <a:spcPct val="0"/>
                        </a:spcBef>
                        <a:spcAft>
                          <a:spcPct val="0"/>
                        </a:spcAft>
                      </a:pPr>
                      <a:r>
                        <a:rPr lang="zh-CN" altLang="en-US" sz="1100" i="0">
                          <a:solidFill>
                            <a:srgbClr val="000000"/>
                          </a:solidFill>
                          <a:latin typeface="宋体" panose="02010600030101010101" pitchFamily="2" charset="-122"/>
                          <a:ea typeface="宋体" panose="02010600030101010101" pitchFamily="2" charset="-122"/>
                        </a:rPr>
                        <a:t>营业收入增长率</a:t>
                      </a:r>
                      <a:endParaRPr lang="zh-CN" altLang="en-US"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ct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ct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32.25</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ct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33.12</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ct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31.39</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ct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15.29</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ct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7.7</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r>
              <a:tr h="273685">
                <a:tc>
                  <a:txBody>
                    <a:bodyPr/>
                    <a:p>
                      <a:pPr marL="0" indent="0" 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 </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ctr" fontAlgn="ctr">
                        <a:spcBef>
                          <a:spcPct val="0"/>
                        </a:spcBef>
                        <a:spcAft>
                          <a:spcPct val="0"/>
                        </a:spcAft>
                      </a:pPr>
                      <a:r>
                        <a:rPr lang="zh-CN" altLang="en-US" sz="1100" i="0">
                          <a:solidFill>
                            <a:srgbClr val="000000"/>
                          </a:solidFill>
                          <a:latin typeface="宋体" panose="02010600030101010101" pitchFamily="2" charset="-122"/>
                          <a:ea typeface="宋体" panose="02010600030101010101" pitchFamily="2" charset="-122"/>
                        </a:rPr>
                        <a:t>营业利润率</a:t>
                      </a:r>
                      <a:endParaRPr lang="zh-CN" altLang="en-US"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ct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ct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11.12</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ct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9.28</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ct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11</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ct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13.29</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ct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12.92</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r>
              <a:tr h="273685">
                <a:tc>
                  <a:txBody>
                    <a:bodyPr/>
                    <a:p>
                      <a:pPr marL="0" indent="0" 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 </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ctr" fontAlgn="ctr">
                        <a:spcBef>
                          <a:spcPct val="0"/>
                        </a:spcBef>
                        <a:spcAft>
                          <a:spcPct val="0"/>
                        </a:spcAft>
                      </a:pPr>
                      <a:r>
                        <a:rPr lang="zh-CN" altLang="en-US" sz="1100" i="0">
                          <a:solidFill>
                            <a:srgbClr val="000000"/>
                          </a:solidFill>
                          <a:latin typeface="宋体" panose="02010600030101010101" pitchFamily="2" charset="-122"/>
                          <a:ea typeface="宋体" panose="02010600030101010101" pitchFamily="2" charset="-122"/>
                        </a:rPr>
                        <a:t>净利润率</a:t>
                      </a:r>
                      <a:endParaRPr lang="zh-CN" altLang="en-US"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ct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ct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8.67</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ct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7.36</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ct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9.04</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ct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10.25</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ct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10.01</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r>
              <a:tr h="273685">
                <a:tc>
                  <a:txBody>
                    <a:bodyPr/>
                    <a:p>
                      <a:pPr marL="0" indent="0" 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 </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ctr" fontAlgn="ctr">
                        <a:spcBef>
                          <a:spcPct val="0"/>
                        </a:spcBef>
                        <a:spcAft>
                          <a:spcPct val="0"/>
                        </a:spcAft>
                      </a:pPr>
                      <a:r>
                        <a:rPr lang="zh-CN" altLang="en-US" sz="1100" i="0">
                          <a:solidFill>
                            <a:srgbClr val="000000"/>
                          </a:solidFill>
                          <a:latin typeface="宋体" panose="02010600030101010101" pitchFamily="2" charset="-122"/>
                          <a:ea typeface="宋体" panose="02010600030101010101" pitchFamily="2" charset="-122"/>
                        </a:rPr>
                        <a:t>净利润增长率</a:t>
                      </a:r>
                      <a:endParaRPr lang="zh-CN" altLang="en-US"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ct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ct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61.73</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ct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13.75</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ct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62.71</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ct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34.33</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ct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0.46</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r>
            </a:tbl>
          </a:graphicData>
        </a:graphic>
      </p:graphicFrame>
      <p:pic>
        <p:nvPicPr>
          <p:cNvPr id="21" name="图片 20" descr="WechatIMG6905"/>
          <p:cNvPicPr>
            <a:picLocks noChangeAspect="1"/>
          </p:cNvPicPr>
          <p:nvPr/>
        </p:nvPicPr>
        <p:blipFill>
          <a:blip r:embed="rId2"/>
          <a:stretch>
            <a:fillRect/>
          </a:stretch>
        </p:blipFill>
        <p:spPr>
          <a:xfrm>
            <a:off x="576580" y="3351530"/>
            <a:ext cx="6315075" cy="2722880"/>
          </a:xfrm>
          <a:prstGeom prst="rect">
            <a:avLst/>
          </a:prstGeom>
        </p:spPr>
      </p:pic>
    </p:spTree>
  </p:cSld>
  <p:clrMapOvr>
    <a:masterClrMapping/>
  </p:clrMapOvr>
  <p:transition spd="med" advTm="3000">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ppt_x"/>
                                          </p:val>
                                        </p:tav>
                                        <p:tav tm="100000">
                                          <p:val>
                                            <p:strVal val="#ppt_x"/>
                                          </p:val>
                                        </p:tav>
                                      </p:tavLst>
                                    </p:anim>
                                    <p:anim calcmode="lin" valueType="num">
                                      <p:cBhvr additive="base">
                                        <p:cTn id="12" dur="500" fill="hold"/>
                                        <p:tgtEl>
                                          <p:spTgt spid="11"/>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anim calcmode="lin" valueType="num">
                                      <p:cBhvr additive="base">
                                        <p:cTn id="15" dur="500" fill="hold"/>
                                        <p:tgtEl>
                                          <p:spTgt spid="14"/>
                                        </p:tgtEl>
                                        <p:attrNameLst>
                                          <p:attrName>ppt_x</p:attrName>
                                        </p:attrNameLst>
                                      </p:cBhvr>
                                      <p:tavLst>
                                        <p:tav tm="0">
                                          <p:val>
                                            <p:strVal val="#ppt_x"/>
                                          </p:val>
                                        </p:tav>
                                        <p:tav tm="100000">
                                          <p:val>
                                            <p:strVal val="#ppt_x"/>
                                          </p:val>
                                        </p:tav>
                                      </p:tavLst>
                                    </p:anim>
                                    <p:anim calcmode="lin" valueType="num">
                                      <p:cBhvr additive="base">
                                        <p:cTn id="16"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47831" y="242047"/>
            <a:ext cx="1464428" cy="600634"/>
            <a:chOff x="1115735" y="587229"/>
            <a:chExt cx="10176791" cy="6547926"/>
          </a:xfrm>
        </p:grpSpPr>
        <p:sp>
          <p:nvSpPr>
            <p:cNvPr id="3" name="矩形 2"/>
            <p:cNvSpPr/>
            <p:nvPr/>
          </p:nvSpPr>
          <p:spPr>
            <a:xfrm>
              <a:off x="1115735" y="587229"/>
              <a:ext cx="9571839" cy="5410900"/>
            </a:xfrm>
            <a:prstGeom prst="rect">
              <a:avLst/>
            </a:prstGeom>
            <a:pattFill prst="wdDnDiag">
              <a:fgClr>
                <a:srgbClr val="203864"/>
              </a:fgClr>
              <a:bgClr>
                <a:schemeClr val="bg1"/>
              </a:bgClr>
            </a:patt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1720688" y="1724252"/>
              <a:ext cx="9571838" cy="5410903"/>
            </a:xfrm>
            <a:prstGeom prst="rect">
              <a:avLst/>
            </a:prstGeom>
            <a:solidFill>
              <a:schemeClr val="bg1"/>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5" name="文本框 4"/>
          <p:cNvSpPr txBox="1"/>
          <p:nvPr/>
        </p:nvSpPr>
        <p:spPr>
          <a:xfrm>
            <a:off x="376518" y="409847"/>
            <a:ext cx="1335741" cy="368300"/>
          </a:xfrm>
          <a:prstGeom prst="rect">
            <a:avLst/>
          </a:prstGeom>
          <a:noFill/>
        </p:spPr>
        <p:txBody>
          <a:bodyPr wrap="square" rtlCol="0">
            <a:spAutoFit/>
          </a:bodyPr>
          <a:lstStyle/>
          <a:p>
            <a:pPr algn="ctr"/>
            <a:r>
              <a:rPr lang="zh-CN" altLang="en-US" dirty="0">
                <a:latin typeface="思源黑体 CN Bold" panose="020B0800000000000000" pitchFamily="34" charset="-122"/>
                <a:ea typeface="思源黑体 CN Bold" panose="020B0800000000000000" pitchFamily="34" charset="-122"/>
              </a:rPr>
              <a:t>发展能力</a:t>
            </a:r>
            <a:endParaRPr lang="zh-CN" altLang="en-US" dirty="0">
              <a:latin typeface="思源黑体 CN Bold" panose="020B0800000000000000" pitchFamily="34" charset="-122"/>
              <a:ea typeface="思源黑体 CN Bold" panose="020B0800000000000000" pitchFamily="34" charset="-122"/>
            </a:endParaRPr>
          </a:p>
        </p:txBody>
      </p:sp>
      <p:grpSp>
        <p:nvGrpSpPr>
          <p:cNvPr id="8" name="组合 7"/>
          <p:cNvGrpSpPr/>
          <p:nvPr/>
        </p:nvGrpSpPr>
        <p:grpSpPr>
          <a:xfrm>
            <a:off x="6890734" y="1810569"/>
            <a:ext cx="4027559" cy="924811"/>
            <a:chOff x="1107347" y="1456019"/>
            <a:chExt cx="4027559" cy="924811"/>
          </a:xfrm>
        </p:grpSpPr>
        <p:sp>
          <p:nvSpPr>
            <p:cNvPr id="9" name="矩形 8"/>
            <p:cNvSpPr/>
            <p:nvPr/>
          </p:nvSpPr>
          <p:spPr>
            <a:xfrm flipH="1">
              <a:off x="1107347" y="1551963"/>
              <a:ext cx="117446" cy="771787"/>
            </a:xfrm>
            <a:prstGeom prst="rect">
              <a:avLst/>
            </a:prstGeom>
            <a:solidFill>
              <a:srgbClr val="1432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0" name="išľïdè"/>
            <p:cNvSpPr/>
            <p:nvPr/>
          </p:nvSpPr>
          <p:spPr bwMode="auto">
            <a:xfrm>
              <a:off x="1224793" y="1456019"/>
              <a:ext cx="3910113" cy="9248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algn="l" defTabSz="1216660" rtl="0" eaLnBrk="1" fontAlgn="auto" latinLnBrk="0" hangingPunct="1">
                <a:lnSpc>
                  <a:spcPct val="120000"/>
                </a:lnSpc>
                <a:spcBef>
                  <a:spcPct val="2000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mn-ea"/>
                  <a:sym typeface="思源黑体 CN Medium" panose="020B0600000000000000" pitchFamily="34" charset="-122"/>
                </a:rPr>
                <a:t>营业收入增长</a:t>
              </a:r>
              <a:r>
                <a:rPr kumimoji="0" lang="zh-CN" altLang="en-US" sz="1800" b="1"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mn-ea"/>
                  <a:sym typeface="思源黑体 CN Medium" panose="020B0600000000000000" pitchFamily="34" charset="-122"/>
                </a:rPr>
                <a:t>率</a:t>
              </a:r>
              <a:endParaRPr kumimoji="0" lang="zh-CN" altLang="en-US" sz="1800" b="1"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mn-ea"/>
                <a:sym typeface="思源黑体 CN Medium" panose="020B0600000000000000" pitchFamily="34" charset="-122"/>
              </a:endParaRPr>
            </a:p>
          </p:txBody>
        </p:sp>
      </p:grpSp>
      <p:grpSp>
        <p:nvGrpSpPr>
          <p:cNvPr id="11" name="组合 10"/>
          <p:cNvGrpSpPr/>
          <p:nvPr/>
        </p:nvGrpSpPr>
        <p:grpSpPr>
          <a:xfrm>
            <a:off x="6890734" y="3160605"/>
            <a:ext cx="4027559" cy="924811"/>
            <a:chOff x="1107347" y="1503644"/>
            <a:chExt cx="4027559" cy="924811"/>
          </a:xfrm>
        </p:grpSpPr>
        <p:sp>
          <p:nvSpPr>
            <p:cNvPr id="12" name="矩形 11"/>
            <p:cNvSpPr/>
            <p:nvPr/>
          </p:nvSpPr>
          <p:spPr>
            <a:xfrm flipH="1">
              <a:off x="1107347" y="1551963"/>
              <a:ext cx="117446" cy="771787"/>
            </a:xfrm>
            <a:prstGeom prst="rect">
              <a:avLst/>
            </a:prstGeom>
            <a:solidFill>
              <a:srgbClr val="1432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3" name="išľïdè"/>
            <p:cNvSpPr/>
            <p:nvPr/>
          </p:nvSpPr>
          <p:spPr bwMode="auto">
            <a:xfrm>
              <a:off x="1224793" y="1503644"/>
              <a:ext cx="3910113" cy="9248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1216660" rtl="0" eaLnBrk="1" fontAlgn="auto" latinLnBrk="0" hangingPunct="1">
                <a:lnSpc>
                  <a:spcPct val="120000"/>
                </a:lnSpc>
                <a:spcBef>
                  <a:spcPct val="2000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mn-ea"/>
                  <a:sym typeface="思源黑体 CN Medium" panose="020B0600000000000000" pitchFamily="34" charset="-122"/>
                </a:rPr>
                <a:t>净利润增长率</a:t>
              </a:r>
              <a:endParaRPr kumimoji="0" lang="zh-CN" altLang="en-US" sz="1800" b="1"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mn-ea"/>
                <a:sym typeface="思源黑体 CN Medium" panose="020B0600000000000000" pitchFamily="34" charset="-122"/>
              </a:endParaRPr>
            </a:p>
            <a:p>
              <a:pPr marL="0" marR="0" lvl="0" indent="0" algn="l" defTabSz="1216660" rtl="0" eaLnBrk="1" fontAlgn="auto" latinLnBrk="0" hangingPunct="1">
                <a:lnSpc>
                  <a:spcPct val="120000"/>
                </a:lnSpc>
                <a:spcBef>
                  <a:spcPct val="2000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latin typeface="思源黑体 CN Light" panose="020B0300000000000000" pitchFamily="34" charset="-122"/>
                  <a:ea typeface="思源黑体 CN Light" panose="020B0300000000000000" pitchFamily="34" charset="-122"/>
                  <a:cs typeface="+mn-ea"/>
                  <a:sym typeface="思源黑体 CN Medium" panose="020B0600000000000000" pitchFamily="34" charset="-122"/>
                </a:rPr>
                <a:t>衡量企业盈利能力增长状况</a:t>
              </a:r>
              <a:r>
                <a:rPr kumimoji="0" lang="en-US" altLang="zh-CN" sz="1200" b="0" i="0" u="none" strike="noStrike" kern="1200" cap="none" spc="0" normalizeH="0" baseline="0" noProof="0" dirty="0">
                  <a:ln>
                    <a:noFill/>
                  </a:ln>
                  <a:solidFill>
                    <a:prstClr val="black"/>
                  </a:solidFill>
                  <a:effectLst/>
                  <a:uLnTx/>
                  <a:uFillTx/>
                  <a:latin typeface="思源黑体 CN Light" panose="020B0300000000000000" pitchFamily="34" charset="-122"/>
                  <a:ea typeface="思源黑体 CN Light" panose="020B0300000000000000" pitchFamily="34" charset="-122"/>
                  <a:cs typeface="+mn-ea"/>
                  <a:sym typeface="思源黑体 CN Medium" panose="020B0600000000000000" pitchFamily="34" charset="-122"/>
                </a:rPr>
                <a:t>，</a:t>
              </a:r>
              <a:r>
                <a:rPr kumimoji="0" lang="zh-CN" altLang="en-US" sz="1200" b="0" i="0" u="none" strike="noStrike" kern="1200" cap="none" spc="0" normalizeH="0" baseline="0" noProof="0" dirty="0">
                  <a:ln>
                    <a:noFill/>
                  </a:ln>
                  <a:solidFill>
                    <a:prstClr val="black"/>
                  </a:solidFill>
                  <a:effectLst/>
                  <a:uLnTx/>
                  <a:uFillTx/>
                  <a:latin typeface="思源黑体 CN Light" panose="020B0300000000000000" pitchFamily="34" charset="-122"/>
                  <a:ea typeface="思源黑体 CN Light" panose="020B0300000000000000" pitchFamily="34" charset="-122"/>
                  <a:cs typeface="+mn-ea"/>
                  <a:sym typeface="思源黑体 CN Medium" panose="020B0600000000000000" pitchFamily="34" charset="-122"/>
                </a:rPr>
                <a:t>揭示了企业在盈利能力水平方面的动态变化</a:t>
              </a:r>
              <a:r>
                <a:rPr kumimoji="0" lang="en-US" altLang="zh-CN" sz="1200" b="0" i="0" u="none" strike="noStrike" kern="1200" cap="none" spc="0" normalizeH="0" baseline="0" noProof="0" dirty="0">
                  <a:ln>
                    <a:noFill/>
                  </a:ln>
                  <a:solidFill>
                    <a:prstClr val="black"/>
                  </a:solidFill>
                  <a:effectLst/>
                  <a:uLnTx/>
                  <a:uFillTx/>
                  <a:latin typeface="思源黑体 CN Light" panose="020B0300000000000000" pitchFamily="34" charset="-122"/>
                  <a:ea typeface="思源黑体 CN Light" panose="020B0300000000000000" pitchFamily="34" charset="-122"/>
                  <a:cs typeface="+mn-ea"/>
                  <a:sym typeface="思源黑体 CN Medium" panose="020B0600000000000000" pitchFamily="34" charset="-122"/>
                </a:rPr>
                <a:t>。</a:t>
              </a:r>
              <a:endParaRPr kumimoji="0" lang="en-US" altLang="zh-CN" sz="1200" b="0" i="0" u="none" strike="noStrike" kern="1200" cap="none" spc="0" normalizeH="0" baseline="0" noProof="0" dirty="0">
                <a:ln>
                  <a:noFill/>
                </a:ln>
                <a:solidFill>
                  <a:prstClr val="black"/>
                </a:solidFill>
                <a:effectLst/>
                <a:uLnTx/>
                <a:uFillTx/>
                <a:latin typeface="思源黑体 CN Light" panose="020B0300000000000000" pitchFamily="34" charset="-122"/>
                <a:ea typeface="思源黑体 CN Light" panose="020B0300000000000000" pitchFamily="34" charset="-122"/>
                <a:cs typeface="+mn-ea"/>
                <a:sym typeface="思源黑体 CN Medium" panose="020B0600000000000000" pitchFamily="34" charset="-122"/>
              </a:endParaRPr>
            </a:p>
          </p:txBody>
        </p:sp>
      </p:grpSp>
      <p:grpSp>
        <p:nvGrpSpPr>
          <p:cNvPr id="14" name="组合 13"/>
          <p:cNvGrpSpPr/>
          <p:nvPr/>
        </p:nvGrpSpPr>
        <p:grpSpPr>
          <a:xfrm>
            <a:off x="6890734" y="4453491"/>
            <a:ext cx="4027805" cy="1320800"/>
            <a:chOff x="1107347" y="1446494"/>
            <a:chExt cx="4027805" cy="1320800"/>
          </a:xfrm>
        </p:grpSpPr>
        <p:sp>
          <p:nvSpPr>
            <p:cNvPr id="15" name="矩形 14"/>
            <p:cNvSpPr/>
            <p:nvPr/>
          </p:nvSpPr>
          <p:spPr>
            <a:xfrm flipH="1">
              <a:off x="1107347" y="1551963"/>
              <a:ext cx="117446" cy="771787"/>
            </a:xfrm>
            <a:prstGeom prst="rect">
              <a:avLst/>
            </a:prstGeom>
            <a:solidFill>
              <a:srgbClr val="1432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6" name="išľïdè"/>
            <p:cNvSpPr/>
            <p:nvPr/>
          </p:nvSpPr>
          <p:spPr bwMode="auto">
            <a:xfrm>
              <a:off x="1224822" y="1446494"/>
              <a:ext cx="3910330" cy="132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fontScale="900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1216660" rtl="0" eaLnBrk="1" fontAlgn="auto" latinLnBrk="0" hangingPunct="1">
                <a:lnSpc>
                  <a:spcPct val="120000"/>
                </a:lnSpc>
                <a:spcBef>
                  <a:spcPct val="20000"/>
                </a:spcBef>
                <a:spcAft>
                  <a:spcPts val="0"/>
                </a:spcAft>
                <a:buClrTx/>
                <a:buSzTx/>
                <a:buFontTx/>
                <a:buNone/>
                <a:defRPr/>
              </a:pPr>
              <a:r>
                <a:rPr kumimoji="0" lang="zh-CN" altLang="en-US" sz="2000" b="1"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mn-ea"/>
                  <a:sym typeface="思源黑体 CN Medium" panose="020B0600000000000000" pitchFamily="34" charset="-122"/>
                </a:rPr>
                <a:t>安井食品数值分析</a:t>
              </a:r>
              <a:endParaRPr kumimoji="0" lang="zh-CN" altLang="en-US" sz="2000" b="1"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mn-ea"/>
                <a:sym typeface="思源黑体 CN Medium" panose="020B0600000000000000" pitchFamily="34" charset="-122"/>
              </a:endParaRPr>
            </a:p>
            <a:p>
              <a:pPr marL="0" marR="0" lvl="0" indent="0" algn="l" defTabSz="1216660" rtl="0" eaLnBrk="1" fontAlgn="auto" latinLnBrk="0" hangingPunct="1">
                <a:lnSpc>
                  <a:spcPct val="130000"/>
                </a:lnSpc>
                <a:spcBef>
                  <a:spcPct val="2000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latin typeface="思源黑体 CN Light" panose="020B0300000000000000" pitchFamily="34" charset="-122"/>
                  <a:ea typeface="思源黑体 CN Light" panose="020B0300000000000000" pitchFamily="34" charset="-122"/>
                  <a:cs typeface="+mn-ea"/>
                  <a:sym typeface="思源黑体 CN Medium" panose="020B0600000000000000" pitchFamily="34" charset="-122"/>
                </a:rPr>
                <a:t>从新浪财经网上披露的财务指标数据来看</a:t>
              </a:r>
              <a:r>
                <a:rPr kumimoji="0" lang="en-US" altLang="zh-CN" sz="1200" b="0" i="0" u="none" strike="noStrike" kern="1200" cap="none" spc="0" normalizeH="0" baseline="0" noProof="0" dirty="0">
                  <a:ln>
                    <a:noFill/>
                  </a:ln>
                  <a:solidFill>
                    <a:prstClr val="black"/>
                  </a:solidFill>
                  <a:effectLst/>
                  <a:uLnTx/>
                  <a:uFillTx/>
                  <a:latin typeface="思源黑体 CN Light" panose="020B0300000000000000" pitchFamily="34" charset="-122"/>
                  <a:ea typeface="思源黑体 CN Light" panose="020B0300000000000000" pitchFamily="34" charset="-122"/>
                  <a:cs typeface="+mn-ea"/>
                  <a:sym typeface="思源黑体 CN Medium" panose="020B0600000000000000" pitchFamily="34" charset="-122"/>
                </a:rPr>
                <a:t>，</a:t>
              </a:r>
              <a:r>
                <a:rPr kumimoji="0" lang="zh-CN" altLang="en-US" sz="1200" b="0" i="0" u="none" strike="noStrike" kern="1200" cap="none" spc="0" normalizeH="0" baseline="0" noProof="0" dirty="0">
                  <a:ln>
                    <a:noFill/>
                  </a:ln>
                  <a:solidFill>
                    <a:prstClr val="black"/>
                  </a:solidFill>
                  <a:effectLst/>
                  <a:uLnTx/>
                  <a:uFillTx/>
                  <a:latin typeface="思源黑体 CN Light" panose="020B0300000000000000" pitchFamily="34" charset="-122"/>
                  <a:ea typeface="思源黑体 CN Light" panose="020B0300000000000000" pitchFamily="34" charset="-122"/>
                  <a:cs typeface="+mn-ea"/>
                  <a:sym typeface="思源黑体 CN Medium" panose="020B0600000000000000" pitchFamily="34" charset="-122"/>
                </a:rPr>
                <a:t>净利润增长率及营业收入增长率都处于下降过程中</a:t>
              </a:r>
              <a:r>
                <a:rPr kumimoji="0" lang="en-US" altLang="zh-CN" sz="1200" b="0" i="0" u="none" strike="noStrike" kern="1200" cap="none" spc="0" normalizeH="0" baseline="0" noProof="0" dirty="0">
                  <a:ln>
                    <a:noFill/>
                  </a:ln>
                  <a:solidFill>
                    <a:prstClr val="black"/>
                  </a:solidFill>
                  <a:effectLst/>
                  <a:uLnTx/>
                  <a:uFillTx/>
                  <a:latin typeface="思源黑体 CN Light" panose="020B0300000000000000" pitchFamily="34" charset="-122"/>
                  <a:ea typeface="思源黑体 CN Light" panose="020B0300000000000000" pitchFamily="34" charset="-122"/>
                  <a:cs typeface="+mn-ea"/>
                  <a:sym typeface="思源黑体 CN Medium" panose="020B0600000000000000" pitchFamily="34" charset="-122"/>
                </a:rPr>
                <a:t>，</a:t>
              </a:r>
              <a:r>
                <a:rPr kumimoji="0" lang="zh-CN" altLang="en-US" sz="1200" b="0" i="0" u="none" strike="noStrike" kern="1200" cap="none" spc="0" normalizeH="0" baseline="0" noProof="0" dirty="0">
                  <a:ln>
                    <a:noFill/>
                  </a:ln>
                  <a:solidFill>
                    <a:prstClr val="black"/>
                  </a:solidFill>
                  <a:effectLst/>
                  <a:uLnTx/>
                  <a:uFillTx/>
                  <a:latin typeface="思源黑体 CN Light" panose="020B0300000000000000" pitchFamily="34" charset="-122"/>
                  <a:ea typeface="思源黑体 CN Light" panose="020B0300000000000000" pitchFamily="34" charset="-122"/>
                  <a:cs typeface="+mn-ea"/>
                  <a:sym typeface="思源黑体 CN Medium" panose="020B0600000000000000" pitchFamily="34" charset="-122"/>
                </a:rPr>
                <a:t>且净利润增长率有着极大的波动</a:t>
              </a:r>
              <a:r>
                <a:rPr kumimoji="0" lang="en-US" altLang="zh-CN" sz="1200" b="0" i="0" u="none" strike="noStrike" kern="1200" cap="none" spc="0" normalizeH="0" baseline="0" noProof="0" dirty="0">
                  <a:ln>
                    <a:noFill/>
                  </a:ln>
                  <a:solidFill>
                    <a:prstClr val="black"/>
                  </a:solidFill>
                  <a:effectLst/>
                  <a:uLnTx/>
                  <a:uFillTx/>
                  <a:latin typeface="思源黑体 CN Light" panose="020B0300000000000000" pitchFamily="34" charset="-122"/>
                  <a:ea typeface="思源黑体 CN Light" panose="020B0300000000000000" pitchFamily="34" charset="-122"/>
                  <a:cs typeface="+mn-ea"/>
                  <a:sym typeface="思源黑体 CN Medium" panose="020B0600000000000000" pitchFamily="34" charset="-122"/>
                </a:rPr>
                <a:t>。</a:t>
              </a:r>
              <a:r>
                <a:rPr kumimoji="0" lang="zh-CN" altLang="en-US" sz="1200" b="0" i="0" u="none" strike="noStrike" kern="1200" cap="none" spc="0" normalizeH="0" baseline="0" noProof="0" dirty="0">
                  <a:ln>
                    <a:noFill/>
                  </a:ln>
                  <a:solidFill>
                    <a:prstClr val="black"/>
                  </a:solidFill>
                  <a:effectLst/>
                  <a:uLnTx/>
                  <a:uFillTx/>
                  <a:latin typeface="思源黑体 CN Light" panose="020B0300000000000000" pitchFamily="34" charset="-122"/>
                  <a:ea typeface="思源黑体 CN Light" panose="020B0300000000000000" pitchFamily="34" charset="-122"/>
                  <a:cs typeface="+mn-ea"/>
                  <a:sym typeface="思源黑体 CN Medium" panose="020B0600000000000000" pitchFamily="34" charset="-122"/>
                </a:rPr>
                <a:t>并购短期冲击净利润增长，但营收基本盘稳固；中期协同效应推动净利润反弹，但后续增长动能不足，最终在</a:t>
              </a:r>
              <a:r>
                <a:rPr kumimoji="0" lang="en-US" altLang="zh-CN" sz="1200" b="0" i="0" u="none" strike="noStrike" kern="1200" cap="none" spc="0" normalizeH="0" baseline="0" noProof="0" dirty="0">
                  <a:ln>
                    <a:noFill/>
                  </a:ln>
                  <a:solidFill>
                    <a:prstClr val="black"/>
                  </a:solidFill>
                  <a:effectLst/>
                  <a:uLnTx/>
                  <a:uFillTx/>
                  <a:latin typeface="思源黑体 CN Light" panose="020B0300000000000000" pitchFamily="34" charset="-122"/>
                  <a:ea typeface="思源黑体 CN Light" panose="020B0300000000000000" pitchFamily="34" charset="-122"/>
                  <a:cs typeface="+mn-ea"/>
                  <a:sym typeface="思源黑体 CN Medium" panose="020B0600000000000000" pitchFamily="34" charset="-122"/>
                </a:rPr>
                <a:t> 2023-2024 </a:t>
              </a:r>
              <a:r>
                <a:rPr kumimoji="0" lang="zh-CN" altLang="en-US" sz="1200" b="0" i="0" u="none" strike="noStrike" kern="1200" cap="none" spc="0" normalizeH="0" baseline="0" noProof="0" dirty="0">
                  <a:ln>
                    <a:noFill/>
                  </a:ln>
                  <a:solidFill>
                    <a:prstClr val="black"/>
                  </a:solidFill>
                  <a:effectLst/>
                  <a:uLnTx/>
                  <a:uFillTx/>
                  <a:latin typeface="思源黑体 CN Light" panose="020B0300000000000000" pitchFamily="34" charset="-122"/>
                  <a:ea typeface="思源黑体 CN Light" panose="020B0300000000000000" pitchFamily="34" charset="-122"/>
                  <a:cs typeface="+mn-ea"/>
                  <a:sym typeface="思源黑体 CN Medium" panose="020B0600000000000000" pitchFamily="34" charset="-122"/>
                </a:rPr>
                <a:t>年陷入双指标持续下滑的局面</a:t>
              </a:r>
              <a:r>
                <a:rPr kumimoji="0" lang="en-US" altLang="zh-CN" sz="1200" b="0" i="0" u="none" strike="noStrike" kern="1200" cap="none" spc="0" normalizeH="0" baseline="0" noProof="0" dirty="0">
                  <a:ln>
                    <a:noFill/>
                  </a:ln>
                  <a:solidFill>
                    <a:prstClr val="black"/>
                  </a:solidFill>
                  <a:effectLst/>
                  <a:uLnTx/>
                  <a:uFillTx/>
                  <a:latin typeface="思源黑体 CN Light" panose="020B0300000000000000" pitchFamily="34" charset="-122"/>
                  <a:ea typeface="思源黑体 CN Light" panose="020B0300000000000000" pitchFamily="34" charset="-122"/>
                  <a:cs typeface="+mn-ea"/>
                  <a:sym typeface="思源黑体 CN Medium" panose="020B0600000000000000" pitchFamily="34" charset="-122"/>
                </a:rPr>
                <a:t>。</a:t>
              </a:r>
              <a:endParaRPr kumimoji="0" lang="en-US" altLang="zh-CN" sz="1200" b="0" i="0" u="none" strike="noStrike" kern="1200" cap="none" spc="0" normalizeH="0" baseline="0" noProof="0" dirty="0">
                <a:ln>
                  <a:noFill/>
                </a:ln>
                <a:solidFill>
                  <a:prstClr val="black"/>
                </a:solidFill>
                <a:effectLst/>
                <a:uLnTx/>
                <a:uFillTx/>
                <a:latin typeface="思源黑体 CN Light" panose="020B0300000000000000" pitchFamily="34" charset="-122"/>
                <a:ea typeface="思源黑体 CN Light" panose="020B0300000000000000" pitchFamily="34" charset="-122"/>
                <a:cs typeface="+mn-ea"/>
                <a:sym typeface="思源黑体 CN Medium" panose="020B0600000000000000" pitchFamily="34" charset="-122"/>
              </a:endParaRPr>
            </a:p>
          </p:txBody>
        </p:sp>
      </p:grpSp>
      <p:sp>
        <p:nvSpPr>
          <p:cNvPr id="20" name="文本框 19"/>
          <p:cNvSpPr txBox="1"/>
          <p:nvPr/>
        </p:nvSpPr>
        <p:spPr>
          <a:xfrm>
            <a:off x="7008495" y="2162810"/>
            <a:ext cx="3909695" cy="855345"/>
          </a:xfrm>
          <a:prstGeom prst="rect">
            <a:avLst/>
          </a:prstGeom>
          <a:noFill/>
        </p:spPr>
        <p:txBody>
          <a:bodyPr wrap="square" rtlCol="0">
            <a:noAutofit/>
          </a:bodyPr>
          <a:p>
            <a:pPr algn="l" defTabSz="1216660">
              <a:lnSpc>
                <a:spcPct val="120000"/>
              </a:lnSpc>
              <a:spcBef>
                <a:spcPct val="20000"/>
              </a:spcBef>
              <a:spcAft>
                <a:spcPts val="0"/>
              </a:spcAft>
              <a:buClrTx/>
              <a:buSzTx/>
              <a:buFontTx/>
              <a:defRPr/>
            </a:pPr>
            <a:r>
              <a:rPr lang="zh-CN" altLang="en-US" sz="1200" noProof="0" dirty="0">
                <a:ln>
                  <a:noFill/>
                </a:ln>
                <a:solidFill>
                  <a:prstClr val="black"/>
                </a:solidFill>
                <a:effectLst/>
                <a:uLnTx/>
                <a:uFillTx/>
                <a:latin typeface="思源黑体 CN Light" panose="020B0300000000000000" pitchFamily="34" charset="-122"/>
                <a:ea typeface="思源黑体 CN Light" panose="020B0300000000000000" pitchFamily="34" charset="-122"/>
                <a:cs typeface="+mn-ea"/>
              </a:rPr>
              <a:t>反映企业的销售规模的增长情况</a:t>
            </a:r>
            <a:r>
              <a:rPr lang="en-US" altLang="zh-CN" sz="1200" noProof="0" dirty="0">
                <a:ln>
                  <a:noFill/>
                </a:ln>
                <a:solidFill>
                  <a:prstClr val="black"/>
                </a:solidFill>
                <a:effectLst/>
                <a:uLnTx/>
                <a:uFillTx/>
                <a:latin typeface="思源黑体 CN Light" panose="020B0300000000000000" pitchFamily="34" charset="-122"/>
                <a:ea typeface="思源黑体 CN Light" panose="020B0300000000000000" pitchFamily="34" charset="-122"/>
                <a:cs typeface="+mn-ea"/>
              </a:rPr>
              <a:t>，</a:t>
            </a:r>
            <a:r>
              <a:rPr lang="zh-CN" altLang="en-US" sz="1200" noProof="0" dirty="0">
                <a:ln>
                  <a:noFill/>
                </a:ln>
                <a:solidFill>
                  <a:prstClr val="black"/>
                </a:solidFill>
                <a:effectLst/>
                <a:uLnTx/>
                <a:uFillTx/>
                <a:latin typeface="思源黑体 CN Light" panose="020B0300000000000000" pitchFamily="34" charset="-122"/>
                <a:ea typeface="思源黑体 CN Light" panose="020B0300000000000000" pitchFamily="34" charset="-122"/>
                <a:cs typeface="+mn-ea"/>
              </a:rPr>
              <a:t>体现企业产品在市场的接受程度和企业市场份额的变化趋势</a:t>
            </a:r>
            <a:r>
              <a:rPr lang="en-US" altLang="zh-CN" sz="1200" noProof="0" dirty="0">
                <a:ln>
                  <a:noFill/>
                </a:ln>
                <a:solidFill>
                  <a:prstClr val="black"/>
                </a:solidFill>
                <a:effectLst/>
                <a:uLnTx/>
                <a:uFillTx/>
                <a:latin typeface="思源黑体 CN Light" panose="020B0300000000000000" pitchFamily="34" charset="-122"/>
                <a:ea typeface="思源黑体 CN Light" panose="020B0300000000000000" pitchFamily="34" charset="-122"/>
                <a:cs typeface="+mn-ea"/>
              </a:rPr>
              <a:t>。</a:t>
            </a:r>
            <a:endParaRPr lang="en-US" altLang="zh-CN" sz="1200" noProof="0" dirty="0">
              <a:ln>
                <a:noFill/>
              </a:ln>
              <a:solidFill>
                <a:prstClr val="black"/>
              </a:solidFill>
              <a:effectLst/>
              <a:uLnTx/>
              <a:uFillTx/>
              <a:latin typeface="思源黑体 CN Light" panose="020B0300000000000000" pitchFamily="34" charset="-122"/>
              <a:ea typeface="思源黑体 CN Light" panose="020B0300000000000000" pitchFamily="34" charset="-122"/>
              <a:cs typeface="+mn-ea"/>
            </a:endParaRPr>
          </a:p>
        </p:txBody>
      </p:sp>
      <p:graphicFrame>
        <p:nvGraphicFramePr>
          <p:cNvPr id="17" name="表格 16"/>
          <p:cNvGraphicFramePr/>
          <p:nvPr>
            <p:custDataLst>
              <p:tags r:id="rId1"/>
            </p:custDataLst>
          </p:nvPr>
        </p:nvGraphicFramePr>
        <p:xfrm>
          <a:off x="862330" y="1012190"/>
          <a:ext cx="5815965" cy="2148205"/>
        </p:xfrm>
        <a:graphic>
          <a:graphicData uri="http://schemas.openxmlformats.org/drawingml/2006/table">
            <a:tbl>
              <a:tblPr/>
              <a:tblGrid>
                <a:gridCol w="553720"/>
                <a:gridCol w="1475105"/>
                <a:gridCol w="351790"/>
                <a:gridCol w="656590"/>
                <a:gridCol w="656590"/>
                <a:gridCol w="706755"/>
                <a:gridCol w="706755"/>
                <a:gridCol w="708660"/>
              </a:tblGrid>
              <a:tr h="299085">
                <a:tc>
                  <a:txBody>
                    <a:bodyPr/>
                    <a:p>
                      <a:pPr marL="0" indent="0" algn="l" fontAlgn="b">
                        <a:spcBef>
                          <a:spcPct val="0"/>
                        </a:spcBef>
                        <a:spcAft>
                          <a:spcPct val="0"/>
                        </a:spcAft>
                      </a:pPr>
                      <a:r>
                        <a:rPr lang="zh-CN" altLang="en-US" sz="1100" b="1" i="0">
                          <a:solidFill>
                            <a:srgbClr val="FFFFFF"/>
                          </a:solidFill>
                          <a:latin typeface="宋体" panose="02010600030101010101" pitchFamily="2" charset="-122"/>
                          <a:ea typeface="宋体" panose="02010600030101010101" pitchFamily="2" charset="-122"/>
                        </a:rPr>
                        <a:t>指标类别</a:t>
                      </a:r>
                      <a:endParaRPr lang="zh-CN" altLang="en-US" sz="1100" b="1" i="0">
                        <a:solidFill>
                          <a:srgbClr val="FFFFFF"/>
                        </a:solidFill>
                        <a:latin typeface="宋体" panose="02010600030101010101" pitchFamily="2" charset="-122"/>
                        <a:ea typeface="宋体" panose="02010600030101010101" pitchFamily="2" charset="-122"/>
                      </a:endParaRPr>
                    </a:p>
                  </a:txBody>
                  <a:tcPr marL="68580" marR="68580" marT="0" marB="0" anchor="b"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4874CB"/>
                    </a:solidFill>
                  </a:tcPr>
                </a:tc>
                <a:tc>
                  <a:txBody>
                    <a:bodyPr/>
                    <a:p>
                      <a:pPr marL="0" indent="0" algn="l" fontAlgn="b">
                        <a:spcBef>
                          <a:spcPct val="0"/>
                        </a:spcBef>
                        <a:spcAft>
                          <a:spcPct val="0"/>
                        </a:spcAft>
                      </a:pPr>
                      <a:r>
                        <a:rPr lang="zh-CN" altLang="en-US" sz="1100" b="1" i="0">
                          <a:solidFill>
                            <a:srgbClr val="FFFFFF"/>
                          </a:solidFill>
                          <a:latin typeface="宋体" panose="02010600030101010101" pitchFamily="2" charset="-122"/>
                          <a:ea typeface="宋体" panose="02010600030101010101" pitchFamily="2" charset="-122"/>
                        </a:rPr>
                        <a:t>财务指标</a:t>
                      </a:r>
                      <a:endParaRPr lang="zh-CN" altLang="en-US" sz="1100" b="1" i="0">
                        <a:solidFill>
                          <a:srgbClr val="FFFFFF"/>
                        </a:solidFill>
                        <a:latin typeface="宋体" panose="02010600030101010101" pitchFamily="2" charset="-122"/>
                        <a:ea typeface="宋体" panose="02010600030101010101" pitchFamily="2" charset="-122"/>
                      </a:endParaRPr>
                    </a:p>
                  </a:txBody>
                  <a:tcPr marL="68580" marR="68580" marT="0" marB="0" anchor="b"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4874CB"/>
                    </a:solidFill>
                  </a:tcPr>
                </a:tc>
                <a:tc>
                  <a:txBody>
                    <a:bodyPr/>
                    <a:p>
                      <a:pPr marL="0" indent="0" algn="l" fontAlgn="b">
                        <a:spcBef>
                          <a:spcPct val="0"/>
                        </a:spcBef>
                        <a:spcAft>
                          <a:spcPct val="0"/>
                        </a:spcAft>
                      </a:pPr>
                      <a:r>
                        <a:rPr lang="zh-CN" altLang="en-US" sz="1100" b="1" i="0">
                          <a:solidFill>
                            <a:srgbClr val="FFFFFF"/>
                          </a:solidFill>
                          <a:latin typeface="宋体" panose="02010600030101010101" pitchFamily="2" charset="-122"/>
                          <a:ea typeface="宋体" panose="02010600030101010101" pitchFamily="2" charset="-122"/>
                        </a:rPr>
                        <a:t>单位</a:t>
                      </a:r>
                      <a:endParaRPr lang="zh-CN" altLang="en-US" sz="1100" b="1" i="0">
                        <a:solidFill>
                          <a:srgbClr val="FFFFFF"/>
                        </a:solidFill>
                        <a:latin typeface="宋体" panose="02010600030101010101" pitchFamily="2" charset="-122"/>
                        <a:ea typeface="宋体" panose="02010600030101010101" pitchFamily="2" charset="-122"/>
                      </a:endParaRPr>
                    </a:p>
                  </a:txBody>
                  <a:tcPr marL="68580" marR="68580" marT="0" marB="0" anchor="b"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4874CB"/>
                    </a:solidFill>
                  </a:tcPr>
                </a:tc>
                <a:tc>
                  <a:txBody>
                    <a:bodyPr/>
                    <a:p>
                      <a:pPr marL="0" indent="0" algn="l" fontAlgn="b">
                        <a:spcBef>
                          <a:spcPct val="0"/>
                        </a:spcBef>
                        <a:spcAft>
                          <a:spcPct val="0"/>
                        </a:spcAft>
                      </a:pPr>
                      <a:r>
                        <a:rPr lang="en-US" altLang="zh-CN" sz="1100" b="1" i="0">
                          <a:solidFill>
                            <a:srgbClr val="FFFFFF"/>
                          </a:solidFill>
                          <a:latin typeface="宋体" panose="02010600030101010101" pitchFamily="2" charset="-122"/>
                          <a:ea typeface="宋体" panose="02010600030101010101" pitchFamily="2" charset="-122"/>
                        </a:rPr>
                        <a:t>2020</a:t>
                      </a:r>
                      <a:endParaRPr lang="en-US" altLang="zh-CN" sz="1100" b="1" i="0">
                        <a:solidFill>
                          <a:srgbClr val="FFFFFF"/>
                        </a:solidFill>
                        <a:latin typeface="宋体" panose="02010600030101010101" pitchFamily="2" charset="-122"/>
                        <a:ea typeface="宋体" panose="02010600030101010101" pitchFamily="2" charset="-122"/>
                      </a:endParaRPr>
                    </a:p>
                  </a:txBody>
                  <a:tcPr marL="68580" marR="68580" marT="0" marB="0" anchor="b"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4874CB"/>
                    </a:solidFill>
                  </a:tcPr>
                </a:tc>
                <a:tc>
                  <a:txBody>
                    <a:bodyPr/>
                    <a:p>
                      <a:pPr marL="0" indent="0" algn="l" fontAlgn="b">
                        <a:spcBef>
                          <a:spcPct val="0"/>
                        </a:spcBef>
                        <a:spcAft>
                          <a:spcPct val="0"/>
                        </a:spcAft>
                      </a:pPr>
                      <a:r>
                        <a:rPr lang="en-US" altLang="zh-CN" sz="1100" b="1" i="0">
                          <a:solidFill>
                            <a:srgbClr val="FFFFFF"/>
                          </a:solidFill>
                          <a:latin typeface="宋体" panose="02010600030101010101" pitchFamily="2" charset="-122"/>
                          <a:ea typeface="宋体" panose="02010600030101010101" pitchFamily="2" charset="-122"/>
                        </a:rPr>
                        <a:t>2021</a:t>
                      </a:r>
                      <a:endParaRPr lang="en-US" altLang="zh-CN" sz="1100" b="1" i="0">
                        <a:solidFill>
                          <a:srgbClr val="FFFFFF"/>
                        </a:solidFill>
                        <a:latin typeface="宋体" panose="02010600030101010101" pitchFamily="2" charset="-122"/>
                        <a:ea typeface="宋体" panose="02010600030101010101" pitchFamily="2" charset="-122"/>
                      </a:endParaRPr>
                    </a:p>
                  </a:txBody>
                  <a:tcPr marL="68580" marR="68580" marT="0" marB="0" anchor="b"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4874CB"/>
                    </a:solidFill>
                  </a:tcPr>
                </a:tc>
                <a:tc>
                  <a:txBody>
                    <a:bodyPr/>
                    <a:p>
                      <a:pPr marL="0" indent="0" algn="l" fontAlgn="b">
                        <a:spcBef>
                          <a:spcPct val="0"/>
                        </a:spcBef>
                        <a:spcAft>
                          <a:spcPct val="0"/>
                        </a:spcAft>
                      </a:pPr>
                      <a:r>
                        <a:rPr lang="en-US" altLang="zh-CN" sz="1100" b="1" i="0">
                          <a:solidFill>
                            <a:srgbClr val="FFFFFF"/>
                          </a:solidFill>
                          <a:latin typeface="宋体" panose="02010600030101010101" pitchFamily="2" charset="-122"/>
                          <a:ea typeface="宋体" panose="02010600030101010101" pitchFamily="2" charset="-122"/>
                        </a:rPr>
                        <a:t>2022</a:t>
                      </a:r>
                      <a:endParaRPr lang="en-US" altLang="zh-CN" sz="1100" b="1" i="0">
                        <a:solidFill>
                          <a:srgbClr val="FFFFFF"/>
                        </a:solidFill>
                        <a:latin typeface="宋体" panose="02010600030101010101" pitchFamily="2" charset="-122"/>
                        <a:ea typeface="宋体" panose="02010600030101010101" pitchFamily="2" charset="-122"/>
                      </a:endParaRPr>
                    </a:p>
                  </a:txBody>
                  <a:tcPr marL="68580" marR="68580" marT="0" marB="0" anchor="b"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4874CB"/>
                    </a:solidFill>
                  </a:tcPr>
                </a:tc>
                <a:tc>
                  <a:txBody>
                    <a:bodyPr/>
                    <a:p>
                      <a:pPr marL="0" indent="0" algn="l" fontAlgn="b">
                        <a:spcBef>
                          <a:spcPct val="0"/>
                        </a:spcBef>
                        <a:spcAft>
                          <a:spcPct val="0"/>
                        </a:spcAft>
                      </a:pPr>
                      <a:r>
                        <a:rPr lang="en-US" altLang="zh-CN" sz="1100" b="1" i="0">
                          <a:solidFill>
                            <a:srgbClr val="FFFFFF"/>
                          </a:solidFill>
                          <a:latin typeface="宋体" panose="02010600030101010101" pitchFamily="2" charset="-122"/>
                          <a:ea typeface="宋体" panose="02010600030101010101" pitchFamily="2" charset="-122"/>
                        </a:rPr>
                        <a:t>2023</a:t>
                      </a:r>
                      <a:endParaRPr lang="en-US" altLang="zh-CN" sz="1100" b="1" i="0">
                        <a:solidFill>
                          <a:srgbClr val="FFFFFF"/>
                        </a:solidFill>
                        <a:latin typeface="宋体" panose="02010600030101010101" pitchFamily="2" charset="-122"/>
                        <a:ea typeface="宋体" panose="02010600030101010101" pitchFamily="2" charset="-122"/>
                      </a:endParaRPr>
                    </a:p>
                  </a:txBody>
                  <a:tcPr marL="68580" marR="68580" marT="0" marB="0" anchor="b"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4874CB"/>
                    </a:solidFill>
                  </a:tcPr>
                </a:tc>
                <a:tc>
                  <a:txBody>
                    <a:bodyPr/>
                    <a:p>
                      <a:pPr marL="0" indent="0" algn="l" fontAlgn="b">
                        <a:spcBef>
                          <a:spcPct val="0"/>
                        </a:spcBef>
                        <a:spcAft>
                          <a:spcPct val="0"/>
                        </a:spcAft>
                      </a:pPr>
                      <a:r>
                        <a:rPr lang="en-US" altLang="zh-CN" sz="1100" b="1" i="0">
                          <a:solidFill>
                            <a:srgbClr val="FFFFFF"/>
                          </a:solidFill>
                          <a:latin typeface="宋体" panose="02010600030101010101" pitchFamily="2" charset="-122"/>
                          <a:ea typeface="宋体" panose="02010600030101010101" pitchFamily="2" charset="-122"/>
                        </a:rPr>
                        <a:t>2024</a:t>
                      </a:r>
                      <a:endParaRPr lang="en-US" altLang="zh-CN" sz="1100" b="1" i="0">
                        <a:solidFill>
                          <a:srgbClr val="FFFFFF"/>
                        </a:solidFill>
                        <a:latin typeface="宋体" panose="02010600030101010101" pitchFamily="2" charset="-122"/>
                        <a:ea typeface="宋体" panose="02010600030101010101" pitchFamily="2" charset="-122"/>
                      </a:endParaRPr>
                    </a:p>
                  </a:txBody>
                  <a:tcPr marL="68580" marR="68580" marT="0" marB="0" anchor="b"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4874CB"/>
                    </a:solidFill>
                  </a:tcPr>
                </a:tc>
              </a:tr>
              <a:tr h="362585">
                <a:tc>
                  <a:txBody>
                    <a:bodyPr/>
                    <a:p>
                      <a:pPr marL="0" indent="0" algn="ctr" fontAlgn="ctr">
                        <a:spcBef>
                          <a:spcPct val="0"/>
                        </a:spcBef>
                        <a:spcAft>
                          <a:spcPct val="0"/>
                        </a:spcAft>
                      </a:pPr>
                      <a:r>
                        <a:rPr lang="zh-CN" altLang="en-US" sz="1100" i="0">
                          <a:solidFill>
                            <a:srgbClr val="000000"/>
                          </a:solidFill>
                          <a:latin typeface="宋体" panose="02010600030101010101" pitchFamily="2" charset="-122"/>
                          <a:ea typeface="宋体" panose="02010600030101010101" pitchFamily="2" charset="-122"/>
                        </a:rPr>
                        <a:t>发展能力</a:t>
                      </a:r>
                      <a:endParaRPr lang="zh-CN" altLang="en-US"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ctr" fontAlgn="ctr">
                        <a:spcBef>
                          <a:spcPct val="0"/>
                        </a:spcBef>
                        <a:spcAft>
                          <a:spcPct val="0"/>
                        </a:spcAft>
                      </a:pPr>
                      <a:r>
                        <a:rPr lang="zh-CN" altLang="en-US" sz="1100" i="0">
                          <a:solidFill>
                            <a:srgbClr val="000000"/>
                          </a:solidFill>
                          <a:latin typeface="宋体" panose="02010600030101010101" pitchFamily="2" charset="-122"/>
                          <a:ea typeface="宋体" panose="02010600030101010101" pitchFamily="2" charset="-122"/>
                        </a:rPr>
                        <a:t>营业收入增长额</a:t>
                      </a:r>
                      <a:endParaRPr lang="zh-CN" altLang="en-US"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ctr" fontAlgn="ctr">
                        <a:spcBef>
                          <a:spcPct val="0"/>
                        </a:spcBef>
                        <a:spcAft>
                          <a:spcPct val="0"/>
                        </a:spcAft>
                      </a:pPr>
                      <a:r>
                        <a:rPr lang="zh-CN" altLang="en-US" sz="1100" i="0">
                          <a:solidFill>
                            <a:srgbClr val="000000"/>
                          </a:solidFill>
                          <a:latin typeface="宋体" panose="02010600030101010101" pitchFamily="2" charset="-122"/>
                          <a:ea typeface="宋体" panose="02010600030101010101" pitchFamily="2" charset="-122"/>
                        </a:rPr>
                        <a:t>万元</a:t>
                      </a:r>
                      <a:endParaRPr lang="zh-CN" altLang="en-US"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ct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1698451985</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ct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2307086683</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ct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2910461450</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ct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1862571707</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ct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1081416848</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r>
              <a:tr h="362585">
                <a:tc>
                  <a:txBody>
                    <a:bodyPr/>
                    <a:p>
                      <a:pPr marL="0" indent="0" 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 </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ctr" fontAlgn="ctr">
                        <a:spcBef>
                          <a:spcPct val="0"/>
                        </a:spcBef>
                        <a:spcAft>
                          <a:spcPct val="0"/>
                        </a:spcAft>
                      </a:pPr>
                      <a:r>
                        <a:rPr lang="zh-CN" altLang="en-US" sz="1100" i="0">
                          <a:solidFill>
                            <a:srgbClr val="000000"/>
                          </a:solidFill>
                          <a:latin typeface="宋体" panose="02010600030101010101" pitchFamily="2" charset="-122"/>
                          <a:ea typeface="宋体" panose="02010600030101010101" pitchFamily="2" charset="-122"/>
                        </a:rPr>
                        <a:t>营业收入增长率</a:t>
                      </a:r>
                      <a:endParaRPr lang="zh-CN" altLang="en-US"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ct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ct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32.25</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ct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33.12</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ct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31.39</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ct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15.29</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ct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7.7</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r>
              <a:tr h="362585">
                <a:tc>
                  <a:txBody>
                    <a:bodyPr/>
                    <a:p>
                      <a:pPr marL="0" indent="0" 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 </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ctr" fontAlgn="ctr">
                        <a:spcBef>
                          <a:spcPct val="0"/>
                        </a:spcBef>
                        <a:spcAft>
                          <a:spcPct val="0"/>
                        </a:spcAft>
                      </a:pPr>
                      <a:r>
                        <a:rPr lang="zh-CN" altLang="en-US" sz="1100" i="0">
                          <a:solidFill>
                            <a:srgbClr val="000000"/>
                          </a:solidFill>
                          <a:latin typeface="宋体" panose="02010600030101010101" pitchFamily="2" charset="-122"/>
                          <a:ea typeface="宋体" panose="02010600030101010101" pitchFamily="2" charset="-122"/>
                        </a:rPr>
                        <a:t>营业利润率</a:t>
                      </a:r>
                      <a:endParaRPr lang="zh-CN" altLang="en-US"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ct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ct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11.12</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ct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9.28</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ct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11</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ct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13.29</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ct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12.92</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r>
              <a:tr h="362585">
                <a:tc>
                  <a:txBody>
                    <a:bodyPr/>
                    <a:p>
                      <a:pPr marL="0" indent="0" 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 </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ctr" fontAlgn="ctr">
                        <a:spcBef>
                          <a:spcPct val="0"/>
                        </a:spcBef>
                        <a:spcAft>
                          <a:spcPct val="0"/>
                        </a:spcAft>
                      </a:pPr>
                      <a:r>
                        <a:rPr lang="zh-CN" altLang="en-US" sz="1100" i="0">
                          <a:solidFill>
                            <a:srgbClr val="000000"/>
                          </a:solidFill>
                          <a:latin typeface="宋体" panose="02010600030101010101" pitchFamily="2" charset="-122"/>
                          <a:ea typeface="宋体" panose="02010600030101010101" pitchFamily="2" charset="-122"/>
                        </a:rPr>
                        <a:t>净利润率</a:t>
                      </a:r>
                      <a:endParaRPr lang="zh-CN" altLang="en-US"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ct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ct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8.67</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ct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7.36</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ct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9.04</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ct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10.25</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c>
                  <a:txBody>
                    <a:bodyPr/>
                    <a:p>
                      <a:pPr marL="0" indent="0" algn="ct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10.01</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DF1F9"/>
                    </a:solidFill>
                  </a:tcPr>
                </a:tc>
              </a:tr>
              <a:tr h="362585">
                <a:tc>
                  <a:txBody>
                    <a:bodyPr/>
                    <a:p>
                      <a:pPr marL="0" indent="0" 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 </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ctr" fontAlgn="ctr">
                        <a:spcBef>
                          <a:spcPct val="0"/>
                        </a:spcBef>
                        <a:spcAft>
                          <a:spcPct val="0"/>
                        </a:spcAft>
                      </a:pPr>
                      <a:r>
                        <a:rPr lang="zh-CN" altLang="en-US" sz="1100" i="0">
                          <a:solidFill>
                            <a:srgbClr val="000000"/>
                          </a:solidFill>
                          <a:latin typeface="宋体" panose="02010600030101010101" pitchFamily="2" charset="-122"/>
                          <a:ea typeface="宋体" panose="02010600030101010101" pitchFamily="2" charset="-122"/>
                        </a:rPr>
                        <a:t>净利润增长率</a:t>
                      </a:r>
                      <a:endParaRPr lang="zh-CN" altLang="en-US"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ct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ct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61.73</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ct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13.75</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ct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62.71</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ct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34.33</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c>
                  <a:txBody>
                    <a:bodyPr/>
                    <a:p>
                      <a:pPr marL="0" indent="0" algn="ctr" fontAlgn="ctr">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0.46</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B5C7EA"/>
                    </a:solidFill>
                  </a:tcPr>
                </a:tc>
              </a:tr>
            </a:tbl>
          </a:graphicData>
        </a:graphic>
      </p:graphicFrame>
      <p:pic>
        <p:nvPicPr>
          <p:cNvPr id="23" name="图片 22" descr="WechatIMG6904"/>
          <p:cNvPicPr>
            <a:picLocks noChangeAspect="1"/>
          </p:cNvPicPr>
          <p:nvPr/>
        </p:nvPicPr>
        <p:blipFill>
          <a:blip r:embed="rId2"/>
          <a:stretch>
            <a:fillRect/>
          </a:stretch>
        </p:blipFill>
        <p:spPr>
          <a:xfrm>
            <a:off x="783590" y="3503930"/>
            <a:ext cx="5894705" cy="2520315"/>
          </a:xfrm>
          <a:prstGeom prst="rect">
            <a:avLst/>
          </a:prstGeom>
        </p:spPr>
      </p:pic>
    </p:spTree>
  </p:cSld>
  <p:clrMapOvr>
    <a:masterClrMapping/>
  </p:clrMapOvr>
  <p:transition spd="med" advTm="3000">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ppt_x"/>
                                          </p:val>
                                        </p:tav>
                                        <p:tav tm="100000">
                                          <p:val>
                                            <p:strVal val="#ppt_x"/>
                                          </p:val>
                                        </p:tav>
                                      </p:tavLst>
                                    </p:anim>
                                    <p:anim calcmode="lin" valueType="num">
                                      <p:cBhvr additive="base">
                                        <p:cTn id="12" dur="500" fill="hold"/>
                                        <p:tgtEl>
                                          <p:spTgt spid="11"/>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anim calcmode="lin" valueType="num">
                                      <p:cBhvr additive="base">
                                        <p:cTn id="15" dur="500" fill="hold"/>
                                        <p:tgtEl>
                                          <p:spTgt spid="14"/>
                                        </p:tgtEl>
                                        <p:attrNameLst>
                                          <p:attrName>ppt_x</p:attrName>
                                        </p:attrNameLst>
                                      </p:cBhvr>
                                      <p:tavLst>
                                        <p:tav tm="0">
                                          <p:val>
                                            <p:strVal val="#ppt_x"/>
                                          </p:val>
                                        </p:tav>
                                        <p:tav tm="100000">
                                          <p:val>
                                            <p:strVal val="#ppt_x"/>
                                          </p:val>
                                        </p:tav>
                                      </p:tavLst>
                                    </p:anim>
                                    <p:anim calcmode="lin" valueType="num">
                                      <p:cBhvr additive="base">
                                        <p:cTn id="16"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171196" y="2097742"/>
            <a:ext cx="9849608" cy="2432970"/>
            <a:chOff x="1115735" y="587229"/>
            <a:chExt cx="9925879" cy="6091095"/>
          </a:xfrm>
        </p:grpSpPr>
        <p:sp>
          <p:nvSpPr>
            <p:cNvPr id="3" name="矩形 2"/>
            <p:cNvSpPr/>
            <p:nvPr/>
          </p:nvSpPr>
          <p:spPr>
            <a:xfrm>
              <a:off x="1115735" y="587229"/>
              <a:ext cx="9571839" cy="5410900"/>
            </a:xfrm>
            <a:prstGeom prst="rect">
              <a:avLst/>
            </a:prstGeom>
            <a:pattFill prst="wdDnDiag">
              <a:fgClr>
                <a:srgbClr val="203864"/>
              </a:fgClr>
              <a:bgClr>
                <a:schemeClr val="bg1"/>
              </a:bgClr>
            </a:patt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1469775" y="1267424"/>
              <a:ext cx="9571839" cy="5410900"/>
            </a:xfrm>
            <a:prstGeom prst="rect">
              <a:avLst/>
            </a:prstGeom>
            <a:solidFill>
              <a:schemeClr val="bg1"/>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5" name="文本框 4"/>
          <p:cNvSpPr txBox="1"/>
          <p:nvPr/>
        </p:nvSpPr>
        <p:spPr>
          <a:xfrm>
            <a:off x="3295864" y="3013402"/>
            <a:ext cx="5601543" cy="829945"/>
          </a:xfrm>
          <a:prstGeom prst="rect">
            <a:avLst/>
          </a:prstGeom>
          <a:noFill/>
        </p:spPr>
        <p:txBody>
          <a:bodyPr wrap="square" rtlCol="0">
            <a:spAutoFit/>
          </a:bodyPr>
          <a:lstStyle/>
          <a:p>
            <a:pPr algn="ctr"/>
            <a:r>
              <a:rPr lang="zh-CN" altLang="en-US" sz="4800" dirty="0">
                <a:latin typeface="思源宋体 Heavy" panose="02020900000000000000" pitchFamily="18" charset="-122"/>
                <a:ea typeface="思源宋体 Heavy" panose="02020900000000000000" pitchFamily="18" charset="-122"/>
              </a:rPr>
              <a:t>章肆  </a:t>
            </a:r>
            <a:r>
              <a:rPr lang="en-US" altLang="zh-CN" sz="4800" dirty="0">
                <a:latin typeface="思源宋体 Heavy" panose="02020900000000000000" pitchFamily="18" charset="-122"/>
                <a:ea typeface="思源宋体 Heavy" panose="02020900000000000000" pitchFamily="18" charset="-122"/>
              </a:rPr>
              <a:t>– </a:t>
            </a:r>
            <a:r>
              <a:rPr lang="zh-CN" altLang="en-US" sz="4800" dirty="0">
                <a:latin typeface="思源宋体 Heavy" panose="02020900000000000000" pitchFamily="18" charset="-122"/>
                <a:ea typeface="思源宋体 Heavy" panose="02020900000000000000" pitchFamily="18" charset="-122"/>
              </a:rPr>
              <a:t>借鉴及</a:t>
            </a:r>
            <a:r>
              <a:rPr lang="zh-CN" altLang="en-US" sz="4800" dirty="0">
                <a:latin typeface="思源宋体 Heavy" panose="02020900000000000000" pitchFamily="18" charset="-122"/>
                <a:ea typeface="思源宋体 Heavy" panose="02020900000000000000" pitchFamily="18" charset="-122"/>
              </a:rPr>
              <a:t>启示</a:t>
            </a:r>
            <a:endParaRPr lang="zh-CN" altLang="en-US" sz="4800" dirty="0">
              <a:latin typeface="思源宋体 Heavy" panose="02020900000000000000" pitchFamily="18" charset="-122"/>
              <a:ea typeface="思源宋体 Heavy" panose="02020900000000000000" pitchFamily="18" charset="-122"/>
            </a:endParaRPr>
          </a:p>
        </p:txBody>
      </p:sp>
    </p:spTree>
  </p:cSld>
  <p:clrMapOvr>
    <a:masterClrMapping/>
  </p:clrMapOvr>
  <p:transition spd="med" advTm="3000">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47831" y="242047"/>
            <a:ext cx="1464428" cy="600634"/>
            <a:chOff x="1115735" y="587229"/>
            <a:chExt cx="10176791" cy="6547926"/>
          </a:xfrm>
        </p:grpSpPr>
        <p:sp>
          <p:nvSpPr>
            <p:cNvPr id="3" name="矩形 2"/>
            <p:cNvSpPr/>
            <p:nvPr/>
          </p:nvSpPr>
          <p:spPr>
            <a:xfrm>
              <a:off x="1115735" y="587229"/>
              <a:ext cx="9571839" cy="5410900"/>
            </a:xfrm>
            <a:prstGeom prst="rect">
              <a:avLst/>
            </a:prstGeom>
            <a:pattFill prst="wdDnDiag">
              <a:fgClr>
                <a:srgbClr val="203864"/>
              </a:fgClr>
              <a:bgClr>
                <a:schemeClr val="bg1"/>
              </a:bgClr>
            </a:patt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1720688" y="1724252"/>
              <a:ext cx="9571838" cy="5410903"/>
            </a:xfrm>
            <a:prstGeom prst="rect">
              <a:avLst/>
            </a:prstGeom>
            <a:solidFill>
              <a:schemeClr val="bg1"/>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5" name="文本框 4"/>
          <p:cNvSpPr txBox="1"/>
          <p:nvPr/>
        </p:nvSpPr>
        <p:spPr>
          <a:xfrm>
            <a:off x="376518" y="409847"/>
            <a:ext cx="1335741" cy="368300"/>
          </a:xfrm>
          <a:prstGeom prst="rect">
            <a:avLst/>
          </a:prstGeom>
          <a:noFill/>
        </p:spPr>
        <p:txBody>
          <a:bodyPr wrap="square" rtlCol="0">
            <a:spAutoFit/>
          </a:bodyPr>
          <a:lstStyle/>
          <a:p>
            <a:pPr algn="ctr"/>
            <a:r>
              <a:rPr lang="zh-CN" altLang="en-US" dirty="0">
                <a:latin typeface="思源黑体 CN Bold" panose="020B0800000000000000" pitchFamily="34" charset="-122"/>
                <a:ea typeface="思源黑体 CN Bold" panose="020B0800000000000000" pitchFamily="34" charset="-122"/>
              </a:rPr>
              <a:t>行业</a:t>
            </a:r>
            <a:r>
              <a:rPr lang="zh-CN" altLang="en-US" dirty="0">
                <a:latin typeface="思源黑体 CN Bold" panose="020B0800000000000000" pitchFamily="34" charset="-122"/>
                <a:ea typeface="思源黑体 CN Bold" panose="020B0800000000000000" pitchFamily="34" charset="-122"/>
              </a:rPr>
              <a:t>借鉴</a:t>
            </a:r>
            <a:endParaRPr lang="zh-CN" altLang="en-US" dirty="0">
              <a:latin typeface="思源黑体 CN Bold" panose="020B0800000000000000" pitchFamily="34" charset="-122"/>
              <a:ea typeface="思源黑体 CN Bold" panose="020B0800000000000000" pitchFamily="34" charset="-122"/>
            </a:endParaRPr>
          </a:p>
        </p:txBody>
      </p:sp>
      <p:grpSp>
        <p:nvGrpSpPr>
          <p:cNvPr id="6" name="组合 5"/>
          <p:cNvGrpSpPr/>
          <p:nvPr/>
        </p:nvGrpSpPr>
        <p:grpSpPr>
          <a:xfrm>
            <a:off x="2070850" y="3797518"/>
            <a:ext cx="8131928" cy="1370865"/>
            <a:chOff x="3901066" y="3246727"/>
            <a:chExt cx="7063765" cy="1370865"/>
          </a:xfrm>
        </p:grpSpPr>
        <p:cxnSp>
          <p:nvCxnSpPr>
            <p:cNvPr id="7" name="直接连接符 6"/>
            <p:cNvCxnSpPr/>
            <p:nvPr/>
          </p:nvCxnSpPr>
          <p:spPr>
            <a:xfrm flipH="1">
              <a:off x="3901066" y="3246727"/>
              <a:ext cx="7063765" cy="0"/>
            </a:xfrm>
            <a:prstGeom prst="line">
              <a:avLst/>
            </a:prstGeom>
            <a:ln w="9525">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flipH="1">
              <a:off x="3901066" y="4617592"/>
              <a:ext cx="7063764" cy="0"/>
            </a:xfrm>
            <a:prstGeom prst="line">
              <a:avLst/>
            </a:prstGeom>
            <a:ln w="9525">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9" name="矩形: 圆角 8"/>
          <p:cNvSpPr/>
          <p:nvPr/>
        </p:nvSpPr>
        <p:spPr>
          <a:xfrm>
            <a:off x="2435880" y="5368221"/>
            <a:ext cx="2077638" cy="361677"/>
          </a:xfrm>
          <a:prstGeom prst="roundRect">
            <a:avLst/>
          </a:prstGeom>
          <a:solidFill>
            <a:srgbClr val="2038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圆角 9"/>
          <p:cNvSpPr/>
          <p:nvPr/>
        </p:nvSpPr>
        <p:spPr>
          <a:xfrm>
            <a:off x="5028305" y="5368221"/>
            <a:ext cx="2077638" cy="361677"/>
          </a:xfrm>
          <a:prstGeom prst="roundRect">
            <a:avLst/>
          </a:prstGeom>
          <a:solidFill>
            <a:srgbClr val="203864">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圆角 10"/>
          <p:cNvSpPr/>
          <p:nvPr/>
        </p:nvSpPr>
        <p:spPr>
          <a:xfrm>
            <a:off x="7620730" y="5368221"/>
            <a:ext cx="2077638" cy="361677"/>
          </a:xfrm>
          <a:prstGeom prst="roundRect">
            <a:avLst/>
          </a:prstGeom>
          <a:solidFill>
            <a:srgbClr val="2038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4525985" y="1281768"/>
            <a:ext cx="3032760" cy="521970"/>
          </a:xfrm>
          <a:prstGeom prst="rect">
            <a:avLst/>
          </a:prstGeom>
          <a:solidFill>
            <a:srgbClr val="203864"/>
          </a:solidFill>
        </p:spPr>
        <p:txBody>
          <a:bodyPr wrap="none" rtlCol="0">
            <a:spAutoFit/>
          </a:bodyPr>
          <a:lstStyle/>
          <a:p>
            <a:pPr algn="ctr"/>
            <a:r>
              <a:rPr lang="zh-CN" altLang="en-US" sz="2800" b="1" i="1" dirty="0">
                <a:solidFill>
                  <a:schemeClr val="bg1"/>
                </a:solidFill>
                <a:latin typeface="思源黑体 CN Light" panose="020B0300000000000000" pitchFamily="34" charset="-122"/>
                <a:ea typeface="思源黑体 CN Light" panose="020B0300000000000000" pitchFamily="34" charset="-122"/>
              </a:rPr>
              <a:t>给同行业的借鉴</a:t>
            </a:r>
            <a:r>
              <a:rPr lang="en-US" altLang="zh-CN" sz="2800" b="1" i="1" dirty="0">
                <a:solidFill>
                  <a:schemeClr val="bg1"/>
                </a:solidFill>
                <a:latin typeface="思源黑体 CN Light" panose="020B0300000000000000" pitchFamily="34" charset="-122"/>
                <a:ea typeface="思源黑体 CN Light" panose="020B0300000000000000" pitchFamily="34" charset="-122"/>
              </a:rPr>
              <a:t>：</a:t>
            </a:r>
            <a:endParaRPr lang="en-US" altLang="zh-CN" sz="2800" b="1" i="1" dirty="0">
              <a:solidFill>
                <a:schemeClr val="bg1"/>
              </a:solidFill>
              <a:latin typeface="思源黑体 CN Light" panose="020B0300000000000000" pitchFamily="34" charset="-122"/>
              <a:ea typeface="思源黑体 CN Light" panose="020B0300000000000000" pitchFamily="34" charset="-122"/>
            </a:endParaRPr>
          </a:p>
        </p:txBody>
      </p:sp>
      <p:sp>
        <p:nvSpPr>
          <p:cNvPr id="17" name="文本框 16"/>
          <p:cNvSpPr txBox="1"/>
          <p:nvPr/>
        </p:nvSpPr>
        <p:spPr>
          <a:xfrm>
            <a:off x="3201426" y="2367435"/>
            <a:ext cx="5789148" cy="1430020"/>
          </a:xfrm>
          <a:prstGeom prst="rect">
            <a:avLst/>
          </a:prstGeom>
          <a:noFill/>
        </p:spPr>
        <p:txBody>
          <a:bodyPr wrap="square" rtlCol="0">
            <a:spAutoFit/>
          </a:bodyPr>
          <a:lstStyle/>
          <a:p>
            <a:pPr algn="ctr">
              <a:lnSpc>
                <a:spcPct val="150000"/>
              </a:lnSpc>
            </a:pPr>
            <a:r>
              <a:rPr lang="en-US" altLang="zh-CN" sz="1600" b="1" dirty="0">
                <a:latin typeface="思源黑体 CN Regular" panose="020B0500000000000000" pitchFamily="34" charset="-122"/>
                <a:ea typeface="思源黑体 CN Regular" panose="020B0500000000000000" pitchFamily="34" charset="-122"/>
                <a:cs typeface="Poppins Light" charset="0"/>
              </a:rPr>
              <a:t>1.</a:t>
            </a:r>
            <a:r>
              <a:rPr lang="zh-CN" altLang="en-US" sz="1600" b="1" dirty="0">
                <a:latin typeface="思源黑体 CN Regular" panose="020B0500000000000000" pitchFamily="34" charset="-122"/>
                <a:ea typeface="思源黑体 CN Regular" panose="020B0500000000000000" pitchFamily="34" charset="-122"/>
                <a:cs typeface="Poppins Light" charset="0"/>
              </a:rPr>
              <a:t>根据企业战略需要选择合适的并购目标企业</a:t>
            </a:r>
            <a:endParaRPr lang="zh-CN" altLang="en-US" sz="1600" b="1" dirty="0">
              <a:latin typeface="思源黑体 CN Regular" panose="020B0500000000000000" pitchFamily="34" charset="-122"/>
              <a:ea typeface="思源黑体 CN Regular" panose="020B0500000000000000" pitchFamily="34" charset="-122"/>
              <a:cs typeface="Poppins Light" charset="0"/>
            </a:endParaRPr>
          </a:p>
          <a:p>
            <a:pPr algn="l">
              <a:lnSpc>
                <a:spcPct val="150000"/>
              </a:lnSpc>
            </a:pPr>
            <a:r>
              <a:rPr lang="zh-CN" altLang="en-US" sz="1400" dirty="0">
                <a:latin typeface="思源黑体 CN Regular" panose="020B0500000000000000" pitchFamily="34" charset="-122"/>
                <a:ea typeface="思源黑体 CN Regular" panose="020B0500000000000000" pitchFamily="34" charset="-122"/>
                <a:cs typeface="Poppins Light" charset="0"/>
              </a:rPr>
              <a:t>安井食品并购新宏业是企业基于战略需求筛选并购目标的典范</a:t>
            </a:r>
            <a:r>
              <a:rPr lang="en-US" altLang="zh-CN" sz="1400" dirty="0">
                <a:latin typeface="思源黑体 CN Regular" panose="020B0500000000000000" pitchFamily="34" charset="-122"/>
                <a:ea typeface="思源黑体 CN Regular" panose="020B0500000000000000" pitchFamily="34" charset="-122"/>
                <a:cs typeface="Poppins Light" charset="0"/>
              </a:rPr>
              <a:t>，</a:t>
            </a:r>
            <a:r>
              <a:rPr lang="zh-CN" altLang="en-US" sz="1400" dirty="0">
                <a:latin typeface="思源黑体 CN Regular" panose="020B0500000000000000" pitchFamily="34" charset="-122"/>
                <a:ea typeface="思源黑体 CN Regular" panose="020B0500000000000000" pitchFamily="34" charset="-122"/>
                <a:cs typeface="Poppins Light" charset="0"/>
              </a:rPr>
              <a:t>通过并购实现战略资源与协同价值的最大化</a:t>
            </a:r>
            <a:r>
              <a:rPr lang="en-US" altLang="zh-CN" sz="1400" dirty="0">
                <a:latin typeface="思源黑体 CN Regular" panose="020B0500000000000000" pitchFamily="34" charset="-122"/>
                <a:ea typeface="思源黑体 CN Regular" panose="020B0500000000000000" pitchFamily="34" charset="-122"/>
                <a:cs typeface="Poppins Light" charset="0"/>
              </a:rPr>
              <a:t>，</a:t>
            </a:r>
            <a:r>
              <a:rPr lang="zh-CN" altLang="en-US" sz="1400" dirty="0">
                <a:latin typeface="思源黑体 CN Regular" panose="020B0500000000000000" pitchFamily="34" charset="-122"/>
                <a:ea typeface="思源黑体 CN Regular" panose="020B0500000000000000" pitchFamily="34" charset="-122"/>
                <a:cs typeface="Poppins Light" charset="0"/>
              </a:rPr>
              <a:t>新宏业鱼糜能够完全纳入安井体系</a:t>
            </a:r>
            <a:r>
              <a:rPr lang="en-US" altLang="zh-CN" sz="1400" dirty="0">
                <a:latin typeface="思源黑体 CN Regular" panose="020B0500000000000000" pitchFamily="34" charset="-122"/>
                <a:ea typeface="思源黑体 CN Regular" panose="020B0500000000000000" pitchFamily="34" charset="-122"/>
                <a:cs typeface="Poppins Light" charset="0"/>
              </a:rPr>
              <a:t>，</a:t>
            </a:r>
            <a:r>
              <a:rPr lang="zh-CN" altLang="en-US" sz="1400" dirty="0">
                <a:latin typeface="思源黑体 CN Regular" panose="020B0500000000000000" pitchFamily="34" charset="-122"/>
                <a:ea typeface="思源黑体 CN Regular" panose="020B0500000000000000" pitchFamily="34" charset="-122"/>
                <a:cs typeface="Poppins Light" charset="0"/>
              </a:rPr>
              <a:t>可以让安井食品有效的防范原材料供应的</a:t>
            </a:r>
            <a:r>
              <a:rPr lang="zh-CN" altLang="en-US" sz="1400" dirty="0">
                <a:latin typeface="思源黑体 CN Regular" panose="020B0500000000000000" pitchFamily="34" charset="-122"/>
                <a:ea typeface="思源黑体 CN Regular" panose="020B0500000000000000" pitchFamily="34" charset="-122"/>
                <a:cs typeface="Poppins Light" charset="0"/>
              </a:rPr>
              <a:t>价格波动风险</a:t>
            </a:r>
            <a:r>
              <a:rPr lang="en-US" altLang="zh-CN" sz="1400" dirty="0">
                <a:latin typeface="思源黑体 CN Regular" panose="020B0500000000000000" pitchFamily="34" charset="-122"/>
                <a:ea typeface="思源黑体 CN Regular" panose="020B0500000000000000" pitchFamily="34" charset="-122"/>
                <a:cs typeface="Poppins Light" charset="0"/>
              </a:rPr>
              <a:t>。</a:t>
            </a:r>
            <a:endParaRPr lang="en-US" altLang="zh-CN" sz="1400" dirty="0">
              <a:latin typeface="思源黑体 CN Regular" panose="020B0500000000000000" pitchFamily="34" charset="-122"/>
              <a:ea typeface="思源黑体 CN Regular" panose="020B0500000000000000" pitchFamily="34" charset="-122"/>
              <a:cs typeface="Poppins Light" charset="0"/>
            </a:endParaRPr>
          </a:p>
        </p:txBody>
      </p:sp>
      <p:sp>
        <p:nvSpPr>
          <p:cNvPr id="18" name="文本框 17"/>
          <p:cNvSpPr txBox="1"/>
          <p:nvPr/>
        </p:nvSpPr>
        <p:spPr>
          <a:xfrm>
            <a:off x="3201426" y="3905676"/>
            <a:ext cx="5789148" cy="1153160"/>
          </a:xfrm>
          <a:prstGeom prst="rect">
            <a:avLst/>
          </a:prstGeom>
          <a:noFill/>
        </p:spPr>
        <p:txBody>
          <a:bodyPr wrap="square" rtlCol="0">
            <a:spAutoFit/>
          </a:bodyPr>
          <a:lstStyle/>
          <a:p>
            <a:pPr algn="ctr">
              <a:lnSpc>
                <a:spcPct val="150000"/>
              </a:lnSpc>
            </a:pPr>
            <a:r>
              <a:rPr lang="en-US" altLang="zh-CN" sz="1600" b="1" dirty="0">
                <a:latin typeface="思源黑体 CN Regular" panose="020B0500000000000000" pitchFamily="34" charset="-122"/>
                <a:ea typeface="思源黑体 CN Regular" panose="020B0500000000000000" pitchFamily="34" charset="-122"/>
                <a:cs typeface="Poppins Light" charset="0"/>
              </a:rPr>
              <a:t>2.</a:t>
            </a:r>
            <a:r>
              <a:rPr lang="zh-CN" altLang="en-US" sz="1600" b="1" dirty="0">
                <a:latin typeface="思源黑体 CN Regular" panose="020B0500000000000000" pitchFamily="34" charset="-122"/>
                <a:ea typeface="思源黑体 CN Regular" panose="020B0500000000000000" pitchFamily="34" charset="-122"/>
                <a:cs typeface="Poppins Light" charset="0"/>
              </a:rPr>
              <a:t>充分发挥协同效应</a:t>
            </a:r>
            <a:r>
              <a:rPr lang="en-US" altLang="zh-CN" sz="1600" b="1" dirty="0">
                <a:latin typeface="思源黑体 CN Regular" panose="020B0500000000000000" pitchFamily="34" charset="-122"/>
                <a:ea typeface="思源黑体 CN Regular" panose="020B0500000000000000" pitchFamily="34" charset="-122"/>
                <a:cs typeface="Poppins Light" charset="0"/>
              </a:rPr>
              <a:t>，</a:t>
            </a:r>
            <a:r>
              <a:rPr lang="zh-CN" altLang="en-US" sz="1600" b="1" dirty="0">
                <a:latin typeface="思源黑体 CN Regular" panose="020B0500000000000000" pitchFamily="34" charset="-122"/>
                <a:ea typeface="思源黑体 CN Regular" panose="020B0500000000000000" pitchFamily="34" charset="-122"/>
                <a:cs typeface="Poppins Light" charset="0"/>
              </a:rPr>
              <a:t>提高企业并购绩效</a:t>
            </a:r>
            <a:endParaRPr lang="zh-CN" altLang="en-US" sz="1600" b="1" dirty="0">
              <a:latin typeface="思源黑体 CN Regular" panose="020B0500000000000000" pitchFamily="34" charset="-122"/>
              <a:ea typeface="思源黑体 CN Regular" panose="020B0500000000000000" pitchFamily="34" charset="-122"/>
              <a:cs typeface="Poppins Light" charset="0"/>
            </a:endParaRPr>
          </a:p>
          <a:p>
            <a:pPr algn="l">
              <a:lnSpc>
                <a:spcPct val="150000"/>
              </a:lnSpc>
            </a:pPr>
            <a:r>
              <a:rPr lang="zh-CN" altLang="en-US" sz="1400" dirty="0">
                <a:latin typeface="思源黑体 CN Regular" panose="020B0500000000000000" pitchFamily="34" charset="-122"/>
                <a:ea typeface="思源黑体 CN Regular" panose="020B0500000000000000" pitchFamily="34" charset="-122"/>
                <a:cs typeface="Poppins Light" charset="0"/>
              </a:rPr>
              <a:t>安井食品并购新宏业的协同效应释放</a:t>
            </a:r>
            <a:r>
              <a:rPr lang="en-US" altLang="zh-CN" sz="1400" dirty="0">
                <a:latin typeface="思源黑体 CN Regular" panose="020B0500000000000000" pitchFamily="34" charset="-122"/>
                <a:ea typeface="思源黑体 CN Regular" panose="020B0500000000000000" pitchFamily="34" charset="-122"/>
                <a:cs typeface="Poppins Light" charset="0"/>
              </a:rPr>
              <a:t>，</a:t>
            </a:r>
            <a:r>
              <a:rPr lang="zh-CN" altLang="en-US" sz="1400" dirty="0">
                <a:latin typeface="思源黑体 CN Regular" panose="020B0500000000000000" pitchFamily="34" charset="-122"/>
                <a:ea typeface="思源黑体 CN Regular" panose="020B0500000000000000" pitchFamily="34" charset="-122"/>
                <a:cs typeface="Poppins Light" charset="0"/>
              </a:rPr>
              <a:t>在财务协同上从企业的规模扩张到质效的双方面提升</a:t>
            </a:r>
            <a:r>
              <a:rPr lang="en-US" altLang="zh-CN" sz="1400" dirty="0">
                <a:latin typeface="思源黑体 CN Regular" panose="020B0500000000000000" pitchFamily="34" charset="-122"/>
                <a:ea typeface="思源黑体 CN Regular" panose="020B0500000000000000" pitchFamily="34" charset="-122"/>
                <a:cs typeface="Poppins Light" charset="0"/>
              </a:rPr>
              <a:t>，</a:t>
            </a:r>
            <a:r>
              <a:rPr lang="zh-CN" altLang="en-US" sz="1400" dirty="0">
                <a:latin typeface="思源黑体 CN Regular" panose="020B0500000000000000" pitchFamily="34" charset="-122"/>
                <a:ea typeface="思源黑体 CN Regular" panose="020B0500000000000000" pitchFamily="34" charset="-122"/>
                <a:cs typeface="Poppins Light" charset="0"/>
              </a:rPr>
              <a:t>推动企业实现营业收入结构优化</a:t>
            </a:r>
            <a:r>
              <a:rPr lang="en-US" altLang="zh-CN" sz="1400" dirty="0">
                <a:latin typeface="思源黑体 CN Regular" panose="020B0500000000000000" pitchFamily="34" charset="-122"/>
                <a:ea typeface="思源黑体 CN Regular" panose="020B0500000000000000" pitchFamily="34" charset="-122"/>
                <a:cs typeface="Poppins Light" charset="0"/>
              </a:rPr>
              <a:t>，</a:t>
            </a:r>
            <a:r>
              <a:rPr lang="zh-CN" altLang="en-US" sz="1400" dirty="0">
                <a:latin typeface="思源黑体 CN Regular" panose="020B0500000000000000" pitchFamily="34" charset="-122"/>
                <a:ea typeface="思源黑体 CN Regular" panose="020B0500000000000000" pitchFamily="34" charset="-122"/>
                <a:cs typeface="Poppins Light" charset="0"/>
              </a:rPr>
              <a:t>现金流增强</a:t>
            </a:r>
            <a:r>
              <a:rPr lang="en-US" altLang="zh-CN" sz="1600" dirty="0">
                <a:latin typeface="思源黑体 CN Regular" panose="020B0500000000000000" pitchFamily="34" charset="-122"/>
                <a:ea typeface="思源黑体 CN Regular" panose="020B0500000000000000" pitchFamily="34" charset="-122"/>
                <a:cs typeface="Poppins Light" charset="0"/>
              </a:rPr>
              <a:t>。</a:t>
            </a:r>
            <a:endParaRPr lang="en-US" altLang="zh-CN" sz="1600" dirty="0">
              <a:latin typeface="思源黑体 CN Regular" panose="020B0500000000000000" pitchFamily="34" charset="-122"/>
              <a:ea typeface="思源黑体 CN Regular" panose="020B0500000000000000" pitchFamily="34" charset="-122"/>
              <a:cs typeface="Poppins Light" charset="0"/>
            </a:endParaRPr>
          </a:p>
        </p:txBody>
      </p:sp>
    </p:spTree>
  </p:cSld>
  <p:clrMapOvr>
    <a:masterClrMapping/>
  </p:clrMapOvr>
  <p:transition spd="med" advTm="300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fill="hold"/>
                                        <p:tgtEl>
                                          <p:spTgt spid="10"/>
                                        </p:tgtEl>
                                        <p:attrNameLst>
                                          <p:attrName>ppt_x</p:attrName>
                                        </p:attrNameLst>
                                      </p:cBhvr>
                                      <p:tavLst>
                                        <p:tav tm="0">
                                          <p:val>
                                            <p:strVal val="#ppt_x"/>
                                          </p:val>
                                        </p:tav>
                                        <p:tav tm="100000">
                                          <p:val>
                                            <p:strVal val="#ppt_x"/>
                                          </p:val>
                                        </p:tav>
                                      </p:tavLst>
                                    </p:anim>
                                    <p:anim calcmode="lin" valueType="num">
                                      <p:cBhvr additive="base">
                                        <p:cTn id="16" dur="500" fill="hold"/>
                                        <p:tgtEl>
                                          <p:spTgt spid="10"/>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anim calcmode="lin" valueType="num">
                                      <p:cBhvr additive="base">
                                        <p:cTn id="23" dur="500" fill="hold"/>
                                        <p:tgtEl>
                                          <p:spTgt spid="17"/>
                                        </p:tgtEl>
                                        <p:attrNameLst>
                                          <p:attrName>ppt_x</p:attrName>
                                        </p:attrNameLst>
                                      </p:cBhvr>
                                      <p:tavLst>
                                        <p:tav tm="0">
                                          <p:val>
                                            <p:strVal val="#ppt_x"/>
                                          </p:val>
                                        </p:tav>
                                        <p:tav tm="100000">
                                          <p:val>
                                            <p:strVal val="#ppt_x"/>
                                          </p:val>
                                        </p:tav>
                                      </p:tavLst>
                                    </p:anim>
                                    <p:anim calcmode="lin" valueType="num">
                                      <p:cBhvr additive="base">
                                        <p:cTn id="24" dur="500" fill="hold"/>
                                        <p:tgtEl>
                                          <p:spTgt spid="17"/>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anim calcmode="lin" valueType="num">
                                      <p:cBhvr additive="base">
                                        <p:cTn id="27" dur="500" fill="hold"/>
                                        <p:tgtEl>
                                          <p:spTgt spid="18"/>
                                        </p:tgtEl>
                                        <p:attrNameLst>
                                          <p:attrName>ppt_x</p:attrName>
                                        </p:attrNameLst>
                                      </p:cBhvr>
                                      <p:tavLst>
                                        <p:tav tm="0">
                                          <p:val>
                                            <p:strVal val="#ppt_x"/>
                                          </p:val>
                                        </p:tav>
                                        <p:tav tm="100000">
                                          <p:val>
                                            <p:strVal val="#ppt_x"/>
                                          </p:val>
                                        </p:tav>
                                      </p:tavLst>
                                    </p:anim>
                                    <p:anim calcmode="lin" valueType="num">
                                      <p:cBhvr additive="base">
                                        <p:cTn id="2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53" presetClass="entr" presetSubtype="16" fill="hold" grpId="0" nodeType="clickEffect">
                                  <p:stCondLst>
                                    <p:cond delay="0"/>
                                  </p:stCondLst>
                                  <p:childTnLst>
                                    <p:set>
                                      <p:cBhvr>
                                        <p:cTn id="32" dur="1" fill="hold">
                                          <p:stCondLst>
                                            <p:cond delay="0"/>
                                          </p:stCondLst>
                                        </p:cTn>
                                        <p:tgtEl>
                                          <p:spTgt spid="15"/>
                                        </p:tgtEl>
                                        <p:attrNameLst>
                                          <p:attrName>style.visibility</p:attrName>
                                        </p:attrNameLst>
                                      </p:cBhvr>
                                      <p:to>
                                        <p:strVal val="visible"/>
                                      </p:to>
                                    </p:set>
                                    <p:anim calcmode="lin" valueType="num">
                                      <p:cBhvr>
                                        <p:cTn id="33" dur="500" fill="hold"/>
                                        <p:tgtEl>
                                          <p:spTgt spid="15"/>
                                        </p:tgtEl>
                                        <p:attrNameLst>
                                          <p:attrName>ppt_w</p:attrName>
                                        </p:attrNameLst>
                                      </p:cBhvr>
                                      <p:tavLst>
                                        <p:tav tm="0">
                                          <p:val>
                                            <p:fltVal val="0"/>
                                          </p:val>
                                        </p:tav>
                                        <p:tav tm="100000">
                                          <p:val>
                                            <p:strVal val="#ppt_w"/>
                                          </p:val>
                                        </p:tav>
                                      </p:tavLst>
                                    </p:anim>
                                    <p:anim calcmode="lin" valueType="num">
                                      <p:cBhvr>
                                        <p:cTn id="34" dur="500" fill="hold"/>
                                        <p:tgtEl>
                                          <p:spTgt spid="15"/>
                                        </p:tgtEl>
                                        <p:attrNameLst>
                                          <p:attrName>ppt_h</p:attrName>
                                        </p:attrNameLst>
                                      </p:cBhvr>
                                      <p:tavLst>
                                        <p:tav tm="0">
                                          <p:val>
                                            <p:fltVal val="0"/>
                                          </p:val>
                                        </p:tav>
                                        <p:tav tm="100000">
                                          <p:val>
                                            <p:strVal val="#ppt_h"/>
                                          </p:val>
                                        </p:tav>
                                      </p:tavLst>
                                    </p:anim>
                                    <p:animEffect transition="in" filter="fade">
                                      <p:cBhvr>
                                        <p:cTn id="3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5" grpId="0" bldLvl="0" animBg="1"/>
      <p:bldP spid="17" grpId="0"/>
      <p:bldP spid="1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47831" y="242047"/>
            <a:ext cx="1464428" cy="600634"/>
            <a:chOff x="1115735" y="587229"/>
            <a:chExt cx="10176791" cy="6547926"/>
          </a:xfrm>
        </p:grpSpPr>
        <p:sp>
          <p:nvSpPr>
            <p:cNvPr id="3" name="矩形 2"/>
            <p:cNvSpPr/>
            <p:nvPr/>
          </p:nvSpPr>
          <p:spPr>
            <a:xfrm>
              <a:off x="1115735" y="587229"/>
              <a:ext cx="9571839" cy="5410900"/>
            </a:xfrm>
            <a:prstGeom prst="rect">
              <a:avLst/>
            </a:prstGeom>
            <a:pattFill prst="wdDnDiag">
              <a:fgClr>
                <a:srgbClr val="203864"/>
              </a:fgClr>
              <a:bgClr>
                <a:schemeClr val="bg1"/>
              </a:bgClr>
            </a:patt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1720688" y="1724252"/>
              <a:ext cx="9571838" cy="5410903"/>
            </a:xfrm>
            <a:prstGeom prst="rect">
              <a:avLst/>
            </a:prstGeom>
            <a:solidFill>
              <a:schemeClr val="bg1"/>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5" name="文本框 4"/>
          <p:cNvSpPr txBox="1"/>
          <p:nvPr/>
        </p:nvSpPr>
        <p:spPr>
          <a:xfrm>
            <a:off x="376518" y="409847"/>
            <a:ext cx="1335741" cy="368300"/>
          </a:xfrm>
          <a:prstGeom prst="rect">
            <a:avLst/>
          </a:prstGeom>
          <a:noFill/>
        </p:spPr>
        <p:txBody>
          <a:bodyPr wrap="square" rtlCol="0">
            <a:spAutoFit/>
          </a:bodyPr>
          <a:lstStyle/>
          <a:p>
            <a:pPr algn="ctr"/>
            <a:r>
              <a:rPr lang="zh-CN" altLang="en-US" dirty="0">
                <a:latin typeface="思源黑体 CN Bold" panose="020B0800000000000000" pitchFamily="34" charset="-122"/>
                <a:ea typeface="思源黑体 CN Bold" panose="020B0800000000000000" pitchFamily="34" charset="-122"/>
              </a:rPr>
              <a:t>研究启示</a:t>
            </a:r>
            <a:endParaRPr lang="zh-CN" altLang="en-US" dirty="0">
              <a:latin typeface="思源黑体 CN Bold" panose="020B0800000000000000" pitchFamily="34" charset="-122"/>
              <a:ea typeface="思源黑体 CN Bold" panose="020B0800000000000000" pitchFamily="34" charset="-122"/>
            </a:endParaRPr>
          </a:p>
        </p:txBody>
      </p:sp>
      <p:sp>
        <p:nvSpPr>
          <p:cNvPr id="6" name="矩形 5"/>
          <p:cNvSpPr/>
          <p:nvPr/>
        </p:nvSpPr>
        <p:spPr>
          <a:xfrm>
            <a:off x="1624965" y="1323975"/>
            <a:ext cx="3461385" cy="1086485"/>
          </a:xfrm>
          <a:prstGeom prst="rect">
            <a:avLst/>
          </a:prstGeom>
        </p:spPr>
        <p:txBody>
          <a:bodyPr wrap="square">
            <a:spAutoFit/>
          </a:bodyPr>
          <a:lstStyle/>
          <a:p>
            <a:pPr lvl="0" algn="r" defTabSz="1216660">
              <a:lnSpc>
                <a:spcPct val="120000"/>
              </a:lnSpc>
              <a:spcBef>
                <a:spcPct val="20000"/>
              </a:spcBef>
              <a:defRPr/>
            </a:pPr>
            <a:r>
              <a:rPr lang="zh-CN" altLang="en-US" sz="1600" b="1" dirty="0">
                <a:latin typeface="思源黑体 CN Heavy" panose="020B0A00000000000000" pitchFamily="34" charset="-122"/>
                <a:ea typeface="思源黑体 CN Heavy" panose="020B0A00000000000000" pitchFamily="34" charset="-122"/>
                <a:cs typeface="+mn-ea"/>
                <a:sym typeface="Calibri" panose="020F0502020204030204" pitchFamily="34" charset="0"/>
              </a:rPr>
              <a:t>适度提升财务杠杆释放资金效能</a:t>
            </a:r>
            <a:endParaRPr lang="zh-CN" altLang="en-US" sz="1600" b="1" dirty="0">
              <a:latin typeface="思源黑体 CN Heavy" panose="020B0A00000000000000" pitchFamily="34" charset="-122"/>
              <a:ea typeface="思源黑体 CN Heavy" panose="020B0A00000000000000" pitchFamily="34" charset="-122"/>
              <a:cs typeface="+mn-ea"/>
              <a:sym typeface="Calibri" panose="020F0502020204030204" pitchFamily="34" charset="0"/>
            </a:endParaRPr>
          </a:p>
          <a:p>
            <a:pPr lvl="0" algn="r" defTabSz="1216660">
              <a:lnSpc>
                <a:spcPct val="120000"/>
              </a:lnSpc>
              <a:spcBef>
                <a:spcPct val="20000"/>
              </a:spcBef>
              <a:defRPr/>
            </a:pPr>
            <a:r>
              <a:rPr lang="zh-CN" altLang="en-US"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通过合理科学的借钱</a:t>
            </a:r>
            <a:r>
              <a:rPr lang="en-US" altLang="zh-CN"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a:t>
            </a:r>
            <a:r>
              <a:rPr lang="zh-CN" altLang="en-US"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将资金能够用在产生更多收益的地方</a:t>
            </a:r>
            <a:r>
              <a:rPr lang="en-US" altLang="zh-CN"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a:t>
            </a:r>
            <a:r>
              <a:rPr lang="zh-CN" altLang="en-US"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适度提升财务杠杆</a:t>
            </a:r>
            <a:r>
              <a:rPr lang="en-US" altLang="zh-CN"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a:t>
            </a:r>
            <a:r>
              <a:rPr lang="zh-CN" altLang="en-US"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注重风险与收益的平衡</a:t>
            </a:r>
            <a:r>
              <a:rPr lang="en-US" altLang="zh-CN"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a:t>
            </a:r>
            <a:r>
              <a:rPr lang="zh-CN" altLang="en-US"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提高资产负债率</a:t>
            </a:r>
            <a:r>
              <a:rPr lang="en-US" altLang="zh-CN"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a:t>
            </a:r>
            <a:r>
              <a:rPr lang="zh-CN" altLang="en-US"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释放企业资金效能</a:t>
            </a:r>
            <a:r>
              <a:rPr lang="en-US" altLang="zh-CN"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a:t>
            </a:r>
            <a:endParaRPr lang="en-US" altLang="zh-CN"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endParaRPr>
          </a:p>
        </p:txBody>
      </p:sp>
      <p:sp>
        <p:nvSpPr>
          <p:cNvPr id="8" name="矩形 7"/>
          <p:cNvSpPr/>
          <p:nvPr/>
        </p:nvSpPr>
        <p:spPr>
          <a:xfrm>
            <a:off x="3601085" y="3041650"/>
            <a:ext cx="3890645" cy="1307465"/>
          </a:xfrm>
          <a:prstGeom prst="rect">
            <a:avLst/>
          </a:prstGeom>
        </p:spPr>
        <p:txBody>
          <a:bodyPr wrap="square">
            <a:spAutoFit/>
          </a:bodyPr>
          <a:lstStyle/>
          <a:p>
            <a:pPr lvl="0" defTabSz="1216660">
              <a:lnSpc>
                <a:spcPct val="120000"/>
              </a:lnSpc>
              <a:spcBef>
                <a:spcPct val="20000"/>
              </a:spcBef>
              <a:defRPr/>
            </a:pPr>
            <a:r>
              <a:rPr lang="zh-CN" altLang="en-US" sz="1600" b="1" dirty="0">
                <a:latin typeface="思源黑体 CN Heavy" panose="020B0A00000000000000" pitchFamily="34" charset="-122"/>
                <a:ea typeface="思源黑体 CN Heavy" panose="020B0A00000000000000" pitchFamily="34" charset="-122"/>
                <a:cs typeface="+mn-ea"/>
                <a:sym typeface="Calibri" panose="020F0502020204030204" pitchFamily="34" charset="0"/>
              </a:rPr>
              <a:t>实现全面成本管控提高盈利能力</a:t>
            </a:r>
            <a:endParaRPr lang="zh-CN" altLang="en-US" sz="1600" b="1" dirty="0">
              <a:latin typeface="思源黑体 CN Heavy" panose="020B0A00000000000000" pitchFamily="34" charset="-122"/>
              <a:ea typeface="思源黑体 CN Heavy" panose="020B0A00000000000000" pitchFamily="34" charset="-122"/>
              <a:cs typeface="+mn-ea"/>
              <a:sym typeface="Calibri" panose="020F0502020204030204" pitchFamily="34" charset="0"/>
            </a:endParaRPr>
          </a:p>
          <a:p>
            <a:pPr lvl="0" defTabSz="1216660">
              <a:lnSpc>
                <a:spcPct val="120000"/>
              </a:lnSpc>
              <a:spcBef>
                <a:spcPct val="20000"/>
              </a:spcBef>
              <a:defRPr/>
            </a:pPr>
            <a:r>
              <a:rPr lang="en-US" altLang="zh-CN"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  </a:t>
            </a:r>
            <a:r>
              <a:rPr lang="zh-CN" altLang="en-US"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成本管控能够直接提升净利润率</a:t>
            </a:r>
            <a:r>
              <a:rPr lang="en-US" altLang="zh-CN"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a:t>
            </a:r>
            <a:r>
              <a:rPr lang="zh-CN" altLang="en-US"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促进企业</a:t>
            </a:r>
            <a:r>
              <a:rPr lang="en-US" altLang="zh-CN"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ROE</a:t>
            </a:r>
            <a:r>
              <a:rPr lang="zh-CN" altLang="en-US"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回升</a:t>
            </a:r>
            <a:r>
              <a:rPr lang="en-US" altLang="zh-CN"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a:t>
            </a:r>
            <a:r>
              <a:rPr lang="zh-CN" altLang="en-US"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针对管控“并购持有成本”与“协同性”成本</a:t>
            </a:r>
            <a:r>
              <a:rPr lang="en-US" altLang="zh-CN"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a:t>
            </a:r>
            <a:r>
              <a:rPr lang="zh-CN" altLang="en-US"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同企业并购协同性效应相结合</a:t>
            </a:r>
            <a:r>
              <a:rPr lang="en-US" altLang="zh-CN"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a:t>
            </a:r>
            <a:r>
              <a:rPr lang="zh-CN" altLang="en-US"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减少非必要并购支出</a:t>
            </a:r>
            <a:r>
              <a:rPr lang="en-US" altLang="zh-CN"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a:t>
            </a:r>
            <a:r>
              <a:rPr lang="zh-CN" altLang="en-US"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规避并购减值风险</a:t>
            </a:r>
            <a:r>
              <a:rPr lang="en-US" altLang="zh-CN"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a:t>
            </a:r>
            <a:r>
              <a:rPr lang="zh-CN" altLang="en-US"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实现并购整合与成本优化</a:t>
            </a:r>
            <a:r>
              <a:rPr lang="en-US" altLang="zh-CN"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a:t>
            </a:r>
            <a:r>
              <a:rPr lang="zh-CN" altLang="en-US"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提高盈利能力</a:t>
            </a:r>
            <a:r>
              <a:rPr lang="en-US" altLang="zh-CN"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a:t>
            </a:r>
            <a:endParaRPr lang="en-US" altLang="zh-CN"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endParaRPr>
          </a:p>
        </p:txBody>
      </p:sp>
      <p:sp>
        <p:nvSpPr>
          <p:cNvPr id="10" name="矩形 9"/>
          <p:cNvSpPr/>
          <p:nvPr/>
        </p:nvSpPr>
        <p:spPr>
          <a:xfrm>
            <a:off x="722630" y="4704080"/>
            <a:ext cx="4064000" cy="1750060"/>
          </a:xfrm>
          <a:prstGeom prst="rect">
            <a:avLst/>
          </a:prstGeom>
        </p:spPr>
        <p:txBody>
          <a:bodyPr wrap="square">
            <a:spAutoFit/>
          </a:bodyPr>
          <a:lstStyle/>
          <a:p>
            <a:pPr lvl="0" algn="r" defTabSz="1216660">
              <a:lnSpc>
                <a:spcPct val="120000"/>
              </a:lnSpc>
              <a:spcBef>
                <a:spcPct val="20000"/>
              </a:spcBef>
              <a:defRPr/>
            </a:pPr>
            <a:r>
              <a:rPr lang="zh-CN" altLang="en-US" sz="1600" b="1" dirty="0">
                <a:latin typeface="思源黑体 CN Heavy" panose="020B0A00000000000000" pitchFamily="34" charset="-122"/>
                <a:ea typeface="思源黑体 CN Heavy" panose="020B0A00000000000000" pitchFamily="34" charset="-122"/>
                <a:cs typeface="+mn-ea"/>
                <a:sym typeface="Calibri" panose="020F0502020204030204" pitchFamily="34" charset="0"/>
              </a:rPr>
              <a:t>改善企业资产管理质量提升营运能力</a:t>
            </a:r>
            <a:endParaRPr lang="en-US" altLang="zh-CN" sz="1600" dirty="0">
              <a:latin typeface="思源黑体 CN Heavy" panose="020B0A00000000000000" pitchFamily="34" charset="-122"/>
              <a:ea typeface="思源黑体 CN Heavy" panose="020B0A00000000000000" pitchFamily="34" charset="-122"/>
              <a:cs typeface="+mn-ea"/>
              <a:sym typeface="Calibri" panose="020F0502020204030204" pitchFamily="34" charset="0"/>
            </a:endParaRPr>
          </a:p>
          <a:p>
            <a:pPr lvl="0" algn="just" defTabSz="1216660">
              <a:lnSpc>
                <a:spcPct val="120000"/>
              </a:lnSpc>
              <a:spcBef>
                <a:spcPct val="20000"/>
              </a:spcBef>
              <a:defRPr/>
            </a:pPr>
            <a:r>
              <a:rPr lang="en-US" altLang="zh-CN"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  </a:t>
            </a:r>
            <a:r>
              <a:rPr lang="zh-CN" altLang="en-US"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针对并购后资产周转率下滑</a:t>
            </a:r>
            <a:r>
              <a:rPr lang="en-US" altLang="zh-CN"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a:t>
            </a:r>
            <a:r>
              <a:rPr lang="zh-CN" altLang="en-US"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并购后是需要时间实现两个企业之间例如生产线等资产的“资产协同”</a:t>
            </a:r>
            <a:r>
              <a:rPr lang="en-US" altLang="zh-CN"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a:t>
            </a:r>
            <a:r>
              <a:rPr lang="zh-CN" altLang="en-US"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短期内营收增长跟不上资产的大幅度增加则极易造成企业的资产周转率下滑</a:t>
            </a:r>
            <a:r>
              <a:rPr lang="en-US" altLang="zh-CN"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a:t>
            </a:r>
            <a:r>
              <a:rPr lang="zh-CN" altLang="en-US"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所以我们需要去盘活企业里闲置低效的资产</a:t>
            </a:r>
            <a:r>
              <a:rPr lang="en-US" altLang="zh-CN"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a:t>
            </a:r>
            <a:r>
              <a:rPr lang="zh-CN" altLang="en-US"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通过清理</a:t>
            </a:r>
            <a:r>
              <a:rPr lang="en-US" altLang="zh-CN"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a:t>
            </a:r>
            <a:r>
              <a:rPr lang="zh-CN" altLang="en-US"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整合</a:t>
            </a:r>
            <a:r>
              <a:rPr lang="en-US" altLang="zh-CN"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a:t>
            </a:r>
            <a:r>
              <a:rPr lang="zh-CN" altLang="en-US"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提高企业资产周转率</a:t>
            </a:r>
            <a:r>
              <a:rPr lang="en-US" altLang="zh-CN"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a:t>
            </a:r>
            <a:r>
              <a:rPr lang="zh-CN" altLang="en-US"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提升企业的营运能力</a:t>
            </a:r>
            <a:r>
              <a:rPr lang="en-US" altLang="zh-CN"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rPr>
              <a:t>。</a:t>
            </a:r>
            <a:endParaRPr lang="en-US" altLang="zh-CN" sz="1200" dirty="0">
              <a:latin typeface="思源黑体 CN Normal" panose="020B0400000000000000" pitchFamily="34" charset="-122"/>
              <a:ea typeface="思源黑体 CN Normal" panose="020B0400000000000000" pitchFamily="34" charset="-122"/>
              <a:cs typeface="+mn-ea"/>
              <a:sym typeface="Calibri" panose="020F0502020204030204" pitchFamily="34" charset="0"/>
            </a:endParaRPr>
          </a:p>
        </p:txBody>
      </p:sp>
      <p:sp>
        <p:nvSpPr>
          <p:cNvPr id="12" name="椭圆 11"/>
          <p:cNvSpPr/>
          <p:nvPr/>
        </p:nvSpPr>
        <p:spPr>
          <a:xfrm>
            <a:off x="8922839" y="1979023"/>
            <a:ext cx="2899954" cy="2899954"/>
          </a:xfrm>
          <a:prstGeom prst="ellipse">
            <a:avLst/>
          </a:prstGeom>
          <a:pattFill prst="wdUpDiag">
            <a:fgClr>
              <a:srgbClr val="203864"/>
            </a:fgClr>
            <a:bgClr>
              <a:schemeClr val="bg1"/>
            </a:bgClr>
          </a:patt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8535668" y="3232455"/>
            <a:ext cx="2150077" cy="2150077"/>
          </a:xfrm>
          <a:prstGeom prst="ellipse">
            <a:avLst/>
          </a:prstGeom>
          <a:solidFill>
            <a:schemeClr val="bg1"/>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000">
                <a:solidFill>
                  <a:schemeClr val="tx2">
                    <a:lumMod val="75000"/>
                  </a:schemeClr>
                </a:solidFill>
              </a:rPr>
              <a:t>研究启示</a:t>
            </a:r>
            <a:endParaRPr lang="zh-CN" altLang="en-US" sz="4000">
              <a:solidFill>
                <a:schemeClr val="tx2">
                  <a:lumMod val="75000"/>
                </a:schemeClr>
              </a:solidFill>
            </a:endParaRPr>
          </a:p>
        </p:txBody>
      </p:sp>
      <p:pic>
        <p:nvPicPr>
          <p:cNvPr id="17" name="图片 16" descr="WX20251105-133503@2x"/>
          <p:cNvPicPr>
            <a:picLocks noChangeAspect="1"/>
          </p:cNvPicPr>
          <p:nvPr/>
        </p:nvPicPr>
        <p:blipFill>
          <a:blip r:embed="rId1"/>
          <a:stretch>
            <a:fillRect/>
          </a:stretch>
        </p:blipFill>
        <p:spPr>
          <a:xfrm>
            <a:off x="5173980" y="842645"/>
            <a:ext cx="3361690" cy="1717040"/>
          </a:xfrm>
          <a:prstGeom prst="rect">
            <a:avLst/>
          </a:prstGeom>
        </p:spPr>
      </p:pic>
      <p:pic>
        <p:nvPicPr>
          <p:cNvPr id="29" name="图片 28" descr="WechatIMG6767"/>
          <p:cNvPicPr>
            <a:picLocks noChangeAspect="1"/>
          </p:cNvPicPr>
          <p:nvPr/>
        </p:nvPicPr>
        <p:blipFill>
          <a:blip r:embed="rId2"/>
          <a:stretch>
            <a:fillRect/>
          </a:stretch>
        </p:blipFill>
        <p:spPr>
          <a:xfrm>
            <a:off x="0" y="2713990"/>
            <a:ext cx="3361690" cy="1812925"/>
          </a:xfrm>
          <a:prstGeom prst="rect">
            <a:avLst/>
          </a:prstGeom>
        </p:spPr>
      </p:pic>
      <p:sp>
        <p:nvSpPr>
          <p:cNvPr id="19" name="文本框 18"/>
          <p:cNvSpPr txBox="1"/>
          <p:nvPr/>
        </p:nvSpPr>
        <p:spPr>
          <a:xfrm>
            <a:off x="6056630" y="5270500"/>
            <a:ext cx="4064000" cy="645160"/>
          </a:xfrm>
          <a:prstGeom prst="rect">
            <a:avLst/>
          </a:prstGeom>
          <a:noFill/>
        </p:spPr>
        <p:txBody>
          <a:bodyPr wrap="square" rtlCol="0">
            <a:spAutoFit/>
          </a:bodyPr>
          <a:p>
            <a:endParaRPr lang="zh-CN" altLang="en-US" dirty="0"/>
          </a:p>
          <a:p>
            <a:endParaRPr lang="zh-CN" altLang="en-US"/>
          </a:p>
        </p:txBody>
      </p:sp>
      <p:sp>
        <p:nvSpPr>
          <p:cNvPr id="20" name="矩形 19"/>
          <p:cNvSpPr/>
          <p:nvPr/>
        </p:nvSpPr>
        <p:spPr>
          <a:xfrm>
            <a:off x="5173980" y="4526915"/>
            <a:ext cx="3361690" cy="1832610"/>
          </a:xfrm>
          <a:prstGeom prst="rect">
            <a:avLst/>
          </a:prstGeom>
          <a:blipFill rotWithShape="1">
            <a:blip r:embed="rId3"/>
            <a:stretch>
              <a:fillRect/>
            </a:stretch>
          </a:blip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cSld>
  <p:clrMapOvr>
    <a:masterClrMapping/>
  </p:clrMapOvr>
  <p:transition spd="med" advTm="300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1000"/>
                                        <p:tgtEl>
                                          <p:spTgt spid="10"/>
                                        </p:tgtEl>
                                      </p:cBhvr>
                                    </p:animEffect>
                                    <p:anim calcmode="lin" valueType="num">
                                      <p:cBhvr>
                                        <p:cTn id="18" dur="1000" fill="hold"/>
                                        <p:tgtEl>
                                          <p:spTgt spid="10"/>
                                        </p:tgtEl>
                                        <p:attrNameLst>
                                          <p:attrName>ppt_x</p:attrName>
                                        </p:attrNameLst>
                                      </p:cBhvr>
                                      <p:tavLst>
                                        <p:tav tm="0">
                                          <p:val>
                                            <p:strVal val="#ppt_x"/>
                                          </p:val>
                                        </p:tav>
                                        <p:tav tm="100000">
                                          <p:val>
                                            <p:strVal val="#ppt_x"/>
                                          </p:val>
                                        </p:tav>
                                      </p:tavLst>
                                    </p:anim>
                                    <p:anim calcmode="lin" valueType="num">
                                      <p:cBhvr>
                                        <p:cTn id="19" dur="1000" fill="hold"/>
                                        <p:tgtEl>
                                          <p:spTgt spid="10"/>
                                        </p:tgtEl>
                                        <p:attrNameLst>
                                          <p:attrName>ppt_y</p:attrName>
                                        </p:attrNameLst>
                                      </p:cBhvr>
                                      <p:tavLst>
                                        <p:tav tm="0">
                                          <p:val>
                                            <p:strVal val="#ppt_y+.1"/>
                                          </p:val>
                                        </p:tav>
                                        <p:tav tm="100000">
                                          <p:val>
                                            <p:strVal val="#ppt_y"/>
                                          </p:val>
                                        </p:tav>
                                      </p:tavLst>
                                    </p:anim>
                                  </p:childTnLst>
                                </p:cTn>
                              </p:par>
                              <p:par>
                                <p:cTn id="20" presetID="2" presetClass="entr" presetSubtype="3"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 calcmode="lin" valueType="num">
                                      <p:cBhvr additive="base">
                                        <p:cTn id="22" dur="1000" fill="hold"/>
                                        <p:tgtEl>
                                          <p:spTgt spid="12"/>
                                        </p:tgtEl>
                                        <p:attrNameLst>
                                          <p:attrName>ppt_x</p:attrName>
                                        </p:attrNameLst>
                                      </p:cBhvr>
                                      <p:tavLst>
                                        <p:tav tm="0">
                                          <p:val>
                                            <p:strVal val="1+#ppt_w/2"/>
                                          </p:val>
                                        </p:tav>
                                        <p:tav tm="100000">
                                          <p:val>
                                            <p:strVal val="#ppt_x"/>
                                          </p:val>
                                        </p:tav>
                                      </p:tavLst>
                                    </p:anim>
                                    <p:anim calcmode="lin" valueType="num">
                                      <p:cBhvr additive="base">
                                        <p:cTn id="23" dur="1000" fill="hold"/>
                                        <p:tgtEl>
                                          <p:spTgt spid="12"/>
                                        </p:tgtEl>
                                        <p:attrNameLst>
                                          <p:attrName>ppt_y</p:attrName>
                                        </p:attrNameLst>
                                      </p:cBhvr>
                                      <p:tavLst>
                                        <p:tav tm="0">
                                          <p:val>
                                            <p:strVal val="0-#ppt_h/2"/>
                                          </p:val>
                                        </p:tav>
                                        <p:tav tm="100000">
                                          <p:val>
                                            <p:strVal val="#ppt_y"/>
                                          </p:val>
                                        </p:tav>
                                      </p:tavLst>
                                    </p:anim>
                                  </p:childTnLst>
                                </p:cTn>
                              </p:par>
                              <p:par>
                                <p:cTn id="24" presetID="2" presetClass="entr" presetSubtype="3" fill="hold" grpId="0" nodeType="withEffect">
                                  <p:stCondLst>
                                    <p:cond delay="0"/>
                                  </p:stCondLst>
                                  <p:childTnLst>
                                    <p:set>
                                      <p:cBhvr>
                                        <p:cTn id="25" dur="1" fill="hold">
                                          <p:stCondLst>
                                            <p:cond delay="0"/>
                                          </p:stCondLst>
                                        </p:cTn>
                                        <p:tgtEl>
                                          <p:spTgt spid="13"/>
                                        </p:tgtEl>
                                        <p:attrNameLst>
                                          <p:attrName>style.visibility</p:attrName>
                                        </p:attrNameLst>
                                      </p:cBhvr>
                                      <p:to>
                                        <p:strVal val="visible"/>
                                      </p:to>
                                    </p:set>
                                    <p:anim calcmode="lin" valueType="num">
                                      <p:cBhvr additive="base">
                                        <p:cTn id="26" dur="1000" fill="hold"/>
                                        <p:tgtEl>
                                          <p:spTgt spid="13"/>
                                        </p:tgtEl>
                                        <p:attrNameLst>
                                          <p:attrName>ppt_x</p:attrName>
                                        </p:attrNameLst>
                                      </p:cBhvr>
                                      <p:tavLst>
                                        <p:tav tm="0">
                                          <p:val>
                                            <p:strVal val="1+#ppt_w/2"/>
                                          </p:val>
                                        </p:tav>
                                        <p:tav tm="100000">
                                          <p:val>
                                            <p:strVal val="#ppt_x"/>
                                          </p:val>
                                        </p:tav>
                                      </p:tavLst>
                                    </p:anim>
                                    <p:anim calcmode="lin" valueType="num">
                                      <p:cBhvr additive="base">
                                        <p:cTn id="27" dur="1000" fill="hold"/>
                                        <p:tgtEl>
                                          <p:spTgt spid="1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10" grpId="0"/>
      <p:bldP spid="12" grpId="0" bldLvl="0" animBg="1"/>
      <p:bldP spid="13" grpId="0" bldLvl="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1129763" y="779744"/>
            <a:ext cx="9349848" cy="5298513"/>
            <a:chOff x="1115735" y="587229"/>
            <a:chExt cx="9873842" cy="5595458"/>
          </a:xfrm>
        </p:grpSpPr>
        <p:sp>
          <p:nvSpPr>
            <p:cNvPr id="10" name="矩形 9"/>
            <p:cNvSpPr/>
            <p:nvPr/>
          </p:nvSpPr>
          <p:spPr>
            <a:xfrm>
              <a:off x="1115735" y="587229"/>
              <a:ext cx="9571839" cy="5410900"/>
            </a:xfrm>
            <a:prstGeom prst="rect">
              <a:avLst/>
            </a:prstGeom>
            <a:pattFill prst="wdDnDiag">
              <a:fgClr>
                <a:srgbClr val="203864"/>
              </a:fgClr>
              <a:bgClr>
                <a:schemeClr val="bg1"/>
              </a:bgClr>
            </a:patt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1417738" y="771787"/>
              <a:ext cx="9571839" cy="5410900"/>
            </a:xfrm>
            <a:prstGeom prst="rect">
              <a:avLst/>
            </a:prstGeom>
            <a:solidFill>
              <a:schemeClr val="bg1"/>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2" name="文本框 1"/>
          <p:cNvSpPr txBox="1"/>
          <p:nvPr/>
        </p:nvSpPr>
        <p:spPr>
          <a:xfrm>
            <a:off x="1416178" y="2925955"/>
            <a:ext cx="9446005" cy="1106805"/>
          </a:xfrm>
          <a:prstGeom prst="rect">
            <a:avLst/>
          </a:prstGeom>
          <a:noFill/>
        </p:spPr>
        <p:txBody>
          <a:bodyPr wrap="square" rtlCol="0">
            <a:spAutoFit/>
          </a:bodyPr>
          <a:lstStyle/>
          <a:p>
            <a:pPr algn="ctr"/>
            <a:r>
              <a:rPr lang="zh-CN" altLang="en-US" sz="6600" dirty="0">
                <a:latin typeface="思源宋体 Heavy" panose="02020900000000000000" pitchFamily="18" charset="-122"/>
                <a:ea typeface="思源宋体 Heavy" panose="02020900000000000000" pitchFamily="18" charset="-122"/>
              </a:rPr>
              <a:t>答辩完毕，感谢指导</a:t>
            </a:r>
            <a:endParaRPr lang="zh-CN" altLang="en-US" sz="6600" dirty="0">
              <a:latin typeface="思源宋体 Heavy" panose="02020900000000000000" pitchFamily="18" charset="-122"/>
              <a:ea typeface="思源宋体 Heavy" panose="02020900000000000000" pitchFamily="18" charset="-122"/>
            </a:endParaRPr>
          </a:p>
        </p:txBody>
      </p:sp>
    </p:spTree>
  </p:cSld>
  <p:clrMapOvr>
    <a:masterClrMapping/>
  </p:clrMapOvr>
  <p:transition spd="med" advTm="3000">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1000" fill="hold"/>
                                        <p:tgtEl>
                                          <p:spTgt spid="9"/>
                                        </p:tgtEl>
                                        <p:attrNameLst>
                                          <p:attrName>ppt_w</p:attrName>
                                        </p:attrNameLst>
                                      </p:cBhvr>
                                      <p:tavLst>
                                        <p:tav tm="0">
                                          <p:val>
                                            <p:fltVal val="0"/>
                                          </p:val>
                                        </p:tav>
                                        <p:tav tm="100000">
                                          <p:val>
                                            <p:strVal val="#ppt_w"/>
                                          </p:val>
                                        </p:tav>
                                      </p:tavLst>
                                    </p:anim>
                                    <p:anim calcmode="lin" valueType="num">
                                      <p:cBhvr>
                                        <p:cTn id="8" dur="1000" fill="hold"/>
                                        <p:tgtEl>
                                          <p:spTgt spid="9"/>
                                        </p:tgtEl>
                                        <p:attrNameLst>
                                          <p:attrName>ppt_h</p:attrName>
                                        </p:attrNameLst>
                                      </p:cBhvr>
                                      <p:tavLst>
                                        <p:tav tm="0">
                                          <p:val>
                                            <p:fltVal val="0"/>
                                          </p:val>
                                        </p:tav>
                                        <p:tav tm="100000">
                                          <p:val>
                                            <p:strVal val="#ppt_h"/>
                                          </p:val>
                                        </p:tav>
                                      </p:tavLst>
                                    </p:anim>
                                    <p:animEffect transition="in" filter="fade">
                                      <p:cBhvr>
                                        <p:cTn id="9" dur="10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ags/tag1.xml><?xml version="1.0" encoding="utf-8"?>
<p:tagLst xmlns:p="http://schemas.openxmlformats.org/presentationml/2006/main">
  <p:tag name="TABLE_ENDDRAG_ORIGIN_RECT" val="459*123"/>
  <p:tag name="TABLE_ENDDRAG_RECT" val="67*189*459*123"/>
</p:tagLst>
</file>

<file path=ppt/tags/tag2.xml><?xml version="1.0" encoding="utf-8"?>
<p:tagLst xmlns:p="http://schemas.openxmlformats.org/presentationml/2006/main">
  <p:tag name="TABLE_ENDDRAG_ORIGIN_RECT" val="460*133"/>
  <p:tag name="TABLE_ENDDRAG_RECT" val="67*178*460*133"/>
</p:tagLst>
</file>

<file path=ppt/tags/tag3.xml><?xml version="1.0" encoding="utf-8"?>
<p:tagLst xmlns:p="http://schemas.openxmlformats.org/presentationml/2006/main">
  <p:tag name="TABLE_ENDDRAG_ORIGIN_RECT" val="613*143"/>
  <p:tag name="TABLE_ENDDRAG_RECT" val="169*49*613*143"/>
</p:tagLst>
</file>

<file path=ppt/tags/tag4.xml><?xml version="1.0" encoding="utf-8"?>
<p:tagLst xmlns:p="http://schemas.openxmlformats.org/presentationml/2006/main">
  <p:tag name="TABLE_ENDDRAG_ORIGIN_RECT" val="613*143"/>
  <p:tag name="TABLE_ENDDRAG_RECT" val="169*49*613*143"/>
</p:tagLst>
</file>

<file path=ppt/tags/tag5.xml><?xml version="1.0" encoding="utf-8"?>
<p:tagLst xmlns:p="http://schemas.openxmlformats.org/presentationml/2006/main">
  <p:tag name="TABLE_ENDDRAG_ORIGIN_RECT" val="712*92"/>
  <p:tag name="TABLE_ENDDRAG_RECT" val="134*74*712*92"/>
</p:tagLst>
</file>

<file path=ppt/tags/tag6.xml><?xml version="1.0" encoding="utf-8"?>
<p:tagLst xmlns:p="http://schemas.openxmlformats.org/presentationml/2006/main">
  <p:tag name="TABLE_ENDDRAG_ORIGIN_RECT" val="720*104"/>
  <p:tag name="TABLE_ENDDRAG_RECT" val="115*71*720*104"/>
</p:tagLst>
</file>

<file path=ppt/tags/tag7.xml><?xml version="1.0" encoding="utf-8"?>
<p:tagLst xmlns:p="http://schemas.openxmlformats.org/presentationml/2006/main">
  <p:tag name="TABLE_ENDDRAG_ORIGIN_RECT" val="480*166"/>
  <p:tag name="TABLE_ENDDRAG_RECT" val="45*114*480*166"/>
</p:tagLst>
</file>

<file path=ppt/tags/tag8.xml><?xml version="1.0" encoding="utf-8"?>
<p:tagLst xmlns:p="http://schemas.openxmlformats.org/presentationml/2006/main">
  <p:tag name="TABLE_ENDDRAG_ORIGIN_RECT" val="457*171"/>
  <p:tag name="TABLE_ENDDRAG_RECT" val="67*66*457*171"/>
</p:tagLst>
</file>

<file path=ppt/tags/tag9.xml><?xml version="1.0" encoding="utf-8"?>
<p:tagLst xmlns:p="http://schemas.openxmlformats.org/presentationml/2006/main">
  <p:tag name="ISPRING_LMS_API_VERSION" val="SCORM 1.2"/>
  <p:tag name="ISPRING_ULTRA_SCORM_COURSE_ID" val="88D97BE6-B3D2-4FCB-B33C-258F5D4D2B67"/>
  <p:tag name="ISPRING_CMI5_LAUNCH_METHOD" val="any window"/>
  <p:tag name="ISPRING_SCORM_ENDPOINT" val="&lt;endpoint&gt;&lt;enable&gt;0&lt;/enable&gt;&lt;lrs&gt;http://&lt;/lrs&gt;&lt;auth&gt;0&lt;/auth&gt;&lt;login&gt;&lt;/login&gt;&lt;password&gt;&lt;/password&gt;&lt;key&gt;&lt;/key&gt;&lt;name&gt;&lt;/name&gt;&lt;email&gt;&lt;/email&gt;&lt;/endpoint&gt;&#10;"/>
  <p:tag name="ISPRING_SCORM_RATE_SLIDES" val="1"/>
  <p:tag name="ISPRINGCLOUDFOLDERID" val="1"/>
  <p:tag name="ISPRINGONLINEFOLDERID" val="1"/>
  <p:tag name="ISPRING_OUTPUT_FOLDER_UNSAVED" val="[[&quot;\u000E\uFFFD\uFFFD\uFFFD{CD202CCA-0CE6-4333-9CDC-BFBC7905C3C1}&quot;,&quot;C:\\Users\\唐凯\\Documents\\Presentations&quot;]]"/>
  <p:tag name="ISPRING_PUBLISH_SETTINGS" val="{&quot;commonSettings&quot;:{&quot;webSettings&quot;:{&quot;useMobileViewer&quot;:&quot;T_FALSE&quot;},&quot;lmsSettings&quot;:{&quot;useMobileViewer&quot;:&quot;T_FALSE&quot;},&quot;cloudSettings&quot;:{&quot;useMobileViewer&quot;:&quot;T_FALSE&quot;},&quot;ispringLmsSettings&quot;:{&quot;useMobileViewer&quot;:&quot;T_FALSE&quot;},&quot;playerId&quot;:&quot;free&quot;},&quot;advancedSettings&quot;:{&quot;enableTextAllocation&quot;:&quot;T_TRUE&quot;,&quot;viewingFromLocalDrive&quot;:&quot;T_TRUE&quot;,&quot;contentScale&quot;:75,&quot;contentScaleMode&quot;:&quot;SCALE&quot;},&quot;compressionSettings&quot;:{&quot;imageSettings&quot;:{&quot;jpegQuality&quot;:70,&quot;optimizeImageForResolution&quot;:&quot;T_FALSE&quot;},&quot;audioQuality&quot;:70,&quot;videoQuality&quot;:65},&quot;protectionSettings&quot;:{&quot;watermarkEnabled&quot;:&quot;T_FALSE&quot;,&quot;watermarkPosition&quot;:&quot;MIDDLE_CENTER&quot;,&quot;openWatermarkUrl&quot;:&quot;T_FALSE&quot;,&quot;openWatermarkWebPageInNewWindow&quot;:&quot;T_FALSE&quot;,&quot;displayAfterEnabled&quot;:&quot;T_FALSE&quot;,&quot;displayUntilEnabled&quot;:&quot;T_FALSE&quot;,&quot;domainRestrictionEnabled&quot;:&quot;T_FALSE&quot;,&quot;enablePassword&quot;:&quot;T_FALSE&quot;},&quot;videoSettings&quot;:{&quot;videoCompressionSettings&quot;:{&quot;audioQuality&quot;:70,&quot;videoQuality&quot;:75},&quot;secondsOnEachSlide&quot;:5,&quot;hostingSettings&quot;:{}},&quot;ispringOnlineSettings&quot;:{&quot;onlineDestinationFolderId&quot;:&quot;1&quot;},&quot;cloudSettings&quot;:{&quot;onlineDestinationFolderId&quot;:&quot;1&quot;},&quot;wordSettings&quot;:{&quot;printCopies&quot;:1}}"/>
  <p:tag name="ISPRING_SCORM_RATE_QUIZZES" val="0"/>
  <p:tag name="ISPRING_SCORM_PASSING_SCORE" val="100.000000"/>
  <p:tag name="ISPRING_PRESENTATION_TITLE" val="斑斓简约工作汇报PPT模板"/>
  <p:tag name="ISPRING_FIRST_PUBLISH" val="1"/>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5109</Words>
  <Application>WPS 演示</Application>
  <PresentationFormat>宽屏</PresentationFormat>
  <Paragraphs>903</Paragraphs>
  <Slides>22</Slides>
  <Notes>0</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22</vt:i4>
      </vt:variant>
    </vt:vector>
  </HeadingPairs>
  <TitlesOfParts>
    <vt:vector size="41" baseType="lpstr">
      <vt:lpstr>Arial</vt:lpstr>
      <vt:lpstr>宋体</vt:lpstr>
      <vt:lpstr>Wingdings</vt:lpstr>
      <vt:lpstr>思源宋体 Heavy</vt:lpstr>
      <vt:lpstr>Calibri</vt:lpstr>
      <vt:lpstr>思源黑体 CN Regular</vt:lpstr>
      <vt:lpstr>Poppins Light</vt:lpstr>
      <vt:lpstr>思源黑体 CN Bold</vt:lpstr>
      <vt:lpstr>黑体</vt:lpstr>
      <vt:lpstr>思源黑体 CN Normal</vt:lpstr>
      <vt:lpstr>Calibri</vt:lpstr>
      <vt:lpstr>思源黑体 CN Heavy</vt:lpstr>
      <vt:lpstr>微软雅黑</vt:lpstr>
      <vt:lpstr>Arial Unicode MS</vt:lpstr>
      <vt:lpstr>等线</vt:lpstr>
      <vt:lpstr>思源黑体 CN Medium</vt:lpstr>
      <vt:lpstr>思源黑体 CN Light</vt:lpstr>
      <vt:lpstr>Segoe Print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斑斓简约工作汇报PPT模板</dc:title>
  <dc:creator>唐 凯</dc:creator>
  <cp:lastModifiedBy>kiki</cp:lastModifiedBy>
  <cp:revision>69</cp:revision>
  <dcterms:created xsi:type="dcterms:W3CDTF">2025-11-05T13:14:00Z</dcterms:created>
  <dcterms:modified xsi:type="dcterms:W3CDTF">2025-11-05T13:25:29Z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E5FB07AF150644968D29EF794C13947C_13</vt:lpwstr>
  </property>
  <property fmtid="{D5CDD505-2E9C-101B-9397-08002B2CF9AE}" pid="3" name="KSOProductBuildVer">
    <vt:lpwstr>2052-12.1.0.23542</vt:lpwstr>
  </property>
</Properties>
</file>